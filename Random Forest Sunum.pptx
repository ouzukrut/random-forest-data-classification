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8"/>
  </p:notesMasterIdLst>
  <p:handoutMasterIdLst>
    <p:handoutMasterId r:id="rId29"/>
  </p:handoutMasterIdLst>
  <p:sldIdLst>
    <p:sldId id="317" r:id="rId5"/>
    <p:sldId id="307" r:id="rId6"/>
    <p:sldId id="308" r:id="rId7"/>
    <p:sldId id="278" r:id="rId8"/>
    <p:sldId id="323" r:id="rId9"/>
    <p:sldId id="324" r:id="rId10"/>
    <p:sldId id="325" r:id="rId11"/>
    <p:sldId id="326" r:id="rId12"/>
    <p:sldId id="309" r:id="rId13"/>
    <p:sldId id="318" r:id="rId14"/>
    <p:sldId id="263" r:id="rId15"/>
    <p:sldId id="310" r:id="rId16"/>
    <p:sldId id="322" r:id="rId17"/>
    <p:sldId id="316" r:id="rId18"/>
    <p:sldId id="327" r:id="rId19"/>
    <p:sldId id="328" r:id="rId20"/>
    <p:sldId id="311" r:id="rId21"/>
    <p:sldId id="314" r:id="rId22"/>
    <p:sldId id="329" r:id="rId23"/>
    <p:sldId id="319" r:id="rId24"/>
    <p:sldId id="320" r:id="rId25"/>
    <p:sldId id="321" r:id="rId26"/>
    <p:sldId id="30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D1C673-0F79-4D4C-9933-EACD72C052D8}">
          <p14:sldIdLst>
            <p14:sldId id="317"/>
            <p14:sldId id="307"/>
            <p14:sldId id="308"/>
            <p14:sldId id="278"/>
            <p14:sldId id="323"/>
            <p14:sldId id="324"/>
            <p14:sldId id="325"/>
            <p14:sldId id="326"/>
            <p14:sldId id="309"/>
            <p14:sldId id="318"/>
            <p14:sldId id="263"/>
            <p14:sldId id="310"/>
            <p14:sldId id="322"/>
            <p14:sldId id="316"/>
            <p14:sldId id="327"/>
            <p14:sldId id="328"/>
            <p14:sldId id="311"/>
            <p14:sldId id="314"/>
            <p14:sldId id="329"/>
            <p14:sldId id="319"/>
            <p14:sldId id="320"/>
            <p14:sldId id="321"/>
            <p14:sldId id="304"/>
          </p14:sldIdLst>
        </p14:section>
      </p14:sectionLst>
    </p:ex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79" d="100"/>
          <a:sy n="79" d="100"/>
        </p:scale>
        <p:origin x="850" y="77"/>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1/5/2025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1/5/2025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18</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www.kaggle.com/datasets/vikramamin/bank-loan-approval-lr-dt-rf-and-auc" TargetMode="External"/><Relationship Id="rId2" Type="http://schemas.openxmlformats.org/officeDocument/2006/relationships/hyperlink" Target="https://www.btkakademi.gov.tr/portal/course/player/deliver/makine-ogrenmesi-30123" TargetMode="External"/><Relationship Id="rId1" Type="http://schemas.openxmlformats.org/officeDocument/2006/relationships/slideLayout" Target="../slideLayouts/slideLayout12.xml"/><Relationship Id="rId6" Type="http://schemas.openxmlformats.org/officeDocument/2006/relationships/hyperlink" Target="https://www.btkakademi.gov.tr/portal/course/player/deliver/python-ile-makine-ogrenmesi-uygulamalari-30284" TargetMode="External"/><Relationship Id="rId5" Type="http://schemas.openxmlformats.org/officeDocument/2006/relationships/hyperlink" Target="https://www.veribilimiokulu.com/siniflandirma-notlari-18-random-forest-python-uygulama/" TargetMode="External"/><Relationship Id="rId4" Type="http://schemas.openxmlformats.org/officeDocument/2006/relationships/hyperlink" Target="https://medium.com/data-science-tr/makine-&#246;&#287;renmesi-dersleri-5-bagging-ve-random-forest-2f803cf21e07"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1003473" y="466927"/>
            <a:ext cx="10360152" cy="5029200"/>
          </a:xfrm>
        </p:spPr>
        <p:txBody>
          <a:bodyPr anchor="ctr"/>
          <a:lstStyle/>
          <a:p>
            <a:r>
              <a:rPr lang="tr-TR" b="1" spc="600" dirty="0" err="1"/>
              <a:t>Random</a:t>
            </a:r>
            <a:r>
              <a:rPr lang="tr-TR" b="1" spc="600" dirty="0"/>
              <a:t> </a:t>
            </a:r>
            <a:r>
              <a:rPr lang="tr-TR" b="1" spc="600" dirty="0" err="1"/>
              <a:t>Forest</a:t>
            </a:r>
            <a:endParaRPr lang="en-US" b="1" spc="600" dirty="0"/>
          </a:p>
        </p:txBody>
      </p:sp>
      <p:sp>
        <p:nvSpPr>
          <p:cNvPr id="2" name="TextBox 1">
            <a:extLst>
              <a:ext uri="{FF2B5EF4-FFF2-40B4-BE49-F238E27FC236}">
                <a16:creationId xmlns:a16="http://schemas.microsoft.com/office/drawing/2014/main" id="{E17EC71D-5C18-66CB-A631-F137EDD3D618}"/>
              </a:ext>
            </a:extLst>
          </p:cNvPr>
          <p:cNvSpPr txBox="1"/>
          <p:nvPr/>
        </p:nvSpPr>
        <p:spPr>
          <a:xfrm>
            <a:off x="1235412" y="4572000"/>
            <a:ext cx="5291847" cy="707886"/>
          </a:xfrm>
          <a:prstGeom prst="rect">
            <a:avLst/>
          </a:prstGeom>
          <a:noFill/>
        </p:spPr>
        <p:txBody>
          <a:bodyPr wrap="square" rtlCol="0">
            <a:spAutoFit/>
          </a:bodyPr>
          <a:lstStyle/>
          <a:p>
            <a:r>
              <a:rPr lang="tr-TR" sz="2000" dirty="0"/>
              <a:t>Oğuz Kurt 22023607</a:t>
            </a:r>
          </a:p>
          <a:p>
            <a:r>
              <a:rPr lang="tr-TR" sz="2000" dirty="0"/>
              <a:t>Serhat Can Kunt 20023019</a:t>
            </a:r>
            <a:endParaRPr lang="en-US" sz="2000"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E22160-D95C-5FDA-4A7F-0A9EA7E2D337}"/>
              </a:ext>
            </a:extLst>
          </p:cNvPr>
          <p:cNvSpPr>
            <a:spLocks noGrp="1"/>
          </p:cNvSpPr>
          <p:nvPr>
            <p:ph type="title"/>
          </p:nvPr>
        </p:nvSpPr>
        <p:spPr>
          <a:xfrm>
            <a:off x="1001466" y="914400"/>
            <a:ext cx="10370167" cy="1070043"/>
          </a:xfrm>
        </p:spPr>
        <p:txBody>
          <a:bodyPr/>
          <a:lstStyle/>
          <a:p>
            <a:r>
              <a:rPr lang="tr-TR" b="1" dirty="0"/>
              <a:t>RANDOM FOREST NEDİR?</a:t>
            </a:r>
            <a:endParaRPr lang="en-US" b="1" dirty="0"/>
          </a:p>
        </p:txBody>
      </p:sp>
      <p:sp>
        <p:nvSpPr>
          <p:cNvPr id="7" name="Content Placeholder 6">
            <a:extLst>
              <a:ext uri="{FF2B5EF4-FFF2-40B4-BE49-F238E27FC236}">
                <a16:creationId xmlns:a16="http://schemas.microsoft.com/office/drawing/2014/main" id="{F31DAFF4-9D52-8BBB-29B6-58D4EFD98476}"/>
              </a:ext>
            </a:extLst>
          </p:cNvPr>
          <p:cNvSpPr>
            <a:spLocks noGrp="1"/>
          </p:cNvSpPr>
          <p:nvPr>
            <p:ph idx="1"/>
          </p:nvPr>
        </p:nvSpPr>
        <p:spPr>
          <a:xfrm>
            <a:off x="3414410" y="2470825"/>
            <a:ext cx="7246712" cy="3838387"/>
          </a:xfrm>
        </p:spPr>
        <p:txBody>
          <a:bodyPr/>
          <a:lstStyle/>
          <a:p>
            <a:pPr algn="l">
              <a:lnSpc>
                <a:spcPct val="150000"/>
              </a:lnSpc>
            </a:pPr>
            <a:r>
              <a:rPr lang="en-US" b="1" cap="none" dirty="0"/>
              <a:t>Random forest, </a:t>
            </a:r>
            <a:r>
              <a:rPr lang="en-US" b="1" cap="none" dirty="0" err="1"/>
              <a:t>denetimli</a:t>
            </a:r>
            <a:r>
              <a:rPr lang="en-US" b="1" cap="none" dirty="0"/>
              <a:t> </a:t>
            </a:r>
            <a:r>
              <a:rPr lang="en-US" b="1" cap="none" dirty="0" err="1"/>
              <a:t>öğrenme</a:t>
            </a:r>
            <a:r>
              <a:rPr lang="en-US" b="1" cap="none" dirty="0"/>
              <a:t> </a:t>
            </a:r>
            <a:r>
              <a:rPr lang="en-US" b="1" cap="none" dirty="0" err="1"/>
              <a:t>algoritmalarından</a:t>
            </a:r>
            <a:r>
              <a:rPr lang="en-US" b="1" cap="none" dirty="0"/>
              <a:t> </a:t>
            </a:r>
            <a:r>
              <a:rPr lang="en-US" b="1" cap="none" dirty="0" err="1"/>
              <a:t>biri</a:t>
            </a:r>
            <a:r>
              <a:rPr lang="en-US" b="1" cap="none" dirty="0"/>
              <a:t> </a:t>
            </a:r>
            <a:r>
              <a:rPr lang="en-US" b="1" cap="none" dirty="0" err="1"/>
              <a:t>olup</a:t>
            </a:r>
            <a:r>
              <a:rPr lang="en-US" b="1" cap="none" dirty="0"/>
              <a:t>, </a:t>
            </a:r>
            <a:r>
              <a:rPr lang="en-US" b="1" cap="none" dirty="0" err="1"/>
              <a:t>sınıflandırma</a:t>
            </a:r>
            <a:r>
              <a:rPr lang="en-US" b="1" cap="none" dirty="0"/>
              <a:t> </a:t>
            </a:r>
            <a:r>
              <a:rPr lang="en-US" b="1" cap="none" dirty="0" err="1"/>
              <a:t>ve</a:t>
            </a:r>
            <a:r>
              <a:rPr lang="en-US" b="1" cap="none" dirty="0"/>
              <a:t> </a:t>
            </a:r>
            <a:r>
              <a:rPr lang="en-US" b="1" cap="none" dirty="0" err="1"/>
              <a:t>regresyon</a:t>
            </a:r>
            <a:r>
              <a:rPr lang="en-US" b="1" cap="none" dirty="0"/>
              <a:t> </a:t>
            </a:r>
            <a:r>
              <a:rPr lang="en-US" b="1" cap="none" dirty="0" err="1"/>
              <a:t>problemlerini</a:t>
            </a:r>
            <a:r>
              <a:rPr lang="en-US" b="1" cap="none" dirty="0"/>
              <a:t> </a:t>
            </a:r>
            <a:r>
              <a:rPr lang="en-US" b="1" cap="none" dirty="0" err="1"/>
              <a:t>çözmek</a:t>
            </a:r>
            <a:r>
              <a:rPr lang="en-US" b="1" cap="none" dirty="0"/>
              <a:t> </a:t>
            </a:r>
            <a:r>
              <a:rPr lang="en-US" b="1" cap="none" dirty="0" err="1"/>
              <a:t>için</a:t>
            </a:r>
            <a:r>
              <a:rPr lang="en-US" b="1" cap="none" dirty="0"/>
              <a:t> </a:t>
            </a:r>
            <a:r>
              <a:rPr lang="en-US" b="1" cap="none" dirty="0" err="1"/>
              <a:t>kullanılır</a:t>
            </a:r>
            <a:r>
              <a:rPr lang="en-US" b="1" cap="none" dirty="0"/>
              <a:t>. </a:t>
            </a:r>
            <a:r>
              <a:rPr lang="en-US" b="1" cap="none" dirty="0" err="1"/>
              <a:t>Çalışma</a:t>
            </a:r>
            <a:r>
              <a:rPr lang="en-US" b="1" cap="none" dirty="0"/>
              <a:t> </a:t>
            </a:r>
            <a:r>
              <a:rPr lang="en-US" b="1" cap="none" dirty="0" err="1"/>
              <a:t>prensibi</a:t>
            </a:r>
            <a:r>
              <a:rPr lang="en-US" b="1" cap="none" dirty="0"/>
              <a:t>, </a:t>
            </a:r>
            <a:r>
              <a:rPr lang="en-US" b="1" cap="none" dirty="0" err="1"/>
              <a:t>birden</a:t>
            </a:r>
            <a:r>
              <a:rPr lang="en-US" b="1" cap="none" dirty="0"/>
              <a:t> </a:t>
            </a:r>
            <a:r>
              <a:rPr lang="en-US" b="1" cap="none" dirty="0" err="1"/>
              <a:t>fazla</a:t>
            </a:r>
            <a:r>
              <a:rPr lang="en-US" b="1" cap="none" dirty="0"/>
              <a:t> </a:t>
            </a:r>
            <a:r>
              <a:rPr lang="en-US" b="1" cap="none" dirty="0" err="1"/>
              <a:t>karar</a:t>
            </a:r>
            <a:r>
              <a:rPr lang="en-US" b="1" cap="none" dirty="0"/>
              <a:t> </a:t>
            </a:r>
            <a:r>
              <a:rPr lang="en-US" b="1" cap="none" dirty="0" err="1"/>
              <a:t>ağacının</a:t>
            </a:r>
            <a:r>
              <a:rPr lang="en-US" b="1" cap="none" dirty="0"/>
              <a:t> (decision tree) </a:t>
            </a:r>
            <a:r>
              <a:rPr lang="en-US" b="1" cap="none" dirty="0" err="1"/>
              <a:t>birleşimiyle</a:t>
            </a:r>
            <a:r>
              <a:rPr lang="en-US" b="1" cap="none" dirty="0"/>
              <a:t>, </a:t>
            </a:r>
            <a:r>
              <a:rPr lang="en-US" b="1" cap="none" dirty="0" err="1"/>
              <a:t>genellikle</a:t>
            </a:r>
            <a:r>
              <a:rPr lang="en-US" b="1" cap="none" dirty="0"/>
              <a:t> </a:t>
            </a:r>
            <a:r>
              <a:rPr lang="en-US" b="1" cap="none" dirty="0" err="1"/>
              <a:t>daha</a:t>
            </a:r>
            <a:r>
              <a:rPr lang="en-US" b="1" cap="none" dirty="0"/>
              <a:t> iyi </a:t>
            </a:r>
            <a:r>
              <a:rPr lang="en-US" b="1" cap="none" dirty="0" err="1"/>
              <a:t>sonuçlar</a:t>
            </a:r>
            <a:r>
              <a:rPr lang="en-US" b="1" cap="none" dirty="0"/>
              <a:t> </a:t>
            </a:r>
            <a:r>
              <a:rPr lang="en-US" b="1" cap="none" dirty="0" err="1"/>
              <a:t>elde</a:t>
            </a:r>
            <a:r>
              <a:rPr lang="en-US" b="1" cap="none" dirty="0"/>
              <a:t> </a:t>
            </a:r>
            <a:r>
              <a:rPr lang="en-US" b="1" cap="none" dirty="0" err="1"/>
              <a:t>etmeyi</a:t>
            </a:r>
            <a:r>
              <a:rPr lang="en-US" b="1" cap="none" dirty="0"/>
              <a:t> </a:t>
            </a:r>
            <a:r>
              <a:rPr lang="en-US" b="1" cap="none" dirty="0" err="1"/>
              <a:t>amaçlayan</a:t>
            </a:r>
            <a:r>
              <a:rPr lang="en-US" b="1" cap="none" dirty="0"/>
              <a:t> </a:t>
            </a:r>
            <a:r>
              <a:rPr lang="en-US" b="1" cap="none" dirty="0" err="1"/>
              <a:t>bir</a:t>
            </a:r>
            <a:r>
              <a:rPr lang="en-US" b="1" cap="none" dirty="0"/>
              <a:t> </a:t>
            </a:r>
            <a:r>
              <a:rPr lang="en-US" b="1" cap="none" dirty="0" err="1"/>
              <a:t>topluluk</a:t>
            </a:r>
            <a:r>
              <a:rPr lang="en-US" b="1" cap="none" dirty="0"/>
              <a:t> (ensemble) </a:t>
            </a:r>
            <a:r>
              <a:rPr lang="en-US" b="1" cap="none" dirty="0" err="1"/>
              <a:t>yöntemine</a:t>
            </a:r>
            <a:r>
              <a:rPr lang="en-US" b="1" cap="none" dirty="0"/>
              <a:t> </a:t>
            </a:r>
            <a:r>
              <a:rPr lang="en-US" b="1" cap="none" dirty="0" err="1"/>
              <a:t>dayanır</a:t>
            </a:r>
            <a:r>
              <a:rPr lang="en-US" b="1" cap="none" dirty="0"/>
              <a:t>.</a:t>
            </a:r>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10C2B1A1-62C4-43FA-7485-7563FADD2588}"/>
              </a:ext>
            </a:extLst>
          </p:cNvPr>
          <p:cNvSpPr>
            <a:spLocks noGrp="1"/>
          </p:cNvSpPr>
          <p:nvPr>
            <p:ph type="ctrTitle"/>
          </p:nvPr>
        </p:nvSpPr>
        <p:spPr>
          <a:xfrm>
            <a:off x="914400" y="914400"/>
            <a:ext cx="5641848" cy="5029200"/>
          </a:xfrm>
        </p:spPr>
        <p:txBody>
          <a:bodyPr anchor="ctr">
            <a:normAutofit fontScale="90000"/>
          </a:bodyPr>
          <a:lstStyle/>
          <a:p>
            <a:pPr>
              <a:lnSpc>
                <a:spcPct val="150000"/>
              </a:lnSpc>
            </a:pPr>
            <a:r>
              <a:rPr lang="en-US" sz="2400" dirty="0"/>
              <a:t>Random Forest, </a:t>
            </a:r>
            <a:r>
              <a:rPr lang="en-US" sz="2400" dirty="0" err="1"/>
              <a:t>temel</a:t>
            </a:r>
            <a:r>
              <a:rPr lang="en-US" sz="2400" dirty="0"/>
              <a:t> </a:t>
            </a:r>
            <a:r>
              <a:rPr lang="en-US" sz="2400" dirty="0" err="1"/>
              <a:t>olarak</a:t>
            </a:r>
            <a:r>
              <a:rPr lang="en-US" sz="2400" dirty="0"/>
              <a:t> </a:t>
            </a:r>
            <a:r>
              <a:rPr lang="en-US" sz="2400" dirty="0" err="1"/>
              <a:t>birden</a:t>
            </a:r>
            <a:r>
              <a:rPr lang="en-US" sz="2400" dirty="0"/>
              <a:t> </a:t>
            </a:r>
            <a:r>
              <a:rPr lang="en-US" sz="2400" dirty="0" err="1"/>
              <a:t>fazla</a:t>
            </a:r>
            <a:r>
              <a:rPr lang="en-US" sz="2400" dirty="0"/>
              <a:t> </a:t>
            </a:r>
            <a:r>
              <a:rPr lang="en-US" sz="2400" dirty="0" err="1"/>
              <a:t>karar</a:t>
            </a:r>
            <a:r>
              <a:rPr lang="en-US" sz="2400" dirty="0"/>
              <a:t> </a:t>
            </a:r>
            <a:r>
              <a:rPr lang="en-US" sz="2400" dirty="0" err="1"/>
              <a:t>ağacının</a:t>
            </a:r>
            <a:r>
              <a:rPr lang="en-US" sz="2400" dirty="0"/>
              <a:t> </a:t>
            </a:r>
            <a:r>
              <a:rPr lang="en-US" sz="2400" dirty="0" err="1"/>
              <a:t>birleşiminden</a:t>
            </a:r>
            <a:r>
              <a:rPr lang="en-US" sz="2400" dirty="0"/>
              <a:t> </a:t>
            </a:r>
            <a:r>
              <a:rPr lang="en-US" sz="2400" dirty="0" err="1"/>
              <a:t>oluşur</a:t>
            </a:r>
            <a:r>
              <a:rPr lang="en-US" sz="2400" dirty="0"/>
              <a:t>. </a:t>
            </a:r>
            <a:r>
              <a:rPr lang="en-US" sz="2400" dirty="0" err="1"/>
              <a:t>Karar</a:t>
            </a:r>
            <a:r>
              <a:rPr lang="en-US" sz="2400" dirty="0"/>
              <a:t> </a:t>
            </a:r>
            <a:r>
              <a:rPr lang="en-US" sz="2400" dirty="0" err="1"/>
              <a:t>ağaçları</a:t>
            </a:r>
            <a:r>
              <a:rPr lang="en-US" sz="2400" dirty="0"/>
              <a:t>, </a:t>
            </a:r>
            <a:r>
              <a:rPr lang="en-US" sz="2400" dirty="0" err="1"/>
              <a:t>veriyi</a:t>
            </a:r>
            <a:r>
              <a:rPr lang="en-US" sz="2400" dirty="0"/>
              <a:t> </a:t>
            </a:r>
            <a:r>
              <a:rPr lang="en-US" sz="2400" dirty="0" err="1"/>
              <a:t>çeşitli</a:t>
            </a:r>
            <a:r>
              <a:rPr lang="en-US" sz="2400" dirty="0"/>
              <a:t> </a:t>
            </a:r>
            <a:r>
              <a:rPr lang="en-US" sz="2400" dirty="0" err="1"/>
              <a:t>özelliklere</a:t>
            </a:r>
            <a:r>
              <a:rPr lang="en-US" sz="2400" dirty="0"/>
              <a:t> </a:t>
            </a:r>
            <a:r>
              <a:rPr lang="en-US" sz="2400" dirty="0" err="1"/>
              <a:t>göre</a:t>
            </a:r>
            <a:r>
              <a:rPr lang="en-US" sz="2400" dirty="0"/>
              <a:t> </a:t>
            </a:r>
            <a:r>
              <a:rPr lang="en-US" sz="2400" dirty="0" err="1"/>
              <a:t>bölerek</a:t>
            </a:r>
            <a:r>
              <a:rPr lang="en-US" sz="2400" dirty="0"/>
              <a:t> </a:t>
            </a:r>
            <a:r>
              <a:rPr lang="en-US" sz="2400" dirty="0" err="1"/>
              <a:t>tahminler</a:t>
            </a:r>
            <a:r>
              <a:rPr lang="en-US" sz="2400" dirty="0"/>
              <a:t> </a:t>
            </a:r>
            <a:r>
              <a:rPr lang="en-US" sz="2400" dirty="0" err="1"/>
              <a:t>yapan</a:t>
            </a:r>
            <a:r>
              <a:rPr lang="en-US" sz="2400" dirty="0"/>
              <a:t> </a:t>
            </a:r>
            <a:r>
              <a:rPr lang="en-US" sz="2400" dirty="0" err="1"/>
              <a:t>yapılar</a:t>
            </a:r>
            <a:r>
              <a:rPr lang="en-US" sz="2400" dirty="0"/>
              <a:t> </a:t>
            </a:r>
            <a:r>
              <a:rPr lang="en-US" sz="2400" dirty="0" err="1"/>
              <a:t>oluşturur</a:t>
            </a:r>
            <a:r>
              <a:rPr lang="en-US" sz="2400" dirty="0"/>
              <a:t>. Her </a:t>
            </a:r>
            <a:r>
              <a:rPr lang="en-US" sz="2400" dirty="0" err="1"/>
              <a:t>ağaç</a:t>
            </a:r>
            <a:r>
              <a:rPr lang="en-US" sz="2400" dirty="0"/>
              <a:t>, </a:t>
            </a:r>
            <a:r>
              <a:rPr lang="en-US" sz="2400" dirty="0" err="1"/>
              <a:t>belirli</a:t>
            </a:r>
            <a:r>
              <a:rPr lang="en-US" sz="2400" dirty="0"/>
              <a:t> </a:t>
            </a:r>
            <a:r>
              <a:rPr lang="en-US" sz="2400" dirty="0" err="1"/>
              <a:t>bir</a:t>
            </a:r>
            <a:r>
              <a:rPr lang="en-US" sz="2400" dirty="0"/>
              <a:t> </a:t>
            </a:r>
            <a:r>
              <a:rPr lang="en-US" sz="2400" dirty="0" err="1"/>
              <a:t>özellik</a:t>
            </a:r>
            <a:r>
              <a:rPr lang="en-US" sz="2400" dirty="0"/>
              <a:t> </a:t>
            </a:r>
            <a:r>
              <a:rPr lang="en-US" sz="2400" dirty="0" err="1"/>
              <a:t>ve</a:t>
            </a:r>
            <a:r>
              <a:rPr lang="en-US" sz="2400" dirty="0"/>
              <a:t> </a:t>
            </a:r>
            <a:r>
              <a:rPr lang="en-US" sz="2400" dirty="0" err="1"/>
              <a:t>değer</a:t>
            </a:r>
            <a:r>
              <a:rPr lang="en-US" sz="2400" dirty="0"/>
              <a:t> </a:t>
            </a:r>
            <a:r>
              <a:rPr lang="en-US" sz="2400" dirty="0" err="1"/>
              <a:t>kombinasyonu</a:t>
            </a:r>
            <a:r>
              <a:rPr lang="en-US" sz="2400" dirty="0"/>
              <a:t> </a:t>
            </a:r>
            <a:r>
              <a:rPr lang="en-US" sz="2400" dirty="0" err="1"/>
              <a:t>kullanarak</a:t>
            </a:r>
            <a:r>
              <a:rPr lang="en-US" sz="2400" dirty="0"/>
              <a:t> </a:t>
            </a:r>
            <a:r>
              <a:rPr lang="en-US" sz="2400" dirty="0" err="1"/>
              <a:t>veriyi</a:t>
            </a:r>
            <a:r>
              <a:rPr lang="en-US" sz="2400" dirty="0"/>
              <a:t> </a:t>
            </a:r>
            <a:r>
              <a:rPr lang="en-US" sz="2400" dirty="0" err="1"/>
              <a:t>böler</a:t>
            </a:r>
            <a:r>
              <a:rPr lang="en-US" sz="2400" dirty="0"/>
              <a:t>. </a:t>
            </a:r>
            <a:r>
              <a:rPr lang="en-US" sz="2400" dirty="0" err="1"/>
              <a:t>Karar</a:t>
            </a:r>
            <a:r>
              <a:rPr lang="en-US" sz="2400" dirty="0"/>
              <a:t> </a:t>
            </a:r>
            <a:r>
              <a:rPr lang="en-US" sz="2400" dirty="0" err="1"/>
              <a:t>ağaçları</a:t>
            </a:r>
            <a:r>
              <a:rPr lang="en-US" sz="2400" dirty="0"/>
              <a:t>, her </a:t>
            </a:r>
            <a:r>
              <a:rPr lang="en-US" sz="2400" dirty="0" err="1"/>
              <a:t>bir</a:t>
            </a:r>
            <a:r>
              <a:rPr lang="en-US" sz="2400" dirty="0"/>
              <a:t> </a:t>
            </a:r>
            <a:r>
              <a:rPr lang="en-US" sz="2400" dirty="0" err="1"/>
              <a:t>bölme</a:t>
            </a:r>
            <a:r>
              <a:rPr lang="en-US" sz="2400" dirty="0"/>
              <a:t> (splitting) </a:t>
            </a:r>
            <a:r>
              <a:rPr lang="en-US" sz="2400" dirty="0" err="1"/>
              <a:t>ile</a:t>
            </a:r>
            <a:r>
              <a:rPr lang="en-US" sz="2400" dirty="0"/>
              <a:t> </a:t>
            </a:r>
            <a:r>
              <a:rPr lang="en-US" sz="2400" dirty="0" err="1"/>
              <a:t>veriyi</a:t>
            </a:r>
            <a:r>
              <a:rPr lang="en-US" sz="2400" dirty="0"/>
              <a:t> </a:t>
            </a:r>
            <a:r>
              <a:rPr lang="en-US" sz="2400" dirty="0" err="1"/>
              <a:t>daha</a:t>
            </a:r>
            <a:r>
              <a:rPr lang="en-US" sz="2400" dirty="0"/>
              <a:t> </a:t>
            </a:r>
            <a:r>
              <a:rPr lang="en-US" sz="2400" dirty="0" err="1"/>
              <a:t>homojen</a:t>
            </a:r>
            <a:r>
              <a:rPr lang="en-US" sz="2400" dirty="0"/>
              <a:t> </a:t>
            </a:r>
            <a:r>
              <a:rPr lang="en-US" sz="2400" dirty="0" err="1"/>
              <a:t>gruplara</a:t>
            </a:r>
            <a:r>
              <a:rPr lang="en-US" sz="2400" dirty="0"/>
              <a:t> </a:t>
            </a:r>
            <a:r>
              <a:rPr lang="en-US" sz="2400" dirty="0" err="1"/>
              <a:t>ayırmayı</a:t>
            </a:r>
            <a:r>
              <a:rPr lang="en-US" sz="2400" dirty="0"/>
              <a:t> </a:t>
            </a:r>
            <a:r>
              <a:rPr lang="en-US" sz="2400" dirty="0" err="1"/>
              <a:t>amaçlar</a:t>
            </a:r>
            <a:r>
              <a:rPr lang="en-US" sz="2400" dirty="0"/>
              <a:t>.</a:t>
            </a:r>
          </a:p>
        </p:txBody>
      </p:sp>
      <p:pic>
        <p:nvPicPr>
          <p:cNvPr id="1026" name="Picture 2" descr="decision">
            <a:extLst>
              <a:ext uri="{FF2B5EF4-FFF2-40B4-BE49-F238E27FC236}">
                <a16:creationId xmlns:a16="http://schemas.microsoft.com/office/drawing/2014/main" id="{402A322E-5C2C-6035-AE39-FC0492D76446}"/>
              </a:ext>
            </a:extLst>
          </p:cNvPr>
          <p:cNvPicPr>
            <a:picLocks noGrp="1" noChangeAspect="1" noChangeArrowheads="1"/>
          </p:cNvPicPr>
          <p:nvPr>
            <p:ph sz="quarter" idx="13"/>
          </p:nvPr>
        </p:nvPicPr>
        <p:blipFill>
          <a:blip r:embed="rId3">
            <a:extLst>
              <a:ext uri="{28A0092B-C50C-407E-A947-70E740481C1C}">
                <a14:useLocalDpi xmlns:a14="http://schemas.microsoft.com/office/drawing/2010/main" val="0"/>
              </a:ext>
            </a:extLst>
          </a:blip>
          <a:stretch>
            <a:fillRect/>
          </a:stretch>
        </p:blipFill>
        <p:spPr bwMode="auto">
          <a:xfrm>
            <a:off x="6778518" y="1881601"/>
            <a:ext cx="4794254" cy="3094797"/>
          </a:xfrm>
          <a:prstGeom prst="rect">
            <a:avLst/>
          </a:prstGeom>
          <a:solidFill>
            <a:srgbClr val="FFFFFF"/>
          </a:solidFill>
        </p:spPr>
      </p:pic>
      <p:sp>
        <p:nvSpPr>
          <p:cNvPr id="13" name="Slide Number Placeholder 4" hidden="1">
            <a:extLst>
              <a:ext uri="{FF2B5EF4-FFF2-40B4-BE49-F238E27FC236}">
                <a16:creationId xmlns:a16="http://schemas.microsoft.com/office/drawing/2014/main" id="{4F3666CE-FE48-7263-5AAE-155E82F290F0}"/>
              </a:ext>
            </a:extLst>
          </p:cNvPr>
          <p:cNvSpPr>
            <a:spLocks noGrp="1"/>
          </p:cNvSpPr>
          <p:nvPr>
            <p:ph type="sldNum" sz="quarter" idx="4294967295"/>
          </p:nvPr>
        </p:nvSpPr>
        <p:spPr>
          <a:xfrm>
            <a:off x="11353800" y="5879804"/>
            <a:ext cx="661416" cy="895899"/>
          </a:xfrm>
        </p:spPr>
        <p:txBody>
          <a:bodyPr/>
          <a:lstStyle/>
          <a:p>
            <a:pPr>
              <a:spcAft>
                <a:spcPts val="600"/>
              </a:spcAft>
            </a:pPr>
            <a:fld id="{58FB4751-880F-D840-AAA9-3A15815CC996}" type="slidenum">
              <a:rPr lang="en-US" smtClean="0"/>
              <a:pPr>
                <a:spcAft>
                  <a:spcPts val="600"/>
                </a:spcAft>
              </a:pPr>
              <a:t>3</a:t>
            </a:fld>
            <a:endParaRPr lang="en-US"/>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7560932-F120-C873-1EAD-6C4049661EDF}"/>
              </a:ext>
            </a:extLst>
          </p:cNvPr>
          <p:cNvSpPr>
            <a:spLocks noGrp="1"/>
          </p:cNvSpPr>
          <p:nvPr>
            <p:ph type="title"/>
          </p:nvPr>
        </p:nvSpPr>
        <p:spPr>
          <a:xfrm>
            <a:off x="6490398" y="693338"/>
            <a:ext cx="4863402" cy="4893130"/>
          </a:xfrm>
        </p:spPr>
        <p:txBody>
          <a:bodyPr/>
          <a:lstStyle/>
          <a:p>
            <a:r>
              <a:rPr lang="en-US" sz="2400" dirty="0"/>
              <a:t>Random Forest, her </a:t>
            </a:r>
            <a:r>
              <a:rPr lang="en-US" sz="2400" dirty="0" err="1"/>
              <a:t>bir</a:t>
            </a:r>
            <a:r>
              <a:rPr lang="en-US" sz="2400" dirty="0"/>
              <a:t> </a:t>
            </a:r>
            <a:r>
              <a:rPr lang="en-US" sz="2400" dirty="0" err="1"/>
              <a:t>karar</a:t>
            </a:r>
            <a:r>
              <a:rPr lang="en-US" sz="2400" dirty="0"/>
              <a:t> </a:t>
            </a:r>
            <a:r>
              <a:rPr lang="en-US" sz="2400" dirty="0" err="1"/>
              <a:t>ağacını</a:t>
            </a:r>
            <a:r>
              <a:rPr lang="en-US" sz="2400" dirty="0"/>
              <a:t> </a:t>
            </a:r>
            <a:r>
              <a:rPr lang="en-US" sz="2400" dirty="0" err="1"/>
              <a:t>oluştururken</a:t>
            </a:r>
            <a:r>
              <a:rPr lang="en-US" sz="2400" dirty="0"/>
              <a:t> </a:t>
            </a:r>
            <a:r>
              <a:rPr lang="en-US" sz="2400" b="1" dirty="0"/>
              <a:t>bootstrap</a:t>
            </a:r>
            <a:r>
              <a:rPr lang="en-US" sz="2400" dirty="0"/>
              <a:t> </a:t>
            </a:r>
            <a:r>
              <a:rPr lang="en-US" sz="2400" dirty="0" err="1"/>
              <a:t>yöntemini</a:t>
            </a:r>
            <a:r>
              <a:rPr lang="en-US" sz="2400" dirty="0"/>
              <a:t> </a:t>
            </a:r>
            <a:r>
              <a:rPr lang="en-US" sz="2400" dirty="0" err="1"/>
              <a:t>kullanır</a:t>
            </a:r>
            <a:r>
              <a:rPr lang="en-US" sz="2400" dirty="0"/>
              <a:t>. Bootstrap, </a:t>
            </a:r>
            <a:r>
              <a:rPr lang="en-US" sz="2400" dirty="0" err="1"/>
              <a:t>verinin</a:t>
            </a:r>
            <a:r>
              <a:rPr lang="en-US" sz="2400" dirty="0"/>
              <a:t> </a:t>
            </a:r>
            <a:r>
              <a:rPr lang="en-US" sz="2400" dirty="0" err="1"/>
              <a:t>rastgele</a:t>
            </a:r>
            <a:r>
              <a:rPr lang="en-US" sz="2400" dirty="0"/>
              <a:t> </a:t>
            </a:r>
            <a:r>
              <a:rPr lang="en-US" sz="2400" dirty="0" err="1"/>
              <a:t>seçilen</a:t>
            </a:r>
            <a:r>
              <a:rPr lang="en-US" sz="2400" dirty="0"/>
              <a:t> </a:t>
            </a:r>
            <a:r>
              <a:rPr lang="en-US" sz="2400" dirty="0" err="1"/>
              <a:t>örneklerinden</a:t>
            </a:r>
            <a:r>
              <a:rPr lang="en-US" sz="2400" dirty="0"/>
              <a:t> </a:t>
            </a:r>
            <a:r>
              <a:rPr lang="en-US" sz="2400" dirty="0" err="1"/>
              <a:t>bir</a:t>
            </a:r>
            <a:r>
              <a:rPr lang="en-US" sz="2400" dirty="0"/>
              <a:t> alt </a:t>
            </a:r>
            <a:r>
              <a:rPr lang="en-US" sz="2400" dirty="0" err="1"/>
              <a:t>küme</a:t>
            </a:r>
            <a:r>
              <a:rPr lang="en-US" sz="2400" dirty="0"/>
              <a:t> </a:t>
            </a:r>
            <a:r>
              <a:rPr lang="en-US" sz="2400" dirty="0" err="1"/>
              <a:t>oluşturarak</a:t>
            </a:r>
            <a:r>
              <a:rPr lang="en-US" sz="2400" dirty="0"/>
              <a:t> </a:t>
            </a:r>
            <a:r>
              <a:rPr lang="en-US" sz="2400" dirty="0" err="1"/>
              <a:t>ağaçları</a:t>
            </a:r>
            <a:r>
              <a:rPr lang="en-US" sz="2400" dirty="0"/>
              <a:t> </a:t>
            </a:r>
            <a:r>
              <a:rPr lang="en-US" sz="2400" dirty="0" err="1"/>
              <a:t>eğitir</a:t>
            </a:r>
            <a:r>
              <a:rPr lang="en-US" sz="2400" dirty="0"/>
              <a:t>. Bu alt </a:t>
            </a:r>
            <a:r>
              <a:rPr lang="en-US" sz="2400" dirty="0" err="1"/>
              <a:t>küme</a:t>
            </a:r>
            <a:r>
              <a:rPr lang="en-US" sz="2400" dirty="0"/>
              <a:t>, </a:t>
            </a:r>
            <a:r>
              <a:rPr lang="en-US" sz="2400" dirty="0" err="1"/>
              <a:t>verinin</a:t>
            </a:r>
            <a:r>
              <a:rPr lang="en-US" sz="2400" dirty="0"/>
              <a:t> </a:t>
            </a:r>
            <a:r>
              <a:rPr lang="en-US" sz="2400" dirty="0" err="1"/>
              <a:t>bir</a:t>
            </a:r>
            <a:r>
              <a:rPr lang="en-US" sz="2400" dirty="0"/>
              <a:t> </a:t>
            </a:r>
            <a:r>
              <a:rPr lang="en-US" sz="2400" dirty="0" err="1"/>
              <a:t>örneğinin</a:t>
            </a:r>
            <a:r>
              <a:rPr lang="en-US" sz="2400" dirty="0"/>
              <a:t> </a:t>
            </a:r>
            <a:r>
              <a:rPr lang="en-US" sz="2400" dirty="0" err="1"/>
              <a:t>birden</a:t>
            </a:r>
            <a:r>
              <a:rPr lang="en-US" sz="2400" dirty="0"/>
              <a:t> </a:t>
            </a:r>
            <a:r>
              <a:rPr lang="en-US" sz="2400" dirty="0" err="1"/>
              <a:t>fazla</a:t>
            </a:r>
            <a:r>
              <a:rPr lang="en-US" sz="2400" dirty="0"/>
              <a:t> </a:t>
            </a:r>
            <a:r>
              <a:rPr lang="en-US" sz="2400" dirty="0" err="1"/>
              <a:t>kez</a:t>
            </a:r>
            <a:r>
              <a:rPr lang="en-US" sz="2400" dirty="0"/>
              <a:t> </a:t>
            </a:r>
            <a:r>
              <a:rPr lang="en-US" sz="2400" dirty="0" err="1"/>
              <a:t>seçilmesine</a:t>
            </a:r>
            <a:r>
              <a:rPr lang="en-US" sz="2400" dirty="0"/>
              <a:t> </a:t>
            </a:r>
            <a:r>
              <a:rPr lang="en-US" sz="2400" dirty="0" err="1"/>
              <a:t>izin</a:t>
            </a:r>
            <a:r>
              <a:rPr lang="en-US" sz="2400" dirty="0"/>
              <a:t> </a:t>
            </a:r>
            <a:r>
              <a:rPr lang="en-US" sz="2400" dirty="0" err="1"/>
              <a:t>verirken</a:t>
            </a:r>
            <a:r>
              <a:rPr lang="en-US" sz="2400" dirty="0"/>
              <a:t>, </a:t>
            </a:r>
            <a:r>
              <a:rPr lang="en-US" sz="2400" dirty="0" err="1"/>
              <a:t>bazı</a:t>
            </a:r>
            <a:r>
              <a:rPr lang="en-US" sz="2400" dirty="0"/>
              <a:t> </a:t>
            </a:r>
            <a:r>
              <a:rPr lang="en-US" sz="2400" dirty="0" err="1"/>
              <a:t>örnekler</a:t>
            </a:r>
            <a:r>
              <a:rPr lang="en-US" sz="2400" dirty="0"/>
              <a:t> </a:t>
            </a:r>
            <a:r>
              <a:rPr lang="en-US" sz="2400" dirty="0" err="1"/>
              <a:t>hiç</a:t>
            </a:r>
            <a:r>
              <a:rPr lang="en-US" sz="2400" dirty="0"/>
              <a:t> </a:t>
            </a:r>
            <a:r>
              <a:rPr lang="en-US" sz="2400" dirty="0" err="1"/>
              <a:t>seçilmeyebilir</a:t>
            </a:r>
            <a:r>
              <a:rPr lang="en-US" sz="2400" dirty="0"/>
              <a:t>. Bu </a:t>
            </a:r>
            <a:r>
              <a:rPr lang="en-US" sz="2400" dirty="0" err="1"/>
              <a:t>işlem</a:t>
            </a:r>
            <a:r>
              <a:rPr lang="en-US" sz="2400" dirty="0"/>
              <a:t>, </a:t>
            </a:r>
            <a:r>
              <a:rPr lang="en-US" sz="2400" dirty="0" err="1"/>
              <a:t>modelin</a:t>
            </a:r>
            <a:r>
              <a:rPr lang="en-US" sz="2400" dirty="0"/>
              <a:t> </a:t>
            </a:r>
            <a:r>
              <a:rPr lang="en-US" sz="2400" dirty="0" err="1"/>
              <a:t>daha</a:t>
            </a:r>
            <a:r>
              <a:rPr lang="en-US" sz="2400" dirty="0"/>
              <a:t> </a:t>
            </a:r>
            <a:r>
              <a:rPr lang="en-US" sz="2400" dirty="0" err="1"/>
              <a:t>sağlam</a:t>
            </a:r>
            <a:r>
              <a:rPr lang="en-US" sz="2400" dirty="0"/>
              <a:t> </a:t>
            </a:r>
            <a:r>
              <a:rPr lang="en-US" sz="2400" dirty="0" err="1"/>
              <a:t>ve</a:t>
            </a:r>
            <a:r>
              <a:rPr lang="en-US" sz="2400" dirty="0"/>
              <a:t> </a:t>
            </a:r>
            <a:r>
              <a:rPr lang="en-US" sz="2400" dirty="0" err="1"/>
              <a:t>genellenebilir</a:t>
            </a:r>
            <a:r>
              <a:rPr lang="en-US" sz="2400" dirty="0"/>
              <a:t> </a:t>
            </a:r>
            <a:r>
              <a:rPr lang="en-US" sz="2400" dirty="0" err="1"/>
              <a:t>olmasına</a:t>
            </a:r>
            <a:r>
              <a:rPr lang="en-US" sz="2400" dirty="0"/>
              <a:t> </a:t>
            </a:r>
            <a:r>
              <a:rPr lang="en-US" sz="2400" dirty="0" err="1"/>
              <a:t>yardımcı</a:t>
            </a:r>
            <a:r>
              <a:rPr lang="en-US" sz="2400" dirty="0"/>
              <a:t> </a:t>
            </a:r>
            <a:r>
              <a:rPr lang="en-US" sz="2400" dirty="0" err="1"/>
              <a:t>olur</a:t>
            </a:r>
            <a:r>
              <a:rPr lang="en-US" sz="2400" dirty="0"/>
              <a:t>.</a:t>
            </a:r>
          </a:p>
        </p:txBody>
      </p:sp>
      <p:sp>
        <p:nvSpPr>
          <p:cNvPr id="20" name="Slide Number Placeholder 4">
            <a:extLst>
              <a:ext uri="{FF2B5EF4-FFF2-40B4-BE49-F238E27FC236}">
                <a16:creationId xmlns:a16="http://schemas.microsoft.com/office/drawing/2014/main" id="{9CB41CF0-DF11-93C8-7350-C3AF68A547C6}"/>
              </a:ext>
            </a:extLst>
          </p:cNvPr>
          <p:cNvSpPr>
            <a:spLocks noGrp="1"/>
          </p:cNvSpPr>
          <p:nvPr>
            <p:ph type="sldNum" sz="quarter" idx="4"/>
          </p:nvPr>
        </p:nvSpPr>
        <p:spPr>
          <a:xfrm>
            <a:off x="11353800" y="5879804"/>
            <a:ext cx="661416" cy="895899"/>
          </a:xfrm>
        </p:spPr>
        <p:txBody>
          <a:bodyPr/>
          <a:lstStyle/>
          <a:p>
            <a:pPr>
              <a:spcAft>
                <a:spcPts val="600"/>
              </a:spcAft>
            </a:pPr>
            <a:fld id="{58FB4751-880F-D840-AAA9-3A15815CC996}" type="slidenum">
              <a:rPr lang="en-US" smtClean="0"/>
              <a:pPr>
                <a:spcAft>
                  <a:spcPts val="600"/>
                </a:spcAft>
              </a:pPr>
              <a:t>4</a:t>
            </a:fld>
            <a:endParaRPr lang="en-US"/>
          </a:p>
        </p:txBody>
      </p:sp>
      <p:pic>
        <p:nvPicPr>
          <p:cNvPr id="12" name="Content Placeholder 11">
            <a:extLst>
              <a:ext uri="{FF2B5EF4-FFF2-40B4-BE49-F238E27FC236}">
                <a16:creationId xmlns:a16="http://schemas.microsoft.com/office/drawing/2014/main" id="{7937A056-091F-CCF8-1E8D-E26B3D248C82}"/>
              </a:ext>
            </a:extLst>
          </p:cNvPr>
          <p:cNvPicPr>
            <a:picLocks noGrp="1" noChangeAspect="1"/>
          </p:cNvPicPr>
          <p:nvPr>
            <p:ph sz="quarter" idx="13"/>
          </p:nvPr>
        </p:nvPicPr>
        <p:blipFill>
          <a:blip r:embed="rId3"/>
          <a:stretch>
            <a:fillRect/>
          </a:stretch>
        </p:blipFill>
        <p:spPr>
          <a:xfrm>
            <a:off x="646444" y="1569065"/>
            <a:ext cx="5504597" cy="3391018"/>
          </a:xfrm>
        </p:spPr>
      </p:pic>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2DDC4-CFE9-523D-0EBC-70CDD2391A1F}"/>
              </a:ext>
            </a:extLst>
          </p:cNvPr>
          <p:cNvSpPr>
            <a:spLocks noGrp="1"/>
          </p:cNvSpPr>
          <p:nvPr>
            <p:ph type="title"/>
          </p:nvPr>
        </p:nvSpPr>
        <p:spPr>
          <a:xfrm>
            <a:off x="943583" y="651753"/>
            <a:ext cx="9114817" cy="914400"/>
          </a:xfrm>
        </p:spPr>
        <p:txBody>
          <a:bodyPr/>
          <a:lstStyle/>
          <a:p>
            <a:r>
              <a:rPr lang="en-US" b="1" dirty="0"/>
              <a:t>Bootstrap Aggregation (Bagging) </a:t>
            </a:r>
            <a:r>
              <a:rPr lang="en-US" b="1" dirty="0" err="1"/>
              <a:t>Nedir</a:t>
            </a:r>
            <a:r>
              <a:rPr lang="en-US" b="1" dirty="0"/>
              <a:t>?</a:t>
            </a:r>
          </a:p>
        </p:txBody>
      </p:sp>
      <p:sp>
        <p:nvSpPr>
          <p:cNvPr id="3" name="Content Placeholder 2">
            <a:extLst>
              <a:ext uri="{FF2B5EF4-FFF2-40B4-BE49-F238E27FC236}">
                <a16:creationId xmlns:a16="http://schemas.microsoft.com/office/drawing/2014/main" id="{9BC701D2-D33D-A942-6A5A-DB6D67C1C785}"/>
              </a:ext>
            </a:extLst>
          </p:cNvPr>
          <p:cNvSpPr>
            <a:spLocks noGrp="1"/>
          </p:cNvSpPr>
          <p:nvPr>
            <p:ph sz="quarter" idx="10"/>
          </p:nvPr>
        </p:nvSpPr>
        <p:spPr>
          <a:xfrm>
            <a:off x="1468812" y="2171001"/>
            <a:ext cx="9542834" cy="3840692"/>
          </a:xfrm>
        </p:spPr>
        <p:txBody>
          <a:bodyPr>
            <a:normAutofit/>
          </a:bodyPr>
          <a:lstStyle/>
          <a:p>
            <a:r>
              <a:rPr lang="en-US" sz="2400" dirty="0">
                <a:latin typeface="+mj-lt"/>
              </a:rPr>
              <a:t>Bootstrap Aggregation, </a:t>
            </a:r>
            <a:r>
              <a:rPr lang="en-US" sz="2400" dirty="0" err="1">
                <a:latin typeface="+mj-lt"/>
              </a:rPr>
              <a:t>kısaca</a:t>
            </a:r>
            <a:r>
              <a:rPr lang="en-US" sz="2400" dirty="0">
                <a:latin typeface="+mj-lt"/>
              </a:rPr>
              <a:t> Bagging </a:t>
            </a:r>
            <a:r>
              <a:rPr lang="en-US" sz="2400" dirty="0" err="1">
                <a:latin typeface="+mj-lt"/>
              </a:rPr>
              <a:t>olarak</a:t>
            </a:r>
            <a:r>
              <a:rPr lang="en-US" sz="2400" dirty="0">
                <a:latin typeface="+mj-lt"/>
              </a:rPr>
              <a:t> </a:t>
            </a:r>
            <a:r>
              <a:rPr lang="en-US" sz="2400" dirty="0" err="1">
                <a:latin typeface="+mj-lt"/>
              </a:rPr>
              <a:t>bilinir</a:t>
            </a:r>
            <a:r>
              <a:rPr lang="en-US" sz="2400" dirty="0">
                <a:latin typeface="+mj-lt"/>
              </a:rPr>
              <a:t> </a:t>
            </a:r>
            <a:r>
              <a:rPr lang="en-US" sz="2400" dirty="0" err="1">
                <a:latin typeface="+mj-lt"/>
              </a:rPr>
              <a:t>ve</a:t>
            </a:r>
            <a:r>
              <a:rPr lang="en-US" sz="2400" dirty="0">
                <a:latin typeface="+mj-lt"/>
              </a:rPr>
              <a:t> </a:t>
            </a:r>
            <a:r>
              <a:rPr lang="en-US" sz="2400" dirty="0" err="1">
                <a:latin typeface="+mj-lt"/>
              </a:rPr>
              <a:t>topluluk</a:t>
            </a:r>
            <a:r>
              <a:rPr lang="en-US" sz="2400" dirty="0">
                <a:latin typeface="+mj-lt"/>
              </a:rPr>
              <a:t> </a:t>
            </a:r>
            <a:r>
              <a:rPr lang="en-US" sz="2400" dirty="0" err="1">
                <a:latin typeface="+mj-lt"/>
              </a:rPr>
              <a:t>yöntemlerinden</a:t>
            </a:r>
            <a:r>
              <a:rPr lang="tr-TR" sz="2400" dirty="0">
                <a:latin typeface="+mj-lt"/>
              </a:rPr>
              <a:t> </a:t>
            </a:r>
            <a:r>
              <a:rPr lang="en-US" sz="2400" dirty="0" err="1">
                <a:latin typeface="+mj-lt"/>
              </a:rPr>
              <a:t>biridir</a:t>
            </a:r>
            <a:r>
              <a:rPr lang="en-US" sz="2400" dirty="0">
                <a:latin typeface="+mj-lt"/>
              </a:rPr>
              <a:t>. </a:t>
            </a:r>
            <a:r>
              <a:rPr lang="en-US" sz="2400" dirty="0" err="1">
                <a:latin typeface="+mj-lt"/>
              </a:rPr>
              <a:t>Birden</a:t>
            </a:r>
            <a:r>
              <a:rPr lang="en-US" sz="2400" dirty="0">
                <a:latin typeface="+mj-lt"/>
              </a:rPr>
              <a:t> </a:t>
            </a:r>
            <a:r>
              <a:rPr lang="en-US" sz="2400" dirty="0" err="1">
                <a:latin typeface="+mj-lt"/>
              </a:rPr>
              <a:t>fazla</a:t>
            </a:r>
            <a:r>
              <a:rPr lang="en-US" sz="2400" dirty="0">
                <a:latin typeface="+mj-lt"/>
              </a:rPr>
              <a:t> </a:t>
            </a:r>
            <a:r>
              <a:rPr lang="en-US" sz="2400" dirty="0" err="1">
                <a:latin typeface="+mj-lt"/>
              </a:rPr>
              <a:t>zayıf</a:t>
            </a:r>
            <a:r>
              <a:rPr lang="en-US" sz="2400" dirty="0">
                <a:latin typeface="+mj-lt"/>
              </a:rPr>
              <a:t> </a:t>
            </a:r>
            <a:r>
              <a:rPr lang="en-US" sz="2400" dirty="0" err="1">
                <a:latin typeface="+mj-lt"/>
              </a:rPr>
              <a:t>öğrenicinin</a:t>
            </a:r>
            <a:r>
              <a:rPr lang="en-US" sz="2400" dirty="0">
                <a:latin typeface="+mj-lt"/>
              </a:rPr>
              <a:t> </a:t>
            </a:r>
            <a:r>
              <a:rPr lang="en-US" sz="2400" dirty="0" err="1">
                <a:latin typeface="+mj-lt"/>
              </a:rPr>
              <a:t>birleştirilerek</a:t>
            </a:r>
            <a:r>
              <a:rPr lang="en-US" sz="2400" dirty="0">
                <a:latin typeface="+mj-lt"/>
              </a:rPr>
              <a:t> </a:t>
            </a:r>
            <a:r>
              <a:rPr lang="en-US" sz="2400" dirty="0" err="1">
                <a:latin typeface="+mj-lt"/>
              </a:rPr>
              <a:t>daha</a:t>
            </a:r>
            <a:r>
              <a:rPr lang="en-US" sz="2400" dirty="0">
                <a:latin typeface="+mj-lt"/>
              </a:rPr>
              <a:t> </a:t>
            </a:r>
            <a:r>
              <a:rPr lang="en-US" sz="2400" dirty="0" err="1">
                <a:latin typeface="+mj-lt"/>
              </a:rPr>
              <a:t>güçlü</a:t>
            </a:r>
            <a:r>
              <a:rPr lang="en-US" sz="2400" dirty="0">
                <a:latin typeface="+mj-lt"/>
              </a:rPr>
              <a:t> </a:t>
            </a:r>
            <a:r>
              <a:rPr lang="en-US" sz="2400" dirty="0" err="1">
                <a:latin typeface="+mj-lt"/>
              </a:rPr>
              <a:t>ve</a:t>
            </a:r>
            <a:r>
              <a:rPr lang="en-US" sz="2400" dirty="0">
                <a:latin typeface="+mj-lt"/>
              </a:rPr>
              <a:t> </a:t>
            </a:r>
            <a:r>
              <a:rPr lang="en-US" sz="2400" dirty="0" err="1">
                <a:latin typeface="+mj-lt"/>
              </a:rPr>
              <a:t>genellenebilir</a:t>
            </a:r>
            <a:r>
              <a:rPr lang="en-US" sz="2400" dirty="0">
                <a:latin typeface="+mj-lt"/>
              </a:rPr>
              <a:t> </a:t>
            </a:r>
            <a:r>
              <a:rPr lang="en-US" sz="2400" dirty="0" err="1">
                <a:latin typeface="+mj-lt"/>
              </a:rPr>
              <a:t>bir</a:t>
            </a:r>
            <a:r>
              <a:rPr lang="en-US" sz="2400" dirty="0">
                <a:latin typeface="+mj-lt"/>
              </a:rPr>
              <a:t> model </a:t>
            </a:r>
            <a:r>
              <a:rPr lang="en-US" sz="2400" dirty="0" err="1">
                <a:latin typeface="+mj-lt"/>
              </a:rPr>
              <a:t>oluşturulmasını</a:t>
            </a:r>
            <a:r>
              <a:rPr lang="en-US" sz="2400" dirty="0">
                <a:latin typeface="+mj-lt"/>
              </a:rPr>
              <a:t> </a:t>
            </a:r>
            <a:r>
              <a:rPr lang="en-US" sz="2400" dirty="0" err="1">
                <a:latin typeface="+mj-lt"/>
              </a:rPr>
              <a:t>hedefler</a:t>
            </a:r>
            <a:r>
              <a:rPr lang="en-US" sz="2400" dirty="0">
                <a:latin typeface="+mj-lt"/>
              </a:rPr>
              <a:t>. </a:t>
            </a:r>
            <a:r>
              <a:rPr lang="en-US" sz="2400" dirty="0" err="1">
                <a:latin typeface="+mj-lt"/>
              </a:rPr>
              <a:t>Özellikle</a:t>
            </a:r>
            <a:r>
              <a:rPr lang="en-US" sz="2400" dirty="0">
                <a:latin typeface="+mj-lt"/>
              </a:rPr>
              <a:t> </a:t>
            </a:r>
            <a:r>
              <a:rPr lang="en-US" sz="2400" dirty="0" err="1">
                <a:latin typeface="+mj-lt"/>
              </a:rPr>
              <a:t>sınıflandırma</a:t>
            </a:r>
            <a:r>
              <a:rPr lang="en-US" sz="2400" dirty="0">
                <a:latin typeface="+mj-lt"/>
              </a:rPr>
              <a:t> </a:t>
            </a:r>
            <a:r>
              <a:rPr lang="en-US" sz="2400" dirty="0" err="1">
                <a:latin typeface="+mj-lt"/>
              </a:rPr>
              <a:t>ve</a:t>
            </a:r>
            <a:r>
              <a:rPr lang="en-US" sz="2400" dirty="0">
                <a:latin typeface="+mj-lt"/>
              </a:rPr>
              <a:t> </a:t>
            </a:r>
            <a:r>
              <a:rPr lang="en-US" sz="2400" dirty="0" err="1">
                <a:latin typeface="+mj-lt"/>
              </a:rPr>
              <a:t>regresyon</a:t>
            </a:r>
            <a:r>
              <a:rPr lang="en-US" sz="2400" dirty="0">
                <a:latin typeface="+mj-lt"/>
              </a:rPr>
              <a:t> </a:t>
            </a:r>
            <a:r>
              <a:rPr lang="en-US" sz="2400" dirty="0" err="1">
                <a:latin typeface="+mj-lt"/>
              </a:rPr>
              <a:t>problemlerinde</a:t>
            </a:r>
            <a:r>
              <a:rPr lang="en-US" sz="2400" dirty="0">
                <a:latin typeface="+mj-lt"/>
              </a:rPr>
              <a:t> </a:t>
            </a:r>
            <a:r>
              <a:rPr lang="en-US" sz="2400" dirty="0" err="1">
                <a:latin typeface="+mj-lt"/>
              </a:rPr>
              <a:t>karar</a:t>
            </a:r>
            <a:r>
              <a:rPr lang="en-US" sz="2400" dirty="0">
                <a:latin typeface="+mj-lt"/>
              </a:rPr>
              <a:t> </a:t>
            </a:r>
            <a:r>
              <a:rPr lang="en-US" sz="2400" dirty="0" err="1">
                <a:latin typeface="+mj-lt"/>
              </a:rPr>
              <a:t>ağaçları</a:t>
            </a:r>
            <a:r>
              <a:rPr lang="en-US" sz="2400" dirty="0">
                <a:latin typeface="+mj-lt"/>
              </a:rPr>
              <a:t> </a:t>
            </a:r>
            <a:r>
              <a:rPr lang="en-US" sz="2400" dirty="0" err="1">
                <a:latin typeface="+mj-lt"/>
              </a:rPr>
              <a:t>gibi</a:t>
            </a:r>
            <a:r>
              <a:rPr lang="en-US" sz="2400" dirty="0">
                <a:latin typeface="+mj-lt"/>
              </a:rPr>
              <a:t> </a:t>
            </a:r>
            <a:r>
              <a:rPr lang="en-US" sz="2400" dirty="0" err="1">
                <a:latin typeface="+mj-lt"/>
              </a:rPr>
              <a:t>istikrarsız</a:t>
            </a:r>
            <a:r>
              <a:rPr lang="en-US" sz="2400" dirty="0">
                <a:latin typeface="+mj-lt"/>
              </a:rPr>
              <a:t> </a:t>
            </a:r>
            <a:r>
              <a:rPr lang="en-US" sz="2400" dirty="0" err="1">
                <a:latin typeface="+mj-lt"/>
              </a:rPr>
              <a:t>modellerin</a:t>
            </a:r>
            <a:r>
              <a:rPr lang="en-US" sz="2400" dirty="0">
                <a:latin typeface="+mj-lt"/>
              </a:rPr>
              <a:t> </a:t>
            </a:r>
            <a:r>
              <a:rPr lang="en-US" sz="2400" dirty="0" err="1">
                <a:latin typeface="+mj-lt"/>
              </a:rPr>
              <a:t>varyansını</a:t>
            </a:r>
            <a:r>
              <a:rPr lang="en-US" sz="2400" dirty="0">
                <a:latin typeface="+mj-lt"/>
              </a:rPr>
              <a:t> </a:t>
            </a:r>
            <a:r>
              <a:rPr lang="en-US" sz="2400" dirty="0" err="1">
                <a:latin typeface="+mj-lt"/>
              </a:rPr>
              <a:t>azaltmak</a:t>
            </a:r>
            <a:r>
              <a:rPr lang="en-US" sz="2400" dirty="0">
                <a:latin typeface="+mj-lt"/>
              </a:rPr>
              <a:t> </a:t>
            </a:r>
            <a:r>
              <a:rPr lang="en-US" sz="2400" dirty="0" err="1">
                <a:latin typeface="+mj-lt"/>
              </a:rPr>
              <a:t>için</a:t>
            </a:r>
            <a:r>
              <a:rPr lang="en-US" sz="2400" dirty="0">
                <a:latin typeface="+mj-lt"/>
              </a:rPr>
              <a:t> </a:t>
            </a:r>
            <a:r>
              <a:rPr lang="en-US" sz="2400" dirty="0" err="1">
                <a:latin typeface="+mj-lt"/>
              </a:rPr>
              <a:t>kullanılır</a:t>
            </a:r>
            <a:r>
              <a:rPr lang="en-US" sz="2400" dirty="0">
                <a:latin typeface="+mj-lt"/>
              </a:rPr>
              <a:t>. </a:t>
            </a:r>
            <a:r>
              <a:rPr lang="en-US" sz="2400" dirty="0" err="1">
                <a:latin typeface="+mj-lt"/>
              </a:rPr>
              <a:t>Temeli</a:t>
            </a:r>
            <a:r>
              <a:rPr lang="en-US" sz="2400" dirty="0">
                <a:latin typeface="+mj-lt"/>
              </a:rPr>
              <a:t>, bootstrap </a:t>
            </a:r>
            <a:r>
              <a:rPr lang="en-US" sz="2400" dirty="0" err="1">
                <a:latin typeface="+mj-lt"/>
              </a:rPr>
              <a:t>örnekleme</a:t>
            </a:r>
            <a:r>
              <a:rPr lang="en-US" sz="2400" dirty="0">
                <a:latin typeface="+mj-lt"/>
              </a:rPr>
              <a:t> </a:t>
            </a:r>
            <a:r>
              <a:rPr lang="en-US" sz="2400" dirty="0" err="1">
                <a:latin typeface="+mj-lt"/>
              </a:rPr>
              <a:t>ve</a:t>
            </a:r>
            <a:r>
              <a:rPr lang="en-US" sz="2400" dirty="0">
                <a:latin typeface="+mj-lt"/>
              </a:rPr>
              <a:t> </a:t>
            </a:r>
            <a:r>
              <a:rPr lang="en-US" sz="2400" dirty="0" err="1">
                <a:latin typeface="+mj-lt"/>
              </a:rPr>
              <a:t>birleştirme</a:t>
            </a:r>
            <a:r>
              <a:rPr lang="en-US" sz="2400" dirty="0">
                <a:latin typeface="+mj-lt"/>
              </a:rPr>
              <a:t> </a:t>
            </a:r>
            <a:r>
              <a:rPr lang="en-US" sz="2400" dirty="0" err="1">
                <a:latin typeface="+mj-lt"/>
              </a:rPr>
              <a:t>işlemlerine</a:t>
            </a:r>
            <a:r>
              <a:rPr lang="en-US" sz="2400" dirty="0">
                <a:latin typeface="+mj-lt"/>
              </a:rPr>
              <a:t> </a:t>
            </a:r>
            <a:r>
              <a:rPr lang="en-US" sz="2400" dirty="0" err="1">
                <a:latin typeface="+mj-lt"/>
              </a:rPr>
              <a:t>dayanır</a:t>
            </a:r>
            <a:r>
              <a:rPr lang="en-US" sz="2400" dirty="0">
                <a:latin typeface="+mj-lt"/>
              </a:rPr>
              <a:t>.</a:t>
            </a:r>
          </a:p>
        </p:txBody>
      </p:sp>
      <p:sp>
        <p:nvSpPr>
          <p:cNvPr id="4" name="Slide Number Placeholder 3">
            <a:extLst>
              <a:ext uri="{FF2B5EF4-FFF2-40B4-BE49-F238E27FC236}">
                <a16:creationId xmlns:a16="http://schemas.microsoft.com/office/drawing/2014/main" id="{4D37314A-8641-A04E-20AC-EE66650E4D6B}"/>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1471977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C4202-5031-2004-C89A-F377B97D6C14}"/>
              </a:ext>
            </a:extLst>
          </p:cNvPr>
          <p:cNvSpPr>
            <a:spLocks noGrp="1"/>
          </p:cNvSpPr>
          <p:nvPr>
            <p:ph type="title"/>
          </p:nvPr>
        </p:nvSpPr>
        <p:spPr>
          <a:xfrm>
            <a:off x="518095" y="204280"/>
            <a:ext cx="8197888" cy="914400"/>
          </a:xfrm>
        </p:spPr>
        <p:txBody>
          <a:bodyPr/>
          <a:lstStyle/>
          <a:p>
            <a:r>
              <a:rPr lang="en-US" b="1" dirty="0" err="1"/>
              <a:t>Bagging’in</a:t>
            </a:r>
            <a:r>
              <a:rPr lang="en-US" b="1" dirty="0"/>
              <a:t> </a:t>
            </a:r>
            <a:r>
              <a:rPr lang="en-US" b="1" dirty="0" err="1"/>
              <a:t>Adımları</a:t>
            </a:r>
            <a:r>
              <a:rPr lang="en-US" b="1" dirty="0"/>
              <a:t> </a:t>
            </a:r>
            <a:r>
              <a:rPr lang="en-US" b="1" dirty="0" err="1"/>
              <a:t>ve</a:t>
            </a:r>
            <a:r>
              <a:rPr lang="en-US" b="1" dirty="0"/>
              <a:t> </a:t>
            </a:r>
            <a:r>
              <a:rPr lang="en-US" b="1" dirty="0" err="1"/>
              <a:t>Nasıl</a:t>
            </a:r>
            <a:r>
              <a:rPr lang="en-US" b="1" dirty="0"/>
              <a:t> </a:t>
            </a:r>
            <a:r>
              <a:rPr lang="en-US" b="1" dirty="0" err="1"/>
              <a:t>Yapıldığı</a:t>
            </a:r>
            <a:endParaRPr lang="en-US" b="1" dirty="0"/>
          </a:p>
        </p:txBody>
      </p:sp>
      <p:sp>
        <p:nvSpPr>
          <p:cNvPr id="3" name="Content Placeholder 2">
            <a:extLst>
              <a:ext uri="{FF2B5EF4-FFF2-40B4-BE49-F238E27FC236}">
                <a16:creationId xmlns:a16="http://schemas.microsoft.com/office/drawing/2014/main" id="{5B1D3515-11E9-871A-34C5-4E2C33F7F308}"/>
              </a:ext>
            </a:extLst>
          </p:cNvPr>
          <p:cNvSpPr>
            <a:spLocks noGrp="1"/>
          </p:cNvSpPr>
          <p:nvPr>
            <p:ph sz="quarter" idx="10"/>
          </p:nvPr>
        </p:nvSpPr>
        <p:spPr>
          <a:xfrm>
            <a:off x="914400" y="1410511"/>
            <a:ext cx="10700426" cy="4902740"/>
          </a:xfrm>
        </p:spPr>
        <p:txBody>
          <a:bodyPr>
            <a:normAutofit fontScale="47500" lnSpcReduction="20000"/>
          </a:bodyPr>
          <a:lstStyle/>
          <a:p>
            <a:pPr>
              <a:lnSpc>
                <a:spcPct val="120000"/>
              </a:lnSpc>
            </a:pPr>
            <a:r>
              <a:rPr lang="en-US" sz="4200" b="1" dirty="0">
                <a:latin typeface="+mj-lt"/>
              </a:rPr>
              <a:t>Bootstrap </a:t>
            </a:r>
            <a:r>
              <a:rPr lang="en-US" sz="4200" b="1" dirty="0" err="1">
                <a:latin typeface="+mj-lt"/>
              </a:rPr>
              <a:t>Örnekleme</a:t>
            </a:r>
            <a:r>
              <a:rPr lang="tr-TR" sz="4200" b="1" dirty="0">
                <a:latin typeface="+mj-lt"/>
              </a:rPr>
              <a:t> </a:t>
            </a:r>
            <a:r>
              <a:rPr lang="en-US" sz="4200" b="1" dirty="0">
                <a:latin typeface="+mj-lt"/>
              </a:rPr>
              <a:t>(Random Sampling with Replacement)</a:t>
            </a:r>
            <a:br>
              <a:rPr lang="en-US" sz="4200" dirty="0">
                <a:latin typeface="+mj-lt"/>
              </a:rPr>
            </a:br>
            <a:r>
              <a:rPr lang="en-US" sz="4200" dirty="0" err="1">
                <a:latin typeface="+mj-lt"/>
              </a:rPr>
              <a:t>Orijinal</a:t>
            </a:r>
            <a:r>
              <a:rPr lang="en-US" sz="4200" dirty="0">
                <a:latin typeface="+mj-lt"/>
              </a:rPr>
              <a:t> </a:t>
            </a:r>
            <a:r>
              <a:rPr lang="en-US" sz="4200" dirty="0" err="1">
                <a:latin typeface="+mj-lt"/>
              </a:rPr>
              <a:t>veri</a:t>
            </a:r>
            <a:r>
              <a:rPr lang="en-US" sz="4200" dirty="0">
                <a:latin typeface="+mj-lt"/>
              </a:rPr>
              <a:t> </a:t>
            </a:r>
            <a:r>
              <a:rPr lang="en-US" sz="4200" dirty="0" err="1">
                <a:latin typeface="+mj-lt"/>
              </a:rPr>
              <a:t>setinden</a:t>
            </a:r>
            <a:r>
              <a:rPr lang="en-US" sz="4200" dirty="0">
                <a:latin typeface="+mj-lt"/>
              </a:rPr>
              <a:t>, </a:t>
            </a:r>
            <a:r>
              <a:rPr lang="en-US" sz="4200" dirty="0" err="1">
                <a:latin typeface="+mj-lt"/>
              </a:rPr>
              <a:t>aynı</a:t>
            </a:r>
            <a:r>
              <a:rPr lang="en-US" sz="4200" dirty="0">
                <a:latin typeface="+mj-lt"/>
              </a:rPr>
              <a:t> </a:t>
            </a:r>
            <a:r>
              <a:rPr lang="en-US" sz="4200" dirty="0" err="1">
                <a:latin typeface="+mj-lt"/>
              </a:rPr>
              <a:t>boyutta</a:t>
            </a:r>
            <a:r>
              <a:rPr lang="en-US" sz="4200" dirty="0">
                <a:latin typeface="+mj-lt"/>
              </a:rPr>
              <a:t> </a:t>
            </a:r>
            <a:r>
              <a:rPr lang="en-US" sz="4200" dirty="0" err="1">
                <a:latin typeface="+mj-lt"/>
              </a:rPr>
              <a:t>fakat</a:t>
            </a:r>
            <a:r>
              <a:rPr lang="en-US" sz="4200" dirty="0">
                <a:latin typeface="+mj-lt"/>
              </a:rPr>
              <a:t> </a:t>
            </a:r>
            <a:r>
              <a:rPr lang="en-US" sz="4200" dirty="0" err="1">
                <a:latin typeface="+mj-lt"/>
              </a:rPr>
              <a:t>rastgele</a:t>
            </a:r>
            <a:r>
              <a:rPr lang="en-US" sz="4200" dirty="0">
                <a:latin typeface="+mj-lt"/>
              </a:rPr>
              <a:t> </a:t>
            </a:r>
            <a:r>
              <a:rPr lang="en-US" sz="4200" dirty="0" err="1">
                <a:latin typeface="+mj-lt"/>
              </a:rPr>
              <a:t>ve</a:t>
            </a:r>
            <a:r>
              <a:rPr lang="en-US" sz="4200" dirty="0">
                <a:latin typeface="+mj-lt"/>
              </a:rPr>
              <a:t> </a:t>
            </a:r>
            <a:r>
              <a:rPr lang="en-US" sz="4200" dirty="0" err="1">
                <a:latin typeface="+mj-lt"/>
              </a:rPr>
              <a:t>tekrarlı</a:t>
            </a:r>
            <a:r>
              <a:rPr lang="en-US" sz="4200" dirty="0">
                <a:latin typeface="+mj-lt"/>
              </a:rPr>
              <a:t> </a:t>
            </a:r>
            <a:r>
              <a:rPr lang="en-US" sz="4200" dirty="0" err="1">
                <a:latin typeface="+mj-lt"/>
              </a:rPr>
              <a:t>seçilen</a:t>
            </a:r>
            <a:r>
              <a:rPr lang="en-US" sz="4200" dirty="0">
                <a:latin typeface="+mj-lt"/>
              </a:rPr>
              <a:t> alt </a:t>
            </a:r>
            <a:r>
              <a:rPr lang="en-US" sz="4200" dirty="0" err="1">
                <a:latin typeface="+mj-lt"/>
              </a:rPr>
              <a:t>kümeler</a:t>
            </a:r>
            <a:r>
              <a:rPr lang="en-US" sz="4200" dirty="0">
                <a:latin typeface="+mj-lt"/>
              </a:rPr>
              <a:t> </a:t>
            </a:r>
            <a:r>
              <a:rPr lang="en-US" sz="4200" dirty="0" err="1">
                <a:latin typeface="+mj-lt"/>
              </a:rPr>
              <a:t>oluşturulur</a:t>
            </a:r>
            <a:r>
              <a:rPr lang="en-US" sz="4200" dirty="0">
                <a:latin typeface="+mj-lt"/>
              </a:rPr>
              <a:t>. </a:t>
            </a:r>
            <a:r>
              <a:rPr lang="en-US" sz="4200" dirty="0" err="1">
                <a:latin typeface="+mj-lt"/>
              </a:rPr>
              <a:t>Tekrarlı</a:t>
            </a:r>
            <a:r>
              <a:rPr lang="en-US" sz="4200" dirty="0">
                <a:latin typeface="+mj-lt"/>
              </a:rPr>
              <a:t> </a:t>
            </a:r>
            <a:r>
              <a:rPr lang="en-US" sz="4200" dirty="0" err="1">
                <a:latin typeface="+mj-lt"/>
              </a:rPr>
              <a:t>seçim</a:t>
            </a:r>
            <a:r>
              <a:rPr lang="en-US" sz="4200" dirty="0">
                <a:latin typeface="+mj-lt"/>
              </a:rPr>
              <a:t> </a:t>
            </a:r>
            <a:r>
              <a:rPr lang="en-US" sz="4200" dirty="0" err="1">
                <a:latin typeface="+mj-lt"/>
              </a:rPr>
              <a:t>yapılması</a:t>
            </a:r>
            <a:r>
              <a:rPr lang="en-US" sz="4200" dirty="0">
                <a:latin typeface="+mj-lt"/>
              </a:rPr>
              <a:t>, </a:t>
            </a:r>
            <a:r>
              <a:rPr lang="en-US" sz="4200" dirty="0" err="1">
                <a:latin typeface="+mj-lt"/>
              </a:rPr>
              <a:t>bir</a:t>
            </a:r>
            <a:r>
              <a:rPr lang="en-US" sz="4200" dirty="0">
                <a:latin typeface="+mj-lt"/>
              </a:rPr>
              <a:t> </a:t>
            </a:r>
            <a:r>
              <a:rPr lang="en-US" sz="4200" dirty="0" err="1">
                <a:latin typeface="+mj-lt"/>
              </a:rPr>
              <a:t>veri</a:t>
            </a:r>
            <a:r>
              <a:rPr lang="en-US" sz="4200" dirty="0">
                <a:latin typeface="+mj-lt"/>
              </a:rPr>
              <a:t> </a:t>
            </a:r>
            <a:r>
              <a:rPr lang="en-US" sz="4200" dirty="0" err="1">
                <a:latin typeface="+mj-lt"/>
              </a:rPr>
              <a:t>noktasının</a:t>
            </a:r>
            <a:r>
              <a:rPr lang="en-US" sz="4200" dirty="0">
                <a:latin typeface="+mj-lt"/>
              </a:rPr>
              <a:t> </a:t>
            </a:r>
            <a:r>
              <a:rPr lang="en-US" sz="4200" dirty="0" err="1">
                <a:latin typeface="+mj-lt"/>
              </a:rPr>
              <a:t>birden</a:t>
            </a:r>
            <a:r>
              <a:rPr lang="en-US" sz="4200" dirty="0">
                <a:latin typeface="+mj-lt"/>
              </a:rPr>
              <a:t> </a:t>
            </a:r>
            <a:r>
              <a:rPr lang="en-US" sz="4200" dirty="0" err="1">
                <a:latin typeface="+mj-lt"/>
              </a:rPr>
              <a:t>fazla</a:t>
            </a:r>
            <a:r>
              <a:rPr lang="en-US" sz="4200" dirty="0">
                <a:latin typeface="+mj-lt"/>
              </a:rPr>
              <a:t> </a:t>
            </a:r>
            <a:r>
              <a:rPr lang="en-US" sz="4200" dirty="0" err="1">
                <a:latin typeface="+mj-lt"/>
              </a:rPr>
              <a:t>kez</a:t>
            </a:r>
            <a:r>
              <a:rPr lang="en-US" sz="4200" dirty="0">
                <a:latin typeface="+mj-lt"/>
              </a:rPr>
              <a:t> </a:t>
            </a:r>
            <a:r>
              <a:rPr lang="en-US" sz="4200" dirty="0" err="1">
                <a:latin typeface="+mj-lt"/>
              </a:rPr>
              <a:t>seçilebilmesine</a:t>
            </a:r>
            <a:r>
              <a:rPr lang="en-US" sz="4200" dirty="0">
                <a:latin typeface="+mj-lt"/>
              </a:rPr>
              <a:t> </a:t>
            </a:r>
            <a:r>
              <a:rPr lang="en-US" sz="4200" dirty="0" err="1">
                <a:latin typeface="+mj-lt"/>
              </a:rPr>
              <a:t>olanak</a:t>
            </a:r>
            <a:r>
              <a:rPr lang="en-US" sz="4200" dirty="0">
                <a:latin typeface="+mj-lt"/>
              </a:rPr>
              <a:t> </a:t>
            </a:r>
            <a:r>
              <a:rPr lang="en-US" sz="4200" dirty="0" err="1">
                <a:latin typeface="+mj-lt"/>
              </a:rPr>
              <a:t>tanır</a:t>
            </a:r>
            <a:r>
              <a:rPr lang="en-US" sz="4200" dirty="0">
                <a:latin typeface="+mj-lt"/>
              </a:rPr>
              <a:t>, </a:t>
            </a:r>
            <a:r>
              <a:rPr lang="en-US" sz="4200" dirty="0" err="1">
                <a:latin typeface="+mj-lt"/>
              </a:rPr>
              <a:t>bu</a:t>
            </a:r>
            <a:r>
              <a:rPr lang="en-US" sz="4200" dirty="0">
                <a:latin typeface="+mj-lt"/>
              </a:rPr>
              <a:t> da bootstrap </a:t>
            </a:r>
            <a:r>
              <a:rPr lang="en-US" sz="4200" dirty="0" err="1">
                <a:latin typeface="+mj-lt"/>
              </a:rPr>
              <a:t>örneklemesinin</a:t>
            </a:r>
            <a:r>
              <a:rPr lang="en-US" sz="4200" dirty="0">
                <a:latin typeface="+mj-lt"/>
              </a:rPr>
              <a:t> </a:t>
            </a:r>
            <a:r>
              <a:rPr lang="en-US" sz="4200" dirty="0" err="1">
                <a:latin typeface="+mj-lt"/>
              </a:rPr>
              <a:t>temelidir</a:t>
            </a:r>
            <a:r>
              <a:rPr lang="en-US" sz="4200" dirty="0">
                <a:latin typeface="+mj-lt"/>
              </a:rPr>
              <a:t>.</a:t>
            </a:r>
            <a:endParaRPr lang="tr-TR" sz="4200" dirty="0">
              <a:latin typeface="+mj-lt"/>
            </a:endParaRPr>
          </a:p>
          <a:p>
            <a:pPr>
              <a:lnSpc>
                <a:spcPct val="120000"/>
              </a:lnSpc>
            </a:pPr>
            <a:r>
              <a:rPr lang="en-US" sz="4200" b="1" dirty="0" err="1">
                <a:latin typeface="+mj-lt"/>
              </a:rPr>
              <a:t>Bağımsız</a:t>
            </a:r>
            <a:r>
              <a:rPr lang="en-US" sz="4200" b="1" dirty="0">
                <a:latin typeface="+mj-lt"/>
              </a:rPr>
              <a:t> </a:t>
            </a:r>
            <a:r>
              <a:rPr lang="en-US" sz="4200" b="1" dirty="0" err="1">
                <a:latin typeface="+mj-lt"/>
              </a:rPr>
              <a:t>Modellerin</a:t>
            </a:r>
            <a:r>
              <a:rPr lang="en-US" sz="4200" b="1" dirty="0">
                <a:latin typeface="+mj-lt"/>
              </a:rPr>
              <a:t> </a:t>
            </a:r>
            <a:r>
              <a:rPr lang="en-US" sz="4200" b="1" dirty="0" err="1">
                <a:latin typeface="+mj-lt"/>
              </a:rPr>
              <a:t>Eğitilmesi</a:t>
            </a:r>
            <a:br>
              <a:rPr lang="en-US" sz="4200" dirty="0">
                <a:latin typeface="+mj-lt"/>
              </a:rPr>
            </a:br>
            <a:r>
              <a:rPr lang="en-US" sz="4200" dirty="0">
                <a:latin typeface="+mj-lt"/>
              </a:rPr>
              <a:t>Her bootstrap alt </a:t>
            </a:r>
            <a:r>
              <a:rPr lang="en-US" sz="4200" dirty="0" err="1">
                <a:latin typeface="+mj-lt"/>
              </a:rPr>
              <a:t>kümesi</a:t>
            </a:r>
            <a:r>
              <a:rPr lang="en-US" sz="4200" dirty="0">
                <a:latin typeface="+mj-lt"/>
              </a:rPr>
              <a:t> </a:t>
            </a:r>
            <a:r>
              <a:rPr lang="en-US" sz="4200" dirty="0" err="1">
                <a:latin typeface="+mj-lt"/>
              </a:rPr>
              <a:t>üzerinde</a:t>
            </a:r>
            <a:r>
              <a:rPr lang="en-US" sz="4200" dirty="0">
                <a:latin typeface="+mj-lt"/>
              </a:rPr>
              <a:t> </a:t>
            </a:r>
            <a:r>
              <a:rPr lang="en-US" sz="4200" dirty="0" err="1">
                <a:latin typeface="+mj-lt"/>
              </a:rPr>
              <a:t>bağımsız</a:t>
            </a:r>
            <a:r>
              <a:rPr lang="en-US" sz="4200" dirty="0">
                <a:latin typeface="+mj-lt"/>
              </a:rPr>
              <a:t> </a:t>
            </a:r>
            <a:r>
              <a:rPr lang="en-US" sz="4200" dirty="0" err="1">
                <a:latin typeface="+mj-lt"/>
              </a:rPr>
              <a:t>bir</a:t>
            </a:r>
            <a:r>
              <a:rPr lang="en-US" sz="4200" dirty="0">
                <a:latin typeface="+mj-lt"/>
              </a:rPr>
              <a:t> model (</a:t>
            </a:r>
            <a:r>
              <a:rPr lang="en-US" sz="4200" dirty="0" err="1">
                <a:latin typeface="+mj-lt"/>
              </a:rPr>
              <a:t>genellikle</a:t>
            </a:r>
            <a:r>
              <a:rPr lang="en-US" sz="4200" dirty="0">
                <a:latin typeface="+mj-lt"/>
              </a:rPr>
              <a:t> </a:t>
            </a:r>
            <a:r>
              <a:rPr lang="en-US" sz="4200" dirty="0" err="1">
                <a:latin typeface="+mj-lt"/>
              </a:rPr>
              <a:t>karar</a:t>
            </a:r>
            <a:r>
              <a:rPr lang="en-US" sz="4200" dirty="0">
                <a:latin typeface="+mj-lt"/>
              </a:rPr>
              <a:t> </a:t>
            </a:r>
            <a:r>
              <a:rPr lang="en-US" sz="4200" dirty="0" err="1">
                <a:latin typeface="+mj-lt"/>
              </a:rPr>
              <a:t>ağacı</a:t>
            </a:r>
            <a:r>
              <a:rPr lang="en-US" sz="4200" dirty="0">
                <a:latin typeface="+mj-lt"/>
              </a:rPr>
              <a:t>) </a:t>
            </a:r>
            <a:r>
              <a:rPr lang="en-US" sz="4200" dirty="0" err="1">
                <a:latin typeface="+mj-lt"/>
              </a:rPr>
              <a:t>eğitilir</a:t>
            </a:r>
            <a:r>
              <a:rPr lang="en-US" sz="4200" dirty="0">
                <a:latin typeface="+mj-lt"/>
              </a:rPr>
              <a:t>. Her </a:t>
            </a:r>
            <a:r>
              <a:rPr lang="en-US" sz="4200" dirty="0" err="1">
                <a:latin typeface="+mj-lt"/>
              </a:rPr>
              <a:t>bir</a:t>
            </a:r>
            <a:r>
              <a:rPr lang="en-US" sz="4200" dirty="0">
                <a:latin typeface="+mj-lt"/>
              </a:rPr>
              <a:t> model, </a:t>
            </a:r>
            <a:r>
              <a:rPr lang="en-US" sz="4200" dirty="0" err="1">
                <a:latin typeface="+mj-lt"/>
              </a:rPr>
              <a:t>farklı</a:t>
            </a:r>
            <a:r>
              <a:rPr lang="en-US" sz="4200" dirty="0">
                <a:latin typeface="+mj-lt"/>
              </a:rPr>
              <a:t> </a:t>
            </a:r>
            <a:r>
              <a:rPr lang="en-US" sz="4200" dirty="0" err="1">
                <a:latin typeface="+mj-lt"/>
              </a:rPr>
              <a:t>bir</a:t>
            </a:r>
            <a:r>
              <a:rPr lang="en-US" sz="4200" dirty="0">
                <a:latin typeface="+mj-lt"/>
              </a:rPr>
              <a:t> </a:t>
            </a:r>
            <a:r>
              <a:rPr lang="en-US" sz="4200" dirty="0" err="1">
                <a:latin typeface="+mj-lt"/>
              </a:rPr>
              <a:t>veri</a:t>
            </a:r>
            <a:r>
              <a:rPr lang="en-US" sz="4200" dirty="0">
                <a:latin typeface="+mj-lt"/>
              </a:rPr>
              <a:t> </a:t>
            </a:r>
            <a:r>
              <a:rPr lang="en-US" sz="4200" dirty="0" err="1">
                <a:latin typeface="+mj-lt"/>
              </a:rPr>
              <a:t>setiyle</a:t>
            </a:r>
            <a:r>
              <a:rPr lang="en-US" sz="4200" dirty="0">
                <a:latin typeface="+mj-lt"/>
              </a:rPr>
              <a:t> </a:t>
            </a:r>
            <a:r>
              <a:rPr lang="en-US" sz="4200" dirty="0" err="1">
                <a:latin typeface="+mj-lt"/>
              </a:rPr>
              <a:t>eğitildiği</a:t>
            </a:r>
            <a:r>
              <a:rPr lang="en-US" sz="4200" dirty="0">
                <a:latin typeface="+mj-lt"/>
              </a:rPr>
              <a:t> </a:t>
            </a:r>
            <a:r>
              <a:rPr lang="en-US" sz="4200" dirty="0" err="1">
                <a:latin typeface="+mj-lt"/>
              </a:rPr>
              <a:t>için</a:t>
            </a:r>
            <a:r>
              <a:rPr lang="en-US" sz="4200" dirty="0">
                <a:latin typeface="+mj-lt"/>
              </a:rPr>
              <a:t> </a:t>
            </a:r>
            <a:r>
              <a:rPr lang="en-US" sz="4200" dirty="0" err="1">
                <a:latin typeface="+mj-lt"/>
              </a:rPr>
              <a:t>farklı</a:t>
            </a:r>
            <a:r>
              <a:rPr lang="en-US" sz="4200" dirty="0">
                <a:latin typeface="+mj-lt"/>
              </a:rPr>
              <a:t> </a:t>
            </a:r>
            <a:r>
              <a:rPr lang="en-US" sz="4200" dirty="0" err="1">
                <a:latin typeface="+mj-lt"/>
              </a:rPr>
              <a:t>kararlar</a:t>
            </a:r>
            <a:r>
              <a:rPr lang="en-US" sz="4200" dirty="0">
                <a:latin typeface="+mj-lt"/>
              </a:rPr>
              <a:t> </a:t>
            </a:r>
            <a:r>
              <a:rPr lang="en-US" sz="4200" dirty="0" err="1">
                <a:latin typeface="+mj-lt"/>
              </a:rPr>
              <a:t>verebilir</a:t>
            </a:r>
            <a:r>
              <a:rPr lang="en-US" sz="4200" dirty="0">
                <a:latin typeface="+mj-lt"/>
              </a:rPr>
              <a:t>. Bu </a:t>
            </a:r>
            <a:r>
              <a:rPr lang="en-US" sz="4200" dirty="0" err="1">
                <a:latin typeface="+mj-lt"/>
              </a:rPr>
              <a:t>sayede</a:t>
            </a:r>
            <a:r>
              <a:rPr lang="en-US" sz="4200" dirty="0">
                <a:latin typeface="+mj-lt"/>
              </a:rPr>
              <a:t>, </a:t>
            </a:r>
            <a:r>
              <a:rPr lang="en-US" sz="4200" dirty="0" err="1">
                <a:latin typeface="+mj-lt"/>
              </a:rPr>
              <a:t>aşırı</a:t>
            </a:r>
            <a:r>
              <a:rPr lang="en-US" sz="4200" dirty="0">
                <a:latin typeface="+mj-lt"/>
              </a:rPr>
              <a:t> </a:t>
            </a:r>
            <a:r>
              <a:rPr lang="en-US" sz="4200" dirty="0" err="1">
                <a:latin typeface="+mj-lt"/>
              </a:rPr>
              <a:t>uyum</a:t>
            </a:r>
            <a:r>
              <a:rPr lang="en-US" sz="4200" dirty="0">
                <a:latin typeface="+mj-lt"/>
              </a:rPr>
              <a:t> (overfitting) </a:t>
            </a:r>
            <a:r>
              <a:rPr lang="en-US" sz="4200" dirty="0" err="1">
                <a:latin typeface="+mj-lt"/>
              </a:rPr>
              <a:t>riski</a:t>
            </a:r>
            <a:r>
              <a:rPr lang="en-US" sz="4200" dirty="0">
                <a:latin typeface="+mj-lt"/>
              </a:rPr>
              <a:t> </a:t>
            </a:r>
            <a:r>
              <a:rPr lang="en-US" sz="4200" dirty="0" err="1">
                <a:latin typeface="+mj-lt"/>
              </a:rPr>
              <a:t>azalır</a:t>
            </a:r>
            <a:r>
              <a:rPr lang="en-US" sz="4200" dirty="0">
                <a:latin typeface="+mj-lt"/>
              </a:rPr>
              <a:t>.</a:t>
            </a:r>
            <a:endParaRPr lang="tr-TR" sz="4200" dirty="0">
              <a:latin typeface="+mj-lt"/>
            </a:endParaRPr>
          </a:p>
          <a:p>
            <a:pPr>
              <a:lnSpc>
                <a:spcPct val="120000"/>
              </a:lnSpc>
            </a:pPr>
            <a:r>
              <a:rPr lang="en-US" sz="4200" b="1" dirty="0" err="1">
                <a:latin typeface="+mj-lt"/>
              </a:rPr>
              <a:t>Tahminlerin</a:t>
            </a:r>
            <a:r>
              <a:rPr lang="en-US" sz="4200" b="1" dirty="0">
                <a:latin typeface="+mj-lt"/>
              </a:rPr>
              <a:t> </a:t>
            </a:r>
            <a:r>
              <a:rPr lang="en-US" sz="4200" b="1" dirty="0" err="1">
                <a:latin typeface="+mj-lt"/>
              </a:rPr>
              <a:t>Birleştirilmesi</a:t>
            </a:r>
            <a:r>
              <a:rPr lang="en-US" sz="4200" b="1" dirty="0">
                <a:latin typeface="+mj-lt"/>
              </a:rPr>
              <a:t> (Aggregation)</a:t>
            </a:r>
            <a:endParaRPr lang="en-US" sz="4200" dirty="0">
              <a:latin typeface="+mj-lt"/>
            </a:endParaRPr>
          </a:p>
          <a:p>
            <a:pPr>
              <a:lnSpc>
                <a:spcPct val="120000"/>
              </a:lnSpc>
              <a:buFont typeface="Arial" panose="020B0604020202020204" pitchFamily="34" charset="0"/>
              <a:buChar char="•"/>
            </a:pPr>
            <a:r>
              <a:rPr lang="en-US" sz="4200" b="1" dirty="0" err="1">
                <a:latin typeface="+mj-lt"/>
              </a:rPr>
              <a:t>Sınıflandırma</a:t>
            </a:r>
            <a:r>
              <a:rPr lang="en-US" sz="4200" b="1" dirty="0">
                <a:latin typeface="+mj-lt"/>
              </a:rPr>
              <a:t> (Classification)</a:t>
            </a:r>
            <a:r>
              <a:rPr lang="en-US" sz="4200" dirty="0">
                <a:latin typeface="+mj-lt"/>
              </a:rPr>
              <a:t>: </a:t>
            </a:r>
            <a:r>
              <a:rPr lang="en-US" sz="4200" dirty="0" err="1">
                <a:latin typeface="+mj-lt"/>
              </a:rPr>
              <a:t>Tüm</a:t>
            </a:r>
            <a:r>
              <a:rPr lang="en-US" sz="4200" dirty="0">
                <a:latin typeface="+mj-lt"/>
              </a:rPr>
              <a:t> </a:t>
            </a:r>
            <a:r>
              <a:rPr lang="en-US" sz="4200" dirty="0" err="1">
                <a:latin typeface="+mj-lt"/>
              </a:rPr>
              <a:t>modellerin</a:t>
            </a:r>
            <a:r>
              <a:rPr lang="en-US" sz="4200" dirty="0">
                <a:latin typeface="+mj-lt"/>
              </a:rPr>
              <a:t> </a:t>
            </a:r>
            <a:r>
              <a:rPr lang="en-US" sz="4200" dirty="0" err="1">
                <a:latin typeface="+mj-lt"/>
              </a:rPr>
              <a:t>tahminleri</a:t>
            </a:r>
            <a:r>
              <a:rPr lang="en-US" sz="4200" dirty="0">
                <a:latin typeface="+mj-lt"/>
              </a:rPr>
              <a:t> </a:t>
            </a:r>
            <a:r>
              <a:rPr lang="en-US" sz="4200" dirty="0" err="1">
                <a:latin typeface="+mj-lt"/>
              </a:rPr>
              <a:t>alınır</a:t>
            </a:r>
            <a:r>
              <a:rPr lang="en-US" sz="4200" dirty="0">
                <a:latin typeface="+mj-lt"/>
              </a:rPr>
              <a:t> </a:t>
            </a:r>
            <a:r>
              <a:rPr lang="en-US" sz="4200" dirty="0" err="1">
                <a:latin typeface="+mj-lt"/>
              </a:rPr>
              <a:t>ve</a:t>
            </a:r>
            <a:r>
              <a:rPr lang="en-US" sz="4200" dirty="0">
                <a:latin typeface="+mj-lt"/>
              </a:rPr>
              <a:t> </a:t>
            </a:r>
            <a:r>
              <a:rPr lang="en-US" sz="4200" dirty="0" err="1">
                <a:latin typeface="+mj-lt"/>
              </a:rPr>
              <a:t>çoğunluğun</a:t>
            </a:r>
            <a:r>
              <a:rPr lang="en-US" sz="4200" dirty="0">
                <a:latin typeface="+mj-lt"/>
              </a:rPr>
              <a:t> </a:t>
            </a:r>
            <a:r>
              <a:rPr lang="en-US" sz="4200" dirty="0" err="1">
                <a:latin typeface="+mj-lt"/>
              </a:rPr>
              <a:t>oyu</a:t>
            </a:r>
            <a:r>
              <a:rPr lang="en-US" sz="4200" dirty="0">
                <a:latin typeface="+mj-lt"/>
              </a:rPr>
              <a:t> (majority voting) </a:t>
            </a:r>
            <a:r>
              <a:rPr lang="en-US" sz="4200" dirty="0" err="1">
                <a:latin typeface="+mj-lt"/>
              </a:rPr>
              <a:t>alınarak</a:t>
            </a:r>
            <a:r>
              <a:rPr lang="en-US" sz="4200" dirty="0">
                <a:latin typeface="+mj-lt"/>
              </a:rPr>
              <a:t> </a:t>
            </a:r>
            <a:r>
              <a:rPr lang="en-US" sz="4200" dirty="0" err="1">
                <a:latin typeface="+mj-lt"/>
              </a:rPr>
              <a:t>nihai</a:t>
            </a:r>
            <a:r>
              <a:rPr lang="en-US" sz="4200" dirty="0">
                <a:latin typeface="+mj-lt"/>
              </a:rPr>
              <a:t> </a:t>
            </a:r>
            <a:r>
              <a:rPr lang="en-US" sz="4200" dirty="0" err="1">
                <a:latin typeface="+mj-lt"/>
              </a:rPr>
              <a:t>sınıf</a:t>
            </a:r>
            <a:r>
              <a:rPr lang="en-US" sz="4200" dirty="0">
                <a:latin typeface="+mj-lt"/>
              </a:rPr>
              <a:t> </a:t>
            </a:r>
            <a:r>
              <a:rPr lang="en-US" sz="4200" dirty="0" err="1">
                <a:latin typeface="+mj-lt"/>
              </a:rPr>
              <a:t>tahmini</a:t>
            </a:r>
            <a:r>
              <a:rPr lang="en-US" sz="4200" dirty="0">
                <a:latin typeface="+mj-lt"/>
              </a:rPr>
              <a:t> </a:t>
            </a:r>
            <a:r>
              <a:rPr lang="en-US" sz="4200" dirty="0" err="1">
                <a:latin typeface="+mj-lt"/>
              </a:rPr>
              <a:t>yapılır</a:t>
            </a:r>
            <a:r>
              <a:rPr lang="en-US" sz="4200" dirty="0">
                <a:latin typeface="+mj-lt"/>
              </a:rPr>
              <a:t>.</a:t>
            </a:r>
          </a:p>
          <a:p>
            <a:pPr>
              <a:lnSpc>
                <a:spcPct val="120000"/>
              </a:lnSpc>
              <a:buFont typeface="Arial" panose="020B0604020202020204" pitchFamily="34" charset="0"/>
              <a:buChar char="•"/>
            </a:pPr>
            <a:r>
              <a:rPr lang="en-US" sz="4200" b="1" dirty="0" err="1">
                <a:latin typeface="+mj-lt"/>
              </a:rPr>
              <a:t>Regresyon</a:t>
            </a:r>
            <a:r>
              <a:rPr lang="en-US" sz="4200" b="1" dirty="0">
                <a:latin typeface="+mj-lt"/>
              </a:rPr>
              <a:t> (Regression)</a:t>
            </a:r>
            <a:r>
              <a:rPr lang="en-US" sz="4200" dirty="0">
                <a:latin typeface="+mj-lt"/>
              </a:rPr>
              <a:t>: </a:t>
            </a:r>
            <a:r>
              <a:rPr lang="en-US" sz="4200" dirty="0" err="1">
                <a:latin typeface="+mj-lt"/>
              </a:rPr>
              <a:t>Tüm</a:t>
            </a:r>
            <a:r>
              <a:rPr lang="en-US" sz="4200" dirty="0">
                <a:latin typeface="+mj-lt"/>
              </a:rPr>
              <a:t> </a:t>
            </a:r>
            <a:r>
              <a:rPr lang="en-US" sz="4200" dirty="0" err="1">
                <a:latin typeface="+mj-lt"/>
              </a:rPr>
              <a:t>modellerin</a:t>
            </a:r>
            <a:r>
              <a:rPr lang="en-US" sz="4200" dirty="0">
                <a:latin typeface="+mj-lt"/>
              </a:rPr>
              <a:t> </a:t>
            </a:r>
            <a:r>
              <a:rPr lang="en-US" sz="4200" dirty="0" err="1">
                <a:latin typeface="+mj-lt"/>
              </a:rPr>
              <a:t>tahminlerinin</a:t>
            </a:r>
            <a:r>
              <a:rPr lang="en-US" sz="4200" dirty="0">
                <a:latin typeface="+mj-lt"/>
              </a:rPr>
              <a:t> </a:t>
            </a:r>
            <a:r>
              <a:rPr lang="en-US" sz="4200" dirty="0" err="1">
                <a:latin typeface="+mj-lt"/>
              </a:rPr>
              <a:t>ortalaması</a:t>
            </a:r>
            <a:r>
              <a:rPr lang="en-US" sz="4200" dirty="0">
                <a:latin typeface="+mj-lt"/>
              </a:rPr>
              <a:t> </a:t>
            </a:r>
            <a:r>
              <a:rPr lang="en-US" sz="4200" dirty="0" err="1">
                <a:latin typeface="+mj-lt"/>
              </a:rPr>
              <a:t>alınır</a:t>
            </a:r>
            <a:r>
              <a:rPr lang="en-US" sz="4200" dirty="0">
                <a:latin typeface="+mj-lt"/>
              </a:rPr>
              <a:t> </a:t>
            </a:r>
            <a:r>
              <a:rPr lang="en-US" sz="4200" dirty="0" err="1">
                <a:latin typeface="+mj-lt"/>
              </a:rPr>
              <a:t>ve</a:t>
            </a:r>
            <a:r>
              <a:rPr lang="en-US" sz="4200" dirty="0">
                <a:latin typeface="+mj-lt"/>
              </a:rPr>
              <a:t> </a:t>
            </a:r>
            <a:r>
              <a:rPr lang="en-US" sz="4200" dirty="0" err="1">
                <a:latin typeface="+mj-lt"/>
              </a:rPr>
              <a:t>sonuç</a:t>
            </a:r>
            <a:r>
              <a:rPr lang="en-US" sz="4200" dirty="0">
                <a:latin typeface="+mj-lt"/>
              </a:rPr>
              <a:t> </a:t>
            </a:r>
            <a:r>
              <a:rPr lang="en-US" sz="4200" dirty="0" err="1">
                <a:latin typeface="+mj-lt"/>
              </a:rPr>
              <a:t>elde</a:t>
            </a:r>
            <a:r>
              <a:rPr lang="en-US" sz="4200" dirty="0">
                <a:latin typeface="+mj-lt"/>
              </a:rPr>
              <a:t> </a:t>
            </a:r>
            <a:r>
              <a:rPr lang="en-US" sz="4200" dirty="0" err="1">
                <a:latin typeface="+mj-lt"/>
              </a:rPr>
              <a:t>edilir</a:t>
            </a:r>
            <a:r>
              <a:rPr lang="en-US" sz="4200" dirty="0">
                <a:latin typeface="+mj-lt"/>
              </a:rPr>
              <a:t>.</a:t>
            </a:r>
          </a:p>
          <a:p>
            <a:endParaRPr lang="en-US" dirty="0"/>
          </a:p>
        </p:txBody>
      </p:sp>
      <p:sp>
        <p:nvSpPr>
          <p:cNvPr id="4" name="Slide Number Placeholder 3">
            <a:extLst>
              <a:ext uri="{FF2B5EF4-FFF2-40B4-BE49-F238E27FC236}">
                <a16:creationId xmlns:a16="http://schemas.microsoft.com/office/drawing/2014/main" id="{48ED5CBE-699F-028A-527E-CAD48ED16DC5}"/>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843347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B24D6-41DA-B5D1-70C2-BFBDB3B96FAE}"/>
              </a:ext>
            </a:extLst>
          </p:cNvPr>
          <p:cNvSpPr>
            <a:spLocks noGrp="1"/>
          </p:cNvSpPr>
          <p:nvPr>
            <p:ph type="title"/>
          </p:nvPr>
        </p:nvSpPr>
        <p:spPr>
          <a:xfrm>
            <a:off x="722376" y="291830"/>
            <a:ext cx="7534656" cy="914400"/>
          </a:xfrm>
        </p:spPr>
        <p:txBody>
          <a:bodyPr/>
          <a:lstStyle/>
          <a:p>
            <a:r>
              <a:rPr lang="en-US" b="1" dirty="0" err="1"/>
              <a:t>Bagging’in</a:t>
            </a:r>
            <a:r>
              <a:rPr lang="en-US" b="1" dirty="0"/>
              <a:t> </a:t>
            </a:r>
            <a:r>
              <a:rPr lang="en-US" b="1" dirty="0" err="1"/>
              <a:t>Önemli</a:t>
            </a:r>
            <a:r>
              <a:rPr lang="en-US" b="1" dirty="0"/>
              <a:t> </a:t>
            </a:r>
            <a:r>
              <a:rPr lang="en-US" b="1" dirty="0" err="1"/>
              <a:t>Özellikleri</a:t>
            </a:r>
            <a:endParaRPr lang="en-US" b="1" dirty="0"/>
          </a:p>
        </p:txBody>
      </p:sp>
      <p:sp>
        <p:nvSpPr>
          <p:cNvPr id="3" name="Content Placeholder 2">
            <a:extLst>
              <a:ext uri="{FF2B5EF4-FFF2-40B4-BE49-F238E27FC236}">
                <a16:creationId xmlns:a16="http://schemas.microsoft.com/office/drawing/2014/main" id="{C4B590D0-BF80-2539-90A0-FDDE609E364F}"/>
              </a:ext>
            </a:extLst>
          </p:cNvPr>
          <p:cNvSpPr>
            <a:spLocks noGrp="1"/>
          </p:cNvSpPr>
          <p:nvPr>
            <p:ph sz="quarter" idx="10"/>
          </p:nvPr>
        </p:nvSpPr>
        <p:spPr>
          <a:xfrm>
            <a:off x="876300" y="1698642"/>
            <a:ext cx="10439400" cy="4001765"/>
          </a:xfrm>
        </p:spPr>
        <p:txBody>
          <a:bodyPr/>
          <a:lstStyle/>
          <a:p>
            <a:pPr>
              <a:buFont typeface="Arial" panose="020B0604020202020204" pitchFamily="34" charset="0"/>
              <a:buChar char="•"/>
            </a:pPr>
            <a:r>
              <a:rPr lang="en-US" sz="2400" b="1" dirty="0" err="1">
                <a:latin typeface="+mj-lt"/>
              </a:rPr>
              <a:t>Varyans</a:t>
            </a:r>
            <a:r>
              <a:rPr lang="en-US" sz="2400" b="1" dirty="0">
                <a:latin typeface="+mj-lt"/>
              </a:rPr>
              <a:t> </a:t>
            </a:r>
            <a:r>
              <a:rPr lang="en-US" sz="2400" b="1" dirty="0" err="1">
                <a:latin typeface="+mj-lt"/>
              </a:rPr>
              <a:t>Azaltma</a:t>
            </a:r>
            <a:r>
              <a:rPr lang="en-US" sz="2400" dirty="0">
                <a:latin typeface="+mj-lt"/>
              </a:rPr>
              <a:t>: </a:t>
            </a:r>
            <a:r>
              <a:rPr lang="en-US" sz="2400" dirty="0" err="1">
                <a:latin typeface="+mj-lt"/>
              </a:rPr>
              <a:t>Farklı</a:t>
            </a:r>
            <a:r>
              <a:rPr lang="en-US" sz="2400" dirty="0">
                <a:latin typeface="+mj-lt"/>
              </a:rPr>
              <a:t> bootstrap </a:t>
            </a:r>
            <a:r>
              <a:rPr lang="en-US" sz="2400" dirty="0" err="1">
                <a:latin typeface="+mj-lt"/>
              </a:rPr>
              <a:t>örnekleri</a:t>
            </a:r>
            <a:r>
              <a:rPr lang="en-US" sz="2400" dirty="0">
                <a:latin typeface="+mj-lt"/>
              </a:rPr>
              <a:t> </a:t>
            </a:r>
            <a:r>
              <a:rPr lang="en-US" sz="2400" dirty="0" err="1">
                <a:latin typeface="+mj-lt"/>
              </a:rPr>
              <a:t>ile</a:t>
            </a:r>
            <a:r>
              <a:rPr lang="en-US" sz="2400" dirty="0">
                <a:latin typeface="+mj-lt"/>
              </a:rPr>
              <a:t> </a:t>
            </a:r>
            <a:r>
              <a:rPr lang="en-US" sz="2400" dirty="0" err="1">
                <a:latin typeface="+mj-lt"/>
              </a:rPr>
              <a:t>eğitilen</a:t>
            </a:r>
            <a:r>
              <a:rPr lang="en-US" sz="2400" dirty="0">
                <a:latin typeface="+mj-lt"/>
              </a:rPr>
              <a:t> </a:t>
            </a:r>
            <a:r>
              <a:rPr lang="en-US" sz="2400" dirty="0" err="1">
                <a:latin typeface="+mj-lt"/>
              </a:rPr>
              <a:t>modellerin</a:t>
            </a:r>
            <a:r>
              <a:rPr lang="en-US" sz="2400" dirty="0">
                <a:latin typeface="+mj-lt"/>
              </a:rPr>
              <a:t> </a:t>
            </a:r>
            <a:r>
              <a:rPr lang="en-US" sz="2400" dirty="0" err="1">
                <a:latin typeface="+mj-lt"/>
              </a:rPr>
              <a:t>tahminlerinin</a:t>
            </a:r>
            <a:r>
              <a:rPr lang="en-US" sz="2400" dirty="0">
                <a:latin typeface="+mj-lt"/>
              </a:rPr>
              <a:t> </a:t>
            </a:r>
            <a:r>
              <a:rPr lang="en-US" sz="2400" dirty="0" err="1">
                <a:latin typeface="+mj-lt"/>
              </a:rPr>
              <a:t>ortalaması</a:t>
            </a:r>
            <a:r>
              <a:rPr lang="en-US" sz="2400" dirty="0">
                <a:latin typeface="+mj-lt"/>
              </a:rPr>
              <a:t>, </a:t>
            </a:r>
            <a:r>
              <a:rPr lang="en-US" sz="2400" dirty="0" err="1">
                <a:latin typeface="+mj-lt"/>
              </a:rPr>
              <a:t>bireysel</a:t>
            </a:r>
            <a:r>
              <a:rPr lang="en-US" sz="2400" dirty="0">
                <a:latin typeface="+mj-lt"/>
              </a:rPr>
              <a:t> </a:t>
            </a:r>
            <a:r>
              <a:rPr lang="en-US" sz="2400" dirty="0" err="1">
                <a:latin typeface="+mj-lt"/>
              </a:rPr>
              <a:t>modellerden</a:t>
            </a:r>
            <a:r>
              <a:rPr lang="en-US" sz="2400" dirty="0">
                <a:latin typeface="+mj-lt"/>
              </a:rPr>
              <a:t> </a:t>
            </a:r>
            <a:r>
              <a:rPr lang="en-US" sz="2400" dirty="0" err="1">
                <a:latin typeface="+mj-lt"/>
              </a:rPr>
              <a:t>daha</a:t>
            </a:r>
            <a:r>
              <a:rPr lang="en-US" sz="2400" dirty="0">
                <a:latin typeface="+mj-lt"/>
              </a:rPr>
              <a:t> </a:t>
            </a:r>
            <a:r>
              <a:rPr lang="en-US" sz="2400" dirty="0" err="1">
                <a:latin typeface="+mj-lt"/>
              </a:rPr>
              <a:t>az</a:t>
            </a:r>
            <a:r>
              <a:rPr lang="en-US" sz="2400" dirty="0">
                <a:latin typeface="+mj-lt"/>
              </a:rPr>
              <a:t> </a:t>
            </a:r>
            <a:r>
              <a:rPr lang="en-US" sz="2400" dirty="0" err="1">
                <a:latin typeface="+mj-lt"/>
              </a:rPr>
              <a:t>varyans</a:t>
            </a:r>
            <a:r>
              <a:rPr lang="en-US" sz="2400" dirty="0">
                <a:latin typeface="+mj-lt"/>
              </a:rPr>
              <a:t> </a:t>
            </a:r>
            <a:r>
              <a:rPr lang="en-US" sz="2400" dirty="0" err="1">
                <a:latin typeface="+mj-lt"/>
              </a:rPr>
              <a:t>gösterir</a:t>
            </a:r>
            <a:r>
              <a:rPr lang="en-US" sz="2400" dirty="0">
                <a:latin typeface="+mj-lt"/>
              </a:rPr>
              <a:t>. Bu, </a:t>
            </a:r>
            <a:r>
              <a:rPr lang="en-US" sz="2400" dirty="0" err="1">
                <a:latin typeface="+mj-lt"/>
              </a:rPr>
              <a:t>daha</a:t>
            </a:r>
            <a:r>
              <a:rPr lang="en-US" sz="2400" dirty="0">
                <a:latin typeface="+mj-lt"/>
              </a:rPr>
              <a:t> </a:t>
            </a:r>
            <a:r>
              <a:rPr lang="en-US" sz="2400" dirty="0" err="1">
                <a:latin typeface="+mj-lt"/>
              </a:rPr>
              <a:t>stabil</a:t>
            </a:r>
            <a:r>
              <a:rPr lang="en-US" sz="2400" dirty="0">
                <a:latin typeface="+mj-lt"/>
              </a:rPr>
              <a:t> </a:t>
            </a:r>
            <a:r>
              <a:rPr lang="en-US" sz="2400" dirty="0" err="1">
                <a:latin typeface="+mj-lt"/>
              </a:rPr>
              <a:t>ve</a:t>
            </a:r>
            <a:r>
              <a:rPr lang="en-US" sz="2400" dirty="0">
                <a:latin typeface="+mj-lt"/>
              </a:rPr>
              <a:t> </a:t>
            </a:r>
            <a:r>
              <a:rPr lang="en-US" sz="2400" dirty="0" err="1">
                <a:latin typeface="+mj-lt"/>
              </a:rPr>
              <a:t>genellenebilir</a:t>
            </a:r>
            <a:r>
              <a:rPr lang="en-US" sz="2400" dirty="0">
                <a:latin typeface="+mj-lt"/>
              </a:rPr>
              <a:t> </a:t>
            </a:r>
            <a:r>
              <a:rPr lang="en-US" sz="2400" dirty="0" err="1">
                <a:latin typeface="+mj-lt"/>
              </a:rPr>
              <a:t>bir</a:t>
            </a:r>
            <a:r>
              <a:rPr lang="en-US" sz="2400" dirty="0">
                <a:latin typeface="+mj-lt"/>
              </a:rPr>
              <a:t> model </a:t>
            </a:r>
            <a:r>
              <a:rPr lang="en-US" sz="2400" dirty="0" err="1">
                <a:latin typeface="+mj-lt"/>
              </a:rPr>
              <a:t>elde</a:t>
            </a:r>
            <a:r>
              <a:rPr lang="en-US" sz="2400" dirty="0">
                <a:latin typeface="+mj-lt"/>
              </a:rPr>
              <a:t> </a:t>
            </a:r>
            <a:r>
              <a:rPr lang="en-US" sz="2400" dirty="0" err="1">
                <a:latin typeface="+mj-lt"/>
              </a:rPr>
              <a:t>edilmesini</a:t>
            </a:r>
            <a:r>
              <a:rPr lang="en-US" sz="2400" dirty="0">
                <a:latin typeface="+mj-lt"/>
              </a:rPr>
              <a:t> </a:t>
            </a:r>
            <a:r>
              <a:rPr lang="en-US" sz="2400" dirty="0" err="1">
                <a:latin typeface="+mj-lt"/>
              </a:rPr>
              <a:t>sağlar</a:t>
            </a:r>
            <a:r>
              <a:rPr lang="en-US" sz="2400" dirty="0">
                <a:latin typeface="+mj-lt"/>
              </a:rPr>
              <a:t>.</a:t>
            </a:r>
          </a:p>
          <a:p>
            <a:pPr>
              <a:buFont typeface="Arial" panose="020B0604020202020204" pitchFamily="34" charset="0"/>
              <a:buChar char="•"/>
            </a:pPr>
            <a:r>
              <a:rPr lang="en-US" sz="2400" b="1" dirty="0" err="1">
                <a:latin typeface="+mj-lt"/>
              </a:rPr>
              <a:t>Overfitting’e</a:t>
            </a:r>
            <a:r>
              <a:rPr lang="en-US" sz="2400" b="1" dirty="0">
                <a:latin typeface="+mj-lt"/>
              </a:rPr>
              <a:t> </a:t>
            </a:r>
            <a:r>
              <a:rPr lang="en-US" sz="2400" b="1" dirty="0" err="1">
                <a:latin typeface="+mj-lt"/>
              </a:rPr>
              <a:t>Karşı</a:t>
            </a:r>
            <a:r>
              <a:rPr lang="en-US" sz="2400" b="1" dirty="0">
                <a:latin typeface="+mj-lt"/>
              </a:rPr>
              <a:t> </a:t>
            </a:r>
            <a:r>
              <a:rPr lang="en-US" sz="2400" b="1" dirty="0" err="1">
                <a:latin typeface="+mj-lt"/>
              </a:rPr>
              <a:t>Dayanıklılık</a:t>
            </a:r>
            <a:r>
              <a:rPr lang="en-US" sz="2400" dirty="0">
                <a:latin typeface="+mj-lt"/>
              </a:rPr>
              <a:t>: </a:t>
            </a:r>
            <a:r>
              <a:rPr lang="en-US" sz="2400" dirty="0" err="1">
                <a:latin typeface="+mj-lt"/>
              </a:rPr>
              <a:t>Bireysel</a:t>
            </a:r>
            <a:r>
              <a:rPr lang="en-US" sz="2400" dirty="0">
                <a:latin typeface="+mj-lt"/>
              </a:rPr>
              <a:t> </a:t>
            </a:r>
            <a:r>
              <a:rPr lang="en-US" sz="2400" dirty="0" err="1">
                <a:latin typeface="+mj-lt"/>
              </a:rPr>
              <a:t>modeller</a:t>
            </a:r>
            <a:r>
              <a:rPr lang="en-US" sz="2400" dirty="0">
                <a:latin typeface="+mj-lt"/>
              </a:rPr>
              <a:t> </a:t>
            </a:r>
            <a:r>
              <a:rPr lang="en-US" sz="2400" dirty="0" err="1">
                <a:latin typeface="+mj-lt"/>
              </a:rPr>
              <a:t>aşırı</a:t>
            </a:r>
            <a:r>
              <a:rPr lang="en-US" sz="2400" dirty="0">
                <a:latin typeface="+mj-lt"/>
              </a:rPr>
              <a:t> </a:t>
            </a:r>
            <a:r>
              <a:rPr lang="en-US" sz="2400" dirty="0" err="1">
                <a:latin typeface="+mj-lt"/>
              </a:rPr>
              <a:t>uyuma</a:t>
            </a:r>
            <a:r>
              <a:rPr lang="en-US" sz="2400" dirty="0">
                <a:latin typeface="+mj-lt"/>
              </a:rPr>
              <a:t> </a:t>
            </a:r>
            <a:r>
              <a:rPr lang="en-US" sz="2400" dirty="0" err="1">
                <a:latin typeface="+mj-lt"/>
              </a:rPr>
              <a:t>meyilli</a:t>
            </a:r>
            <a:r>
              <a:rPr lang="en-US" sz="2400" dirty="0">
                <a:latin typeface="+mj-lt"/>
              </a:rPr>
              <a:t> </a:t>
            </a:r>
            <a:r>
              <a:rPr lang="en-US" sz="2400" dirty="0" err="1">
                <a:latin typeface="+mj-lt"/>
              </a:rPr>
              <a:t>olsa</a:t>
            </a:r>
            <a:r>
              <a:rPr lang="en-US" sz="2400" dirty="0">
                <a:latin typeface="+mj-lt"/>
              </a:rPr>
              <a:t> da, bagging </a:t>
            </a:r>
            <a:r>
              <a:rPr lang="en-US" sz="2400" dirty="0" err="1">
                <a:latin typeface="+mj-lt"/>
              </a:rPr>
              <a:t>bu</a:t>
            </a:r>
            <a:r>
              <a:rPr lang="en-US" sz="2400" dirty="0">
                <a:latin typeface="+mj-lt"/>
              </a:rPr>
              <a:t> </a:t>
            </a:r>
            <a:r>
              <a:rPr lang="en-US" sz="2400" dirty="0" err="1">
                <a:latin typeface="+mj-lt"/>
              </a:rPr>
              <a:t>riski</a:t>
            </a:r>
            <a:r>
              <a:rPr lang="en-US" sz="2400" dirty="0">
                <a:latin typeface="+mj-lt"/>
              </a:rPr>
              <a:t> </a:t>
            </a:r>
            <a:r>
              <a:rPr lang="en-US" sz="2400" dirty="0" err="1">
                <a:latin typeface="+mj-lt"/>
              </a:rPr>
              <a:t>büyük</a:t>
            </a:r>
            <a:r>
              <a:rPr lang="en-US" sz="2400" dirty="0">
                <a:latin typeface="+mj-lt"/>
              </a:rPr>
              <a:t> </a:t>
            </a:r>
            <a:r>
              <a:rPr lang="en-US" sz="2400" dirty="0" err="1">
                <a:latin typeface="+mj-lt"/>
              </a:rPr>
              <a:t>ölçüde</a:t>
            </a:r>
            <a:r>
              <a:rPr lang="en-US" sz="2400" dirty="0">
                <a:latin typeface="+mj-lt"/>
              </a:rPr>
              <a:t> </a:t>
            </a:r>
            <a:r>
              <a:rPr lang="en-US" sz="2400" dirty="0" err="1">
                <a:latin typeface="+mj-lt"/>
              </a:rPr>
              <a:t>azaltır</a:t>
            </a:r>
            <a:r>
              <a:rPr lang="en-US" sz="2400" dirty="0">
                <a:latin typeface="+mj-lt"/>
              </a:rPr>
              <a:t>.</a:t>
            </a:r>
          </a:p>
          <a:p>
            <a:pPr>
              <a:buFont typeface="Arial" panose="020B0604020202020204" pitchFamily="34" charset="0"/>
              <a:buChar char="•"/>
            </a:pPr>
            <a:r>
              <a:rPr lang="en-US" sz="2400" b="1" dirty="0" err="1">
                <a:latin typeface="+mj-lt"/>
              </a:rPr>
              <a:t>Paralel</a:t>
            </a:r>
            <a:r>
              <a:rPr lang="en-US" sz="2400" b="1" dirty="0">
                <a:latin typeface="+mj-lt"/>
              </a:rPr>
              <a:t> </a:t>
            </a:r>
            <a:r>
              <a:rPr lang="en-US" sz="2400" b="1" dirty="0" err="1">
                <a:latin typeface="+mj-lt"/>
              </a:rPr>
              <a:t>Yapı</a:t>
            </a:r>
            <a:r>
              <a:rPr lang="en-US" sz="2400" dirty="0">
                <a:latin typeface="+mj-lt"/>
              </a:rPr>
              <a:t>: Her model </a:t>
            </a:r>
            <a:r>
              <a:rPr lang="en-US" sz="2400" dirty="0" err="1">
                <a:latin typeface="+mj-lt"/>
              </a:rPr>
              <a:t>bağımsız</a:t>
            </a:r>
            <a:r>
              <a:rPr lang="en-US" sz="2400" dirty="0">
                <a:latin typeface="+mj-lt"/>
              </a:rPr>
              <a:t> </a:t>
            </a:r>
            <a:r>
              <a:rPr lang="en-US" sz="2400" dirty="0" err="1">
                <a:latin typeface="+mj-lt"/>
              </a:rPr>
              <a:t>olarak</a:t>
            </a:r>
            <a:r>
              <a:rPr lang="en-US" sz="2400" dirty="0">
                <a:latin typeface="+mj-lt"/>
              </a:rPr>
              <a:t> </a:t>
            </a:r>
            <a:r>
              <a:rPr lang="en-US" sz="2400" dirty="0" err="1">
                <a:latin typeface="+mj-lt"/>
              </a:rPr>
              <a:t>eğitildiği</a:t>
            </a:r>
            <a:r>
              <a:rPr lang="en-US" sz="2400" dirty="0">
                <a:latin typeface="+mj-lt"/>
              </a:rPr>
              <a:t> </a:t>
            </a:r>
            <a:r>
              <a:rPr lang="en-US" sz="2400" dirty="0" err="1">
                <a:latin typeface="+mj-lt"/>
              </a:rPr>
              <a:t>için</a:t>
            </a:r>
            <a:r>
              <a:rPr lang="en-US" sz="2400" dirty="0">
                <a:latin typeface="+mj-lt"/>
              </a:rPr>
              <a:t>, bagging </a:t>
            </a:r>
            <a:r>
              <a:rPr lang="en-US" sz="2400" dirty="0" err="1">
                <a:latin typeface="+mj-lt"/>
              </a:rPr>
              <a:t>paralel</a:t>
            </a:r>
            <a:r>
              <a:rPr lang="en-US" sz="2400" dirty="0">
                <a:latin typeface="+mj-lt"/>
              </a:rPr>
              <a:t> </a:t>
            </a:r>
            <a:r>
              <a:rPr lang="en-US" sz="2400" dirty="0" err="1">
                <a:latin typeface="+mj-lt"/>
              </a:rPr>
              <a:t>olarak</a:t>
            </a:r>
            <a:r>
              <a:rPr lang="en-US" sz="2400" dirty="0">
                <a:latin typeface="+mj-lt"/>
              </a:rPr>
              <a:t> </a:t>
            </a:r>
            <a:r>
              <a:rPr lang="en-US" sz="2400" dirty="0" err="1">
                <a:latin typeface="+mj-lt"/>
              </a:rPr>
              <a:t>uygulanabilir</a:t>
            </a:r>
            <a:r>
              <a:rPr lang="en-US" sz="2400" dirty="0">
                <a:latin typeface="+mj-lt"/>
              </a:rPr>
              <a:t> </a:t>
            </a:r>
            <a:r>
              <a:rPr lang="en-US" sz="2400" dirty="0" err="1">
                <a:latin typeface="+mj-lt"/>
              </a:rPr>
              <a:t>ve</a:t>
            </a:r>
            <a:r>
              <a:rPr lang="en-US" sz="2400" dirty="0">
                <a:latin typeface="+mj-lt"/>
              </a:rPr>
              <a:t> </a:t>
            </a:r>
            <a:r>
              <a:rPr lang="en-US" sz="2400" dirty="0" err="1">
                <a:latin typeface="+mj-lt"/>
              </a:rPr>
              <a:t>büyük</a:t>
            </a:r>
            <a:r>
              <a:rPr lang="en-US" sz="2400" dirty="0">
                <a:latin typeface="+mj-lt"/>
              </a:rPr>
              <a:t> </a:t>
            </a:r>
            <a:r>
              <a:rPr lang="en-US" sz="2400" dirty="0" err="1">
                <a:latin typeface="+mj-lt"/>
              </a:rPr>
              <a:t>veri</a:t>
            </a:r>
            <a:r>
              <a:rPr lang="en-US" sz="2400" dirty="0">
                <a:latin typeface="+mj-lt"/>
              </a:rPr>
              <a:t> </a:t>
            </a:r>
            <a:r>
              <a:rPr lang="en-US" sz="2400" dirty="0" err="1">
                <a:latin typeface="+mj-lt"/>
              </a:rPr>
              <a:t>setlerinde</a:t>
            </a:r>
            <a:r>
              <a:rPr lang="en-US" sz="2400" dirty="0">
                <a:latin typeface="+mj-lt"/>
              </a:rPr>
              <a:t> </a:t>
            </a:r>
            <a:r>
              <a:rPr lang="en-US" sz="2400" dirty="0" err="1">
                <a:latin typeface="+mj-lt"/>
              </a:rPr>
              <a:t>performans</a:t>
            </a:r>
            <a:r>
              <a:rPr lang="en-US" sz="2400" dirty="0">
                <a:latin typeface="+mj-lt"/>
              </a:rPr>
              <a:t> </a:t>
            </a:r>
            <a:r>
              <a:rPr lang="en-US" sz="2400" dirty="0" err="1">
                <a:latin typeface="+mj-lt"/>
              </a:rPr>
              <a:t>iyileştirilebilir</a:t>
            </a:r>
            <a:r>
              <a:rPr lang="en-US" sz="2400" dirty="0">
                <a:latin typeface="+mj-lt"/>
              </a:rPr>
              <a:t>.</a:t>
            </a:r>
          </a:p>
          <a:p>
            <a:endParaRPr lang="en-US" dirty="0"/>
          </a:p>
        </p:txBody>
      </p:sp>
      <p:sp>
        <p:nvSpPr>
          <p:cNvPr id="4" name="Slide Number Placeholder 3">
            <a:extLst>
              <a:ext uri="{FF2B5EF4-FFF2-40B4-BE49-F238E27FC236}">
                <a16:creationId xmlns:a16="http://schemas.microsoft.com/office/drawing/2014/main" id="{9B3434CE-28A7-4031-0669-C6FEFA6EE8F2}"/>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3173724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3585-4892-BC36-6473-9A3A3B18DB8E}"/>
              </a:ext>
            </a:extLst>
          </p:cNvPr>
          <p:cNvSpPr>
            <a:spLocks noGrp="1"/>
          </p:cNvSpPr>
          <p:nvPr>
            <p:ph type="title"/>
          </p:nvPr>
        </p:nvSpPr>
        <p:spPr>
          <a:xfrm>
            <a:off x="515565" y="823436"/>
            <a:ext cx="9095362" cy="642026"/>
          </a:xfrm>
        </p:spPr>
        <p:txBody>
          <a:bodyPr/>
          <a:lstStyle/>
          <a:p>
            <a:r>
              <a:rPr lang="en-US" b="1" dirty="0"/>
              <a:t>Bagging </a:t>
            </a:r>
            <a:r>
              <a:rPr lang="en-US" b="1" dirty="0" err="1"/>
              <a:t>ve</a:t>
            </a:r>
            <a:r>
              <a:rPr lang="en-US" b="1" dirty="0"/>
              <a:t> Bootstrap </a:t>
            </a:r>
            <a:r>
              <a:rPr lang="en-US" b="1" dirty="0" err="1"/>
              <a:t>Örneklemenin</a:t>
            </a:r>
            <a:r>
              <a:rPr lang="en-US" b="1" dirty="0"/>
              <a:t> </a:t>
            </a:r>
            <a:r>
              <a:rPr lang="en-US" b="1" dirty="0" err="1"/>
              <a:t>Önemi</a:t>
            </a:r>
            <a:endParaRPr lang="en-US" b="1" dirty="0"/>
          </a:p>
        </p:txBody>
      </p:sp>
      <p:sp>
        <p:nvSpPr>
          <p:cNvPr id="4" name="Slide Number Placeholder 3">
            <a:extLst>
              <a:ext uri="{FF2B5EF4-FFF2-40B4-BE49-F238E27FC236}">
                <a16:creationId xmlns:a16="http://schemas.microsoft.com/office/drawing/2014/main" id="{744C1908-B7A5-4097-469A-81C6DEAA234B}"/>
              </a:ext>
            </a:extLst>
          </p:cNvPr>
          <p:cNvSpPr>
            <a:spLocks noGrp="1"/>
          </p:cNvSpPr>
          <p:nvPr>
            <p:ph type="sldNum" sz="quarter" idx="4"/>
          </p:nvPr>
        </p:nvSpPr>
        <p:spPr/>
        <p:txBody>
          <a:bodyPr/>
          <a:lstStyle/>
          <a:p>
            <a:fld id="{58FB4751-880F-D840-AAA9-3A15815CC996}" type="slidenum">
              <a:rPr lang="en-US" smtClean="0"/>
              <a:pPr/>
              <a:t>8</a:t>
            </a:fld>
            <a:endParaRPr lang="en-US" dirty="0"/>
          </a:p>
        </p:txBody>
      </p:sp>
      <p:sp>
        <p:nvSpPr>
          <p:cNvPr id="5" name="Rectangle 1">
            <a:extLst>
              <a:ext uri="{FF2B5EF4-FFF2-40B4-BE49-F238E27FC236}">
                <a16:creationId xmlns:a16="http://schemas.microsoft.com/office/drawing/2014/main" id="{48A69F70-2B8A-FF35-7437-38AAFBA4D8B0}"/>
              </a:ext>
            </a:extLst>
          </p:cNvPr>
          <p:cNvSpPr>
            <a:spLocks noGrp="1" noChangeArrowheads="1"/>
          </p:cNvSpPr>
          <p:nvPr>
            <p:ph sz="quarter" idx="10"/>
          </p:nvPr>
        </p:nvSpPr>
        <p:spPr bwMode="auto">
          <a:xfrm>
            <a:off x="914399" y="1753862"/>
            <a:ext cx="10885251" cy="3350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mj-lt"/>
              </a:rPr>
              <a:t>Genelleme</a:t>
            </a:r>
            <a:r>
              <a:rPr kumimoji="0" lang="en-US" altLang="en-US" sz="2400" b="0" i="0" u="none" strike="noStrike" cap="none" normalizeH="0" baseline="0" dirty="0">
                <a:ln>
                  <a:noFill/>
                </a:ln>
                <a:solidFill>
                  <a:schemeClr val="tx1"/>
                </a:solidFill>
                <a:effectLst/>
                <a:latin typeface="+mj-lt"/>
              </a:rPr>
              <a:t>: Bagging </a:t>
            </a:r>
            <a:r>
              <a:rPr kumimoji="0" lang="en-US" altLang="en-US" sz="2400" b="0" i="0" u="none" strike="noStrike" cap="none" normalizeH="0" baseline="0" dirty="0" err="1">
                <a:ln>
                  <a:noFill/>
                </a:ln>
                <a:solidFill>
                  <a:schemeClr val="tx1"/>
                </a:solidFill>
                <a:effectLst/>
                <a:latin typeface="+mj-lt"/>
              </a:rPr>
              <a:t>sayesinde</a:t>
            </a:r>
            <a:r>
              <a:rPr kumimoji="0" lang="en-US" altLang="en-US" sz="2400" b="0" i="0" u="none" strike="noStrike" cap="none" normalizeH="0" baseline="0" dirty="0">
                <a:ln>
                  <a:noFill/>
                </a:ln>
                <a:solidFill>
                  <a:schemeClr val="tx1"/>
                </a:solidFill>
                <a:effectLst/>
                <a:latin typeface="+mj-lt"/>
              </a:rPr>
              <a:t> model, </a:t>
            </a:r>
            <a:r>
              <a:rPr kumimoji="0" lang="en-US" altLang="en-US" sz="2400" b="0" i="0" u="none" strike="noStrike" cap="none" normalizeH="0" baseline="0" dirty="0" err="1">
                <a:ln>
                  <a:noFill/>
                </a:ln>
                <a:solidFill>
                  <a:schemeClr val="tx1"/>
                </a:solidFill>
                <a:effectLst/>
                <a:latin typeface="+mj-lt"/>
              </a:rPr>
              <a:t>yalnızca</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eğitim</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verisine</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değil</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genel</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verilere</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daha</a:t>
            </a:r>
            <a:r>
              <a:rPr kumimoji="0" lang="en-US" altLang="en-US" sz="2400" b="0" i="0" u="none" strike="noStrike" cap="none" normalizeH="0" baseline="0" dirty="0">
                <a:ln>
                  <a:noFill/>
                </a:ln>
                <a:solidFill>
                  <a:schemeClr val="tx1"/>
                </a:solidFill>
                <a:effectLst/>
                <a:latin typeface="+mj-lt"/>
              </a:rPr>
              <a:t> iyi </a:t>
            </a:r>
            <a:r>
              <a:rPr kumimoji="0" lang="en-US" altLang="en-US" sz="2400" b="0" i="0" u="none" strike="noStrike" cap="none" normalizeH="0" baseline="0" dirty="0" err="1">
                <a:ln>
                  <a:noFill/>
                </a:ln>
                <a:solidFill>
                  <a:schemeClr val="tx1"/>
                </a:solidFill>
                <a:effectLst/>
                <a:latin typeface="+mj-lt"/>
              </a:rPr>
              <a:t>uyum</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sağlar</a:t>
            </a:r>
            <a:r>
              <a:rPr kumimoji="0" lang="en-US" altLang="en-US" sz="24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mj-lt"/>
              </a:rPr>
              <a:t>Esneklik</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Farklı</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modellerle</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kullanılabilir</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örneğin</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karar</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ağaçları</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nöral</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ağlar</a:t>
            </a:r>
            <a:r>
              <a:rPr kumimoji="0" lang="en-US" altLang="en-US" sz="24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err="1">
                <a:ln>
                  <a:noFill/>
                </a:ln>
                <a:solidFill>
                  <a:schemeClr val="tx1"/>
                </a:solidFill>
                <a:effectLst/>
                <a:latin typeface="+mj-lt"/>
              </a:rPr>
              <a:t>Karar</a:t>
            </a:r>
            <a:r>
              <a:rPr kumimoji="0" lang="en-US" altLang="en-US" sz="2400" b="1" i="0" u="none" strike="noStrike" cap="none" normalizeH="0" baseline="0" dirty="0">
                <a:ln>
                  <a:noFill/>
                </a:ln>
                <a:solidFill>
                  <a:schemeClr val="tx1"/>
                </a:solidFill>
                <a:effectLst/>
                <a:latin typeface="+mj-lt"/>
              </a:rPr>
              <a:t> </a:t>
            </a:r>
            <a:r>
              <a:rPr kumimoji="0" lang="en-US" altLang="en-US" sz="2400" b="1" i="0" u="none" strike="noStrike" cap="none" normalizeH="0" baseline="0" dirty="0" err="1">
                <a:ln>
                  <a:noFill/>
                </a:ln>
                <a:solidFill>
                  <a:schemeClr val="tx1"/>
                </a:solidFill>
                <a:effectLst/>
                <a:latin typeface="+mj-lt"/>
              </a:rPr>
              <a:t>Ağaçlarının</a:t>
            </a:r>
            <a:r>
              <a:rPr kumimoji="0" lang="en-US" altLang="en-US" sz="2400" b="1" i="0" u="none" strike="noStrike" cap="none" normalizeH="0" baseline="0" dirty="0">
                <a:ln>
                  <a:noFill/>
                </a:ln>
                <a:solidFill>
                  <a:schemeClr val="tx1"/>
                </a:solidFill>
                <a:effectLst/>
                <a:latin typeface="+mj-lt"/>
              </a:rPr>
              <a:t> </a:t>
            </a:r>
            <a:r>
              <a:rPr kumimoji="0" lang="en-US" altLang="en-US" sz="2400" b="1" i="0" u="none" strike="noStrike" cap="none" normalizeH="0" baseline="0" dirty="0" err="1">
                <a:ln>
                  <a:noFill/>
                </a:ln>
                <a:solidFill>
                  <a:schemeClr val="tx1"/>
                </a:solidFill>
                <a:effectLst/>
                <a:latin typeface="+mj-lt"/>
              </a:rPr>
              <a:t>Güçlendirilmesi</a:t>
            </a:r>
            <a:r>
              <a:rPr kumimoji="0" lang="en-US" altLang="en-US" sz="2400" b="0" i="0" u="none" strike="noStrike" cap="none" normalizeH="0" baseline="0" dirty="0">
                <a:ln>
                  <a:noFill/>
                </a:ln>
                <a:solidFill>
                  <a:schemeClr val="tx1"/>
                </a:solidFill>
                <a:effectLst/>
                <a:latin typeface="+mj-lt"/>
              </a:rPr>
              <a:t>: Random Forest </a:t>
            </a:r>
            <a:r>
              <a:rPr kumimoji="0" lang="en-US" altLang="en-US" sz="2400" b="0" i="0" u="none" strike="noStrike" cap="none" normalizeH="0" baseline="0" dirty="0" err="1">
                <a:ln>
                  <a:noFill/>
                </a:ln>
                <a:solidFill>
                  <a:schemeClr val="tx1"/>
                </a:solidFill>
                <a:effectLst/>
                <a:latin typeface="+mj-lt"/>
              </a:rPr>
              <a:t>gibi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güçlü</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topluluk</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yöntemlerinin</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temelini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oluşturur</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163803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583658" y="946287"/>
            <a:ext cx="10770142" cy="2163237"/>
          </a:xfrm>
        </p:spPr>
        <p:txBody>
          <a:bodyPr>
            <a:normAutofit lnSpcReduction="10000"/>
          </a:bodyPr>
          <a:lstStyle/>
          <a:p>
            <a:pPr>
              <a:lnSpc>
                <a:spcPct val="150000"/>
              </a:lnSpc>
            </a:pPr>
            <a:r>
              <a:rPr lang="en-US" sz="2400" dirty="0">
                <a:latin typeface="+mj-lt"/>
              </a:rPr>
              <a:t>Her </a:t>
            </a:r>
            <a:r>
              <a:rPr lang="en-US" sz="2400" dirty="0" err="1">
                <a:latin typeface="+mj-lt"/>
              </a:rPr>
              <a:t>bir</a:t>
            </a:r>
            <a:r>
              <a:rPr lang="en-US" sz="2400" dirty="0">
                <a:latin typeface="+mj-lt"/>
              </a:rPr>
              <a:t> </a:t>
            </a:r>
            <a:r>
              <a:rPr lang="en-US" sz="2400" dirty="0" err="1">
                <a:latin typeface="+mj-lt"/>
              </a:rPr>
              <a:t>karar</a:t>
            </a:r>
            <a:r>
              <a:rPr lang="en-US" sz="2400" dirty="0">
                <a:latin typeface="+mj-lt"/>
              </a:rPr>
              <a:t> </a:t>
            </a:r>
            <a:r>
              <a:rPr lang="en-US" sz="2400" dirty="0" err="1">
                <a:latin typeface="+mj-lt"/>
              </a:rPr>
              <a:t>ağacı</a:t>
            </a:r>
            <a:r>
              <a:rPr lang="en-US" sz="2400" dirty="0">
                <a:latin typeface="+mj-lt"/>
              </a:rPr>
              <a:t>, bootstrap </a:t>
            </a:r>
            <a:r>
              <a:rPr lang="en-US" sz="2400" dirty="0" err="1">
                <a:latin typeface="+mj-lt"/>
              </a:rPr>
              <a:t>örneklemesi</a:t>
            </a:r>
            <a:r>
              <a:rPr lang="en-US" sz="2400" dirty="0">
                <a:latin typeface="+mj-lt"/>
              </a:rPr>
              <a:t> </a:t>
            </a:r>
            <a:r>
              <a:rPr lang="en-US" sz="2400" dirty="0" err="1">
                <a:latin typeface="+mj-lt"/>
              </a:rPr>
              <a:t>kullanılarak</a:t>
            </a:r>
            <a:r>
              <a:rPr lang="en-US" sz="2400" dirty="0">
                <a:latin typeface="+mj-lt"/>
              </a:rPr>
              <a:t> </a:t>
            </a:r>
            <a:r>
              <a:rPr lang="en-US" sz="2400" dirty="0" err="1">
                <a:latin typeface="+mj-lt"/>
              </a:rPr>
              <a:t>eğitim</a:t>
            </a:r>
            <a:r>
              <a:rPr lang="en-US" sz="2400" dirty="0">
                <a:latin typeface="+mj-lt"/>
              </a:rPr>
              <a:t> </a:t>
            </a:r>
            <a:r>
              <a:rPr lang="en-US" sz="2400" dirty="0" err="1">
                <a:latin typeface="+mj-lt"/>
              </a:rPr>
              <a:t>yapılır</a:t>
            </a:r>
            <a:r>
              <a:rPr lang="en-US" sz="2400" dirty="0">
                <a:latin typeface="+mj-lt"/>
              </a:rPr>
              <a:t>. Bu </a:t>
            </a:r>
            <a:r>
              <a:rPr lang="en-US" sz="2400" dirty="0" err="1">
                <a:latin typeface="+mj-lt"/>
              </a:rPr>
              <a:t>ağacın</a:t>
            </a:r>
            <a:r>
              <a:rPr lang="en-US" sz="2400" dirty="0">
                <a:latin typeface="+mj-lt"/>
              </a:rPr>
              <a:t> </a:t>
            </a:r>
            <a:r>
              <a:rPr lang="en-US" sz="2400" dirty="0" err="1">
                <a:latin typeface="+mj-lt"/>
              </a:rPr>
              <a:t>büyümesi</a:t>
            </a:r>
            <a:r>
              <a:rPr lang="en-US" sz="2400" dirty="0">
                <a:latin typeface="+mj-lt"/>
              </a:rPr>
              <a:t> </a:t>
            </a:r>
            <a:r>
              <a:rPr lang="en-US" sz="2400" dirty="0" err="1">
                <a:latin typeface="+mj-lt"/>
              </a:rPr>
              <a:t>sırasında</a:t>
            </a:r>
            <a:r>
              <a:rPr lang="en-US" sz="2400" dirty="0">
                <a:latin typeface="+mj-lt"/>
              </a:rPr>
              <a:t>, her </a:t>
            </a:r>
            <a:r>
              <a:rPr lang="en-US" sz="2400" dirty="0" err="1">
                <a:latin typeface="+mj-lt"/>
              </a:rPr>
              <a:t>düğümde</a:t>
            </a:r>
            <a:r>
              <a:rPr lang="en-US" sz="2400" dirty="0">
                <a:latin typeface="+mj-lt"/>
              </a:rPr>
              <a:t> </a:t>
            </a:r>
            <a:r>
              <a:rPr lang="en-US" sz="2400" dirty="0" err="1">
                <a:latin typeface="+mj-lt"/>
              </a:rPr>
              <a:t>veri</a:t>
            </a:r>
            <a:r>
              <a:rPr lang="en-US" sz="2400" dirty="0">
                <a:latin typeface="+mj-lt"/>
              </a:rPr>
              <a:t> </a:t>
            </a:r>
            <a:r>
              <a:rPr lang="en-US" sz="2400" dirty="0" err="1">
                <a:latin typeface="+mj-lt"/>
              </a:rPr>
              <a:t>setindeki</a:t>
            </a:r>
            <a:r>
              <a:rPr lang="en-US" sz="2400" dirty="0">
                <a:latin typeface="+mj-lt"/>
              </a:rPr>
              <a:t> </a:t>
            </a:r>
            <a:r>
              <a:rPr lang="en-US" sz="2400" dirty="0" err="1">
                <a:latin typeface="+mj-lt"/>
              </a:rPr>
              <a:t>en</a:t>
            </a:r>
            <a:r>
              <a:rPr lang="en-US" sz="2400" dirty="0">
                <a:latin typeface="+mj-lt"/>
              </a:rPr>
              <a:t> iyi </a:t>
            </a:r>
            <a:r>
              <a:rPr lang="en-US" sz="2400" dirty="0" err="1">
                <a:latin typeface="+mj-lt"/>
              </a:rPr>
              <a:t>bölme</a:t>
            </a:r>
            <a:r>
              <a:rPr lang="en-US" sz="2400" dirty="0">
                <a:latin typeface="+mj-lt"/>
              </a:rPr>
              <a:t> </a:t>
            </a:r>
            <a:r>
              <a:rPr lang="en-US" sz="2400" dirty="0" err="1">
                <a:latin typeface="+mj-lt"/>
              </a:rPr>
              <a:t>özelliği</a:t>
            </a:r>
            <a:r>
              <a:rPr lang="en-US" sz="2400" dirty="0">
                <a:latin typeface="+mj-lt"/>
              </a:rPr>
              <a:t> </a:t>
            </a:r>
            <a:r>
              <a:rPr lang="en-US" sz="2400" dirty="0" err="1">
                <a:latin typeface="+mj-lt"/>
              </a:rPr>
              <a:t>seçilir</a:t>
            </a:r>
            <a:r>
              <a:rPr lang="en-US" sz="2400" dirty="0">
                <a:latin typeface="+mj-lt"/>
              </a:rPr>
              <a:t>. </a:t>
            </a:r>
            <a:r>
              <a:rPr lang="en-US" sz="2400" dirty="0" err="1">
                <a:latin typeface="+mj-lt"/>
              </a:rPr>
              <a:t>Ağaçlar</a:t>
            </a:r>
            <a:r>
              <a:rPr lang="en-US" sz="2400" dirty="0">
                <a:latin typeface="+mj-lt"/>
              </a:rPr>
              <a:t>, </a:t>
            </a:r>
            <a:r>
              <a:rPr lang="en-US" sz="2400" dirty="0" err="1">
                <a:latin typeface="+mj-lt"/>
              </a:rPr>
              <a:t>genellikle</a:t>
            </a:r>
            <a:r>
              <a:rPr lang="en-US" sz="2400" dirty="0">
                <a:latin typeface="+mj-lt"/>
              </a:rPr>
              <a:t> </a:t>
            </a:r>
            <a:r>
              <a:rPr lang="en-US" sz="2400" dirty="0" err="1">
                <a:latin typeface="+mj-lt"/>
              </a:rPr>
              <a:t>verinin</a:t>
            </a:r>
            <a:r>
              <a:rPr lang="en-US" sz="2400" dirty="0">
                <a:latin typeface="+mj-lt"/>
              </a:rPr>
              <a:t> </a:t>
            </a:r>
            <a:r>
              <a:rPr lang="en-US" sz="2400" dirty="0" err="1">
                <a:latin typeface="+mj-lt"/>
              </a:rPr>
              <a:t>tamamen</a:t>
            </a:r>
            <a:r>
              <a:rPr lang="en-US" sz="2400" dirty="0">
                <a:latin typeface="+mj-lt"/>
              </a:rPr>
              <a:t> </a:t>
            </a:r>
            <a:r>
              <a:rPr lang="en-US" sz="2400" dirty="0" err="1">
                <a:latin typeface="+mj-lt"/>
              </a:rPr>
              <a:t>ayrılacağı</a:t>
            </a:r>
            <a:r>
              <a:rPr lang="en-US" sz="2400" dirty="0">
                <a:latin typeface="+mj-lt"/>
              </a:rPr>
              <a:t> </a:t>
            </a:r>
            <a:r>
              <a:rPr lang="en-US" sz="2400" dirty="0" err="1">
                <a:latin typeface="+mj-lt"/>
              </a:rPr>
              <a:t>veya</a:t>
            </a:r>
            <a:r>
              <a:rPr lang="en-US" sz="2400" dirty="0">
                <a:latin typeface="+mj-lt"/>
              </a:rPr>
              <a:t> </a:t>
            </a:r>
            <a:r>
              <a:rPr lang="en-US" sz="2400" dirty="0" err="1">
                <a:latin typeface="+mj-lt"/>
              </a:rPr>
              <a:t>belirli</a:t>
            </a:r>
            <a:r>
              <a:rPr lang="en-US" sz="2400" dirty="0">
                <a:latin typeface="+mj-lt"/>
              </a:rPr>
              <a:t> </a:t>
            </a:r>
            <a:r>
              <a:rPr lang="en-US" sz="2400" dirty="0" err="1">
                <a:latin typeface="+mj-lt"/>
              </a:rPr>
              <a:t>bir</a:t>
            </a:r>
            <a:r>
              <a:rPr lang="en-US" sz="2400" dirty="0">
                <a:latin typeface="+mj-lt"/>
              </a:rPr>
              <a:t> </a:t>
            </a:r>
            <a:r>
              <a:rPr lang="en-US" sz="2400" dirty="0" err="1">
                <a:latin typeface="+mj-lt"/>
              </a:rPr>
              <a:t>durma</a:t>
            </a:r>
            <a:r>
              <a:rPr lang="en-US" sz="2400" dirty="0">
                <a:latin typeface="+mj-lt"/>
              </a:rPr>
              <a:t> </a:t>
            </a:r>
            <a:r>
              <a:rPr lang="en-US" sz="2400" dirty="0" err="1">
                <a:latin typeface="+mj-lt"/>
              </a:rPr>
              <a:t>kriterine</a:t>
            </a:r>
            <a:r>
              <a:rPr lang="en-US" sz="2400" dirty="0">
                <a:latin typeface="+mj-lt"/>
              </a:rPr>
              <a:t> </a:t>
            </a:r>
            <a:r>
              <a:rPr lang="en-US" sz="2400" dirty="0" err="1">
                <a:latin typeface="+mj-lt"/>
              </a:rPr>
              <a:t>ulaşılana</a:t>
            </a:r>
            <a:r>
              <a:rPr lang="en-US" sz="2400" dirty="0">
                <a:latin typeface="+mj-lt"/>
              </a:rPr>
              <a:t> </a:t>
            </a:r>
            <a:r>
              <a:rPr lang="en-US" sz="2400" dirty="0" err="1">
                <a:latin typeface="+mj-lt"/>
              </a:rPr>
              <a:t>kadar</a:t>
            </a:r>
            <a:r>
              <a:rPr lang="en-US" sz="2400" dirty="0">
                <a:latin typeface="+mj-lt"/>
              </a:rPr>
              <a:t> </a:t>
            </a:r>
            <a:r>
              <a:rPr lang="en-US" sz="2400" dirty="0" err="1">
                <a:latin typeface="+mj-lt"/>
              </a:rPr>
              <a:t>büyür</a:t>
            </a:r>
            <a:r>
              <a:rPr lang="en-US" sz="2400" dirty="0">
                <a:latin typeface="+mj-lt"/>
              </a:rPr>
              <a:t>.</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
        <p:nvSpPr>
          <p:cNvPr id="6" name="TextBox 5">
            <a:extLst>
              <a:ext uri="{FF2B5EF4-FFF2-40B4-BE49-F238E27FC236}">
                <a16:creationId xmlns:a16="http://schemas.microsoft.com/office/drawing/2014/main" id="{AD2D10C8-8550-3B45-35E2-D77BC1BB9462}"/>
              </a:ext>
            </a:extLst>
          </p:cNvPr>
          <p:cNvSpPr txBox="1"/>
          <p:nvPr/>
        </p:nvSpPr>
        <p:spPr>
          <a:xfrm>
            <a:off x="1906621" y="3025303"/>
            <a:ext cx="9863847" cy="3350276"/>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err="1">
                <a:ln>
                  <a:noFill/>
                </a:ln>
                <a:solidFill>
                  <a:schemeClr val="tx1"/>
                </a:solidFill>
                <a:effectLst/>
                <a:latin typeface="+mj-lt"/>
              </a:rPr>
              <a:t>Sınıflandırma</a:t>
            </a:r>
            <a:r>
              <a:rPr kumimoji="0" lang="en-US" altLang="en-US" sz="2400" i="0" u="none" strike="noStrike" cap="none" normalizeH="0" baseline="0" dirty="0">
                <a:ln>
                  <a:noFill/>
                </a:ln>
                <a:solidFill>
                  <a:schemeClr val="tx1"/>
                </a:solidFill>
                <a:effectLst/>
                <a:latin typeface="+mj-lt"/>
              </a:rPr>
              <a:t> (Classification): Test </a:t>
            </a:r>
            <a:r>
              <a:rPr kumimoji="0" lang="en-US" altLang="en-US" sz="2400" i="0" u="none" strike="noStrike" cap="none" normalizeH="0" baseline="0" dirty="0" err="1">
                <a:ln>
                  <a:noFill/>
                </a:ln>
                <a:solidFill>
                  <a:schemeClr val="tx1"/>
                </a:solidFill>
                <a:effectLst/>
                <a:latin typeface="+mj-lt"/>
              </a:rPr>
              <a:t>verisi</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bir</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ağaca</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verilerek</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sınıflandırma</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yapılır</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Tüm</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ağaçlar</a:t>
            </a:r>
            <a:r>
              <a:rPr kumimoji="0" lang="en-US" altLang="en-US" sz="2400" i="0" u="none" strike="noStrike" cap="none" normalizeH="0" baseline="0" dirty="0">
                <a:ln>
                  <a:noFill/>
                </a:ln>
                <a:solidFill>
                  <a:schemeClr val="tx1"/>
                </a:solidFill>
                <a:effectLst/>
                <a:latin typeface="+mj-lt"/>
              </a:rPr>
              <a:t> test </a:t>
            </a:r>
            <a:r>
              <a:rPr kumimoji="0" lang="en-US" altLang="en-US" sz="2400" i="0" u="none" strike="noStrike" cap="none" normalizeH="0" baseline="0" dirty="0" err="1">
                <a:ln>
                  <a:noFill/>
                </a:ln>
                <a:solidFill>
                  <a:schemeClr val="tx1"/>
                </a:solidFill>
                <a:effectLst/>
                <a:latin typeface="+mj-lt"/>
              </a:rPr>
              <a:t>verisini</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sınıflandırır</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ve</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çoğunluğun</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kararına</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göre</a:t>
            </a:r>
            <a:r>
              <a:rPr kumimoji="0" lang="en-US" altLang="en-US" sz="2400" i="0" u="none" strike="noStrike" cap="none" normalizeH="0" baseline="0" dirty="0">
                <a:ln>
                  <a:noFill/>
                </a:ln>
                <a:solidFill>
                  <a:schemeClr val="tx1"/>
                </a:solidFill>
                <a:effectLst/>
                <a:latin typeface="+mj-lt"/>
              </a:rPr>
              <a:t> son </a:t>
            </a:r>
            <a:r>
              <a:rPr kumimoji="0" lang="en-US" altLang="en-US" sz="2400" i="0" u="none" strike="noStrike" cap="none" normalizeH="0" baseline="0" dirty="0" err="1">
                <a:ln>
                  <a:noFill/>
                </a:ln>
                <a:solidFill>
                  <a:schemeClr val="tx1"/>
                </a:solidFill>
                <a:effectLst/>
                <a:latin typeface="+mj-lt"/>
              </a:rPr>
              <a:t>tahmin</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yapılır</a:t>
            </a:r>
            <a:r>
              <a:rPr kumimoji="0" lang="en-US" altLang="en-US" sz="2400" i="0" u="none" strike="noStrike" cap="none" normalizeH="0" baseline="0" dirty="0">
                <a:ln>
                  <a:noFill/>
                </a:ln>
                <a:solidFill>
                  <a:schemeClr val="tx1"/>
                </a:solidFill>
                <a:effectLst/>
                <a:latin typeface="+mj-lt"/>
              </a:rPr>
              <a:t>. Bu, oy </a:t>
            </a:r>
            <a:r>
              <a:rPr kumimoji="0" lang="en-US" altLang="en-US" sz="2400" i="0" u="none" strike="noStrike" cap="none" normalizeH="0" baseline="0" dirty="0" err="1">
                <a:ln>
                  <a:noFill/>
                </a:ln>
                <a:solidFill>
                  <a:schemeClr val="tx1"/>
                </a:solidFill>
                <a:effectLst/>
                <a:latin typeface="+mj-lt"/>
              </a:rPr>
              <a:t>birliği</a:t>
            </a:r>
            <a:r>
              <a:rPr kumimoji="0" lang="en-US" altLang="en-US" sz="2400" i="0" u="none" strike="noStrike" cap="none" normalizeH="0" baseline="0" dirty="0">
                <a:ln>
                  <a:noFill/>
                </a:ln>
                <a:solidFill>
                  <a:schemeClr val="tx1"/>
                </a:solidFill>
                <a:effectLst/>
                <a:latin typeface="+mj-lt"/>
              </a:rPr>
              <a:t> (majority voting) </a:t>
            </a:r>
            <a:r>
              <a:rPr kumimoji="0" lang="en-US" altLang="en-US" sz="2400" i="0" u="none" strike="noStrike" cap="none" normalizeH="0" baseline="0" dirty="0" err="1">
                <a:ln>
                  <a:noFill/>
                </a:ln>
                <a:solidFill>
                  <a:schemeClr val="tx1"/>
                </a:solidFill>
                <a:effectLst/>
                <a:latin typeface="+mj-lt"/>
              </a:rPr>
              <a:t>olarak</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bilinir</a:t>
            </a:r>
            <a:r>
              <a:rPr kumimoji="0" lang="en-US" altLang="en-US" sz="240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err="1">
                <a:ln>
                  <a:noFill/>
                </a:ln>
                <a:solidFill>
                  <a:schemeClr val="tx1"/>
                </a:solidFill>
                <a:effectLst/>
                <a:latin typeface="+mj-lt"/>
              </a:rPr>
              <a:t>Regresyon</a:t>
            </a:r>
            <a:r>
              <a:rPr kumimoji="0" lang="en-US" altLang="en-US" sz="2400" i="0" u="none" strike="noStrike" cap="none" normalizeH="0" baseline="0" dirty="0">
                <a:ln>
                  <a:noFill/>
                </a:ln>
                <a:solidFill>
                  <a:schemeClr val="tx1"/>
                </a:solidFill>
                <a:effectLst/>
                <a:latin typeface="+mj-lt"/>
              </a:rPr>
              <a:t> (Regression): </a:t>
            </a:r>
            <a:r>
              <a:rPr kumimoji="0" lang="en-US" altLang="en-US" sz="2400" i="0" u="none" strike="noStrike" cap="none" normalizeH="0" baseline="0" dirty="0" err="1">
                <a:ln>
                  <a:noFill/>
                </a:ln>
                <a:solidFill>
                  <a:schemeClr val="tx1"/>
                </a:solidFill>
                <a:effectLst/>
                <a:latin typeface="+mj-lt"/>
              </a:rPr>
              <a:t>Eğer</a:t>
            </a:r>
            <a:r>
              <a:rPr kumimoji="0" lang="en-US" altLang="en-US" sz="2400" i="0" u="none" strike="noStrike" cap="none" normalizeH="0" baseline="0" dirty="0">
                <a:ln>
                  <a:noFill/>
                </a:ln>
                <a:solidFill>
                  <a:schemeClr val="tx1"/>
                </a:solidFill>
                <a:effectLst/>
                <a:latin typeface="+mj-lt"/>
              </a:rPr>
              <a:t> problem </a:t>
            </a:r>
            <a:r>
              <a:rPr kumimoji="0" lang="en-US" altLang="en-US" sz="2400" i="0" u="none" strike="noStrike" cap="none" normalizeH="0" baseline="0" dirty="0" err="1">
                <a:ln>
                  <a:noFill/>
                </a:ln>
                <a:solidFill>
                  <a:schemeClr val="tx1"/>
                </a:solidFill>
                <a:effectLst/>
                <a:latin typeface="+mj-lt"/>
              </a:rPr>
              <a:t>bir</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regresyon</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problemi</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ise</a:t>
            </a:r>
            <a:r>
              <a:rPr kumimoji="0" lang="en-US" altLang="en-US" sz="2400" i="0" u="none" strike="noStrike" cap="none" normalizeH="0" baseline="0" dirty="0">
                <a:ln>
                  <a:noFill/>
                </a:ln>
                <a:solidFill>
                  <a:schemeClr val="tx1"/>
                </a:solidFill>
                <a:effectLst/>
                <a:latin typeface="+mj-lt"/>
              </a:rPr>
              <a:t>, her </a:t>
            </a:r>
            <a:r>
              <a:rPr kumimoji="0" lang="en-US" altLang="en-US" sz="2400" i="0" u="none" strike="noStrike" cap="none" normalizeH="0" baseline="0" dirty="0" err="1">
                <a:ln>
                  <a:noFill/>
                </a:ln>
                <a:solidFill>
                  <a:schemeClr val="tx1"/>
                </a:solidFill>
                <a:effectLst/>
                <a:latin typeface="+mj-lt"/>
              </a:rPr>
              <a:t>bir</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ağaç</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tahminini</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yapar</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ve</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tüm</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tahminlerin</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ortalaması</a:t>
            </a:r>
            <a:r>
              <a:rPr kumimoji="0" lang="en-US" altLang="en-US" sz="2400" i="0" u="none" strike="noStrike" cap="none" normalizeH="0" baseline="0" dirty="0">
                <a:ln>
                  <a:noFill/>
                </a:ln>
                <a:solidFill>
                  <a:schemeClr val="tx1"/>
                </a:solidFill>
                <a:effectLst/>
                <a:latin typeface="+mj-lt"/>
              </a:rPr>
              <a:t> </a:t>
            </a:r>
            <a:r>
              <a:rPr kumimoji="0" lang="en-US" altLang="en-US" sz="2400" i="0" u="none" strike="noStrike" cap="none" normalizeH="0" baseline="0" dirty="0" err="1">
                <a:ln>
                  <a:noFill/>
                </a:ln>
                <a:solidFill>
                  <a:schemeClr val="tx1"/>
                </a:solidFill>
                <a:effectLst/>
                <a:latin typeface="+mj-lt"/>
              </a:rPr>
              <a:t>alınır</a:t>
            </a:r>
            <a:r>
              <a:rPr kumimoji="0" lang="en-US" altLang="en-US" sz="2400" i="0" u="none" strike="noStrike" cap="none" normalizeH="0" baseline="0" dirty="0">
                <a:ln>
                  <a:noFill/>
                </a:ln>
                <a:solidFill>
                  <a:schemeClr val="tx1"/>
                </a:solidFill>
                <a:effectLst/>
                <a:latin typeface="+mj-lt"/>
              </a:rPr>
              <a:t>. </a:t>
            </a:r>
          </a:p>
        </p:txBody>
      </p:sp>
    </p:spTree>
    <p:extLst>
      <p:ext uri="{BB962C8B-B14F-4D97-AF65-F5344CB8AC3E}">
        <p14:creationId xmlns:p14="http://schemas.microsoft.com/office/powerpoint/2010/main" val="1966913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B93C1-15F1-2D0B-04E4-BFFD22394E3A}"/>
              </a:ext>
            </a:extLst>
          </p:cNvPr>
          <p:cNvSpPr>
            <a:spLocks noGrp="1"/>
          </p:cNvSpPr>
          <p:nvPr>
            <p:ph type="title"/>
          </p:nvPr>
        </p:nvSpPr>
        <p:spPr>
          <a:xfrm>
            <a:off x="914400" y="914399"/>
            <a:ext cx="10363200" cy="1906621"/>
          </a:xfrm>
        </p:spPr>
        <p:txBody>
          <a:bodyPr/>
          <a:lstStyle/>
          <a:p>
            <a:pPr>
              <a:lnSpc>
                <a:spcPct val="150000"/>
              </a:lnSpc>
            </a:pPr>
            <a:r>
              <a:rPr lang="en-US" sz="2400" dirty="0"/>
              <a:t>Random Forest, her </a:t>
            </a:r>
            <a:r>
              <a:rPr lang="en-US" sz="2400" dirty="0" err="1"/>
              <a:t>bir</a:t>
            </a:r>
            <a:r>
              <a:rPr lang="en-US" sz="2400" dirty="0"/>
              <a:t> </a:t>
            </a:r>
            <a:r>
              <a:rPr lang="en-US" sz="2400" dirty="0" err="1"/>
              <a:t>ağacın</a:t>
            </a:r>
            <a:r>
              <a:rPr lang="en-US" sz="2400" dirty="0"/>
              <a:t> </a:t>
            </a:r>
            <a:r>
              <a:rPr lang="en-US" sz="2400" dirty="0" err="1"/>
              <a:t>tahminlerini</a:t>
            </a:r>
            <a:r>
              <a:rPr lang="en-US" sz="2400" dirty="0"/>
              <a:t> </a:t>
            </a:r>
            <a:r>
              <a:rPr lang="en-US" sz="2400" dirty="0" err="1"/>
              <a:t>toplar</a:t>
            </a:r>
            <a:r>
              <a:rPr lang="en-US" sz="2400" dirty="0"/>
              <a:t> </a:t>
            </a:r>
            <a:r>
              <a:rPr lang="en-US" sz="2400" dirty="0" err="1"/>
              <a:t>ve</a:t>
            </a:r>
            <a:r>
              <a:rPr lang="en-US" sz="2400" dirty="0"/>
              <a:t> </a:t>
            </a:r>
            <a:r>
              <a:rPr lang="en-US" sz="2400" dirty="0" err="1"/>
              <a:t>ardından</a:t>
            </a:r>
            <a:r>
              <a:rPr lang="en-US" sz="2400" dirty="0"/>
              <a:t> </a:t>
            </a:r>
            <a:r>
              <a:rPr lang="en-US" sz="2400" dirty="0" err="1"/>
              <a:t>genel</a:t>
            </a:r>
            <a:r>
              <a:rPr lang="en-US" sz="2400" dirty="0"/>
              <a:t> </a:t>
            </a:r>
            <a:r>
              <a:rPr lang="en-US" sz="2400" dirty="0" err="1"/>
              <a:t>tahmin</a:t>
            </a:r>
            <a:r>
              <a:rPr lang="en-US" sz="2400" dirty="0"/>
              <a:t> </a:t>
            </a:r>
            <a:r>
              <a:rPr lang="en-US" sz="2400" dirty="0" err="1"/>
              <a:t>oluşturur</a:t>
            </a:r>
            <a:r>
              <a:rPr lang="en-US" sz="2400" dirty="0"/>
              <a:t>. Bu </a:t>
            </a:r>
            <a:r>
              <a:rPr lang="en-US" sz="2400" dirty="0" err="1"/>
              <a:t>işlem</a:t>
            </a:r>
            <a:r>
              <a:rPr lang="en-US" sz="2400" dirty="0"/>
              <a:t>, her </a:t>
            </a:r>
            <a:r>
              <a:rPr lang="en-US" sz="2400" dirty="0" err="1"/>
              <a:t>ağacın</a:t>
            </a:r>
            <a:r>
              <a:rPr lang="en-US" sz="2400" dirty="0"/>
              <a:t> </a:t>
            </a:r>
            <a:r>
              <a:rPr lang="en-US" sz="2400" dirty="0" err="1"/>
              <a:t>hata</a:t>
            </a:r>
            <a:r>
              <a:rPr lang="en-US" sz="2400" dirty="0"/>
              <a:t> </a:t>
            </a:r>
            <a:r>
              <a:rPr lang="en-US" sz="2400" dirty="0" err="1"/>
              <a:t>payının</a:t>
            </a:r>
            <a:r>
              <a:rPr lang="en-US" sz="2400" dirty="0"/>
              <a:t> </a:t>
            </a:r>
            <a:r>
              <a:rPr lang="en-US" sz="2400" dirty="0" err="1"/>
              <a:t>farklı</a:t>
            </a:r>
            <a:r>
              <a:rPr lang="en-US" sz="2400" dirty="0"/>
              <a:t> </a:t>
            </a:r>
            <a:r>
              <a:rPr lang="en-US" sz="2400" dirty="0" err="1"/>
              <a:t>olması</a:t>
            </a:r>
            <a:r>
              <a:rPr lang="en-US" sz="2400" dirty="0"/>
              <a:t> </a:t>
            </a:r>
            <a:r>
              <a:rPr lang="en-US" sz="2400" dirty="0" err="1"/>
              <a:t>ve</a:t>
            </a:r>
            <a:r>
              <a:rPr lang="en-US" sz="2400" dirty="0"/>
              <a:t> </a:t>
            </a:r>
            <a:r>
              <a:rPr lang="en-US" sz="2400" dirty="0" err="1"/>
              <a:t>bu</a:t>
            </a:r>
            <a:r>
              <a:rPr lang="en-US" sz="2400" dirty="0"/>
              <a:t> </a:t>
            </a:r>
            <a:r>
              <a:rPr lang="en-US" sz="2400" dirty="0" err="1"/>
              <a:t>hataların</a:t>
            </a:r>
            <a:r>
              <a:rPr lang="en-US" sz="2400" dirty="0"/>
              <a:t> </a:t>
            </a:r>
            <a:r>
              <a:rPr lang="en-US" sz="2400" dirty="0" err="1"/>
              <a:t>birbirini</a:t>
            </a:r>
            <a:r>
              <a:rPr lang="en-US" sz="2400" dirty="0"/>
              <a:t> </a:t>
            </a:r>
            <a:r>
              <a:rPr lang="en-US" sz="2400" dirty="0" err="1"/>
              <a:t>dengelemesi</a:t>
            </a:r>
            <a:r>
              <a:rPr lang="en-US" sz="2400" dirty="0"/>
              <a:t> </a:t>
            </a:r>
            <a:r>
              <a:rPr lang="en-US" sz="2400" dirty="0" err="1"/>
              <a:t>sayesinde</a:t>
            </a:r>
            <a:r>
              <a:rPr lang="en-US" sz="2400" dirty="0"/>
              <a:t> </a:t>
            </a:r>
            <a:r>
              <a:rPr lang="en-US" sz="2400" dirty="0" err="1"/>
              <a:t>daha</a:t>
            </a:r>
            <a:r>
              <a:rPr lang="en-US" sz="2400" dirty="0"/>
              <a:t> </a:t>
            </a:r>
            <a:r>
              <a:rPr lang="en-US" sz="2400" dirty="0" err="1"/>
              <a:t>doğru</a:t>
            </a:r>
            <a:r>
              <a:rPr lang="en-US" sz="2400" dirty="0"/>
              <a:t> </a:t>
            </a:r>
            <a:r>
              <a:rPr lang="en-US" sz="2400" dirty="0" err="1"/>
              <a:t>sonuçlar</a:t>
            </a:r>
            <a:r>
              <a:rPr lang="en-US" sz="2400" dirty="0"/>
              <a:t> </a:t>
            </a:r>
            <a:r>
              <a:rPr lang="en-US" sz="2400" dirty="0" err="1"/>
              <a:t>elde</a:t>
            </a:r>
            <a:r>
              <a:rPr lang="en-US" sz="2400" dirty="0"/>
              <a:t> </a:t>
            </a:r>
            <a:r>
              <a:rPr lang="en-US" sz="2400" dirty="0" err="1"/>
              <a:t>edilmesini</a:t>
            </a:r>
            <a:r>
              <a:rPr lang="en-US" sz="2400" dirty="0"/>
              <a:t> </a:t>
            </a:r>
            <a:r>
              <a:rPr lang="en-US" sz="2400" dirty="0" err="1"/>
              <a:t>sağlar</a:t>
            </a:r>
            <a:r>
              <a:rPr lang="en-US" sz="2400" dirty="0"/>
              <a:t>.</a:t>
            </a:r>
          </a:p>
        </p:txBody>
      </p:sp>
      <p:sp>
        <p:nvSpPr>
          <p:cNvPr id="4" name="Slide Number Placeholder 3">
            <a:extLst>
              <a:ext uri="{FF2B5EF4-FFF2-40B4-BE49-F238E27FC236}">
                <a16:creationId xmlns:a16="http://schemas.microsoft.com/office/drawing/2014/main" id="{3AE439D6-950A-47B4-C386-BEB7363CAF26}"/>
              </a:ext>
            </a:extLst>
          </p:cNvPr>
          <p:cNvSpPr>
            <a:spLocks noGrp="1"/>
          </p:cNvSpPr>
          <p:nvPr>
            <p:ph type="sldNum" sz="quarter" idx="4"/>
          </p:nvPr>
        </p:nvSpPr>
        <p:spPr/>
        <p:txBody>
          <a:bodyPr/>
          <a:lstStyle/>
          <a:p>
            <a:fld id="{58FB4751-880F-D840-AAA9-3A15815CC996}" type="slidenum">
              <a:rPr lang="en-US" smtClean="0"/>
              <a:pPr/>
              <a:t>10</a:t>
            </a:fld>
            <a:endParaRPr lang="en-US" dirty="0"/>
          </a:p>
        </p:txBody>
      </p:sp>
      <p:pic>
        <p:nvPicPr>
          <p:cNvPr id="9" name="Content Placeholder 8">
            <a:extLst>
              <a:ext uri="{FF2B5EF4-FFF2-40B4-BE49-F238E27FC236}">
                <a16:creationId xmlns:a16="http://schemas.microsoft.com/office/drawing/2014/main" id="{4491C4BF-A0EB-02E3-72A5-926B16EF39A6}"/>
              </a:ext>
            </a:extLst>
          </p:cNvPr>
          <p:cNvPicPr>
            <a:picLocks noGrp="1" noChangeAspect="1"/>
          </p:cNvPicPr>
          <p:nvPr>
            <p:ph sz="quarter" idx="10"/>
          </p:nvPr>
        </p:nvPicPr>
        <p:blipFill>
          <a:blip r:embed="rId2"/>
          <a:stretch>
            <a:fillRect/>
          </a:stretch>
        </p:blipFill>
        <p:spPr bwMode="auto">
          <a:xfrm>
            <a:off x="2973281" y="3201312"/>
            <a:ext cx="5805525" cy="2858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7784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574431" y="806280"/>
            <a:ext cx="11043138" cy="2198177"/>
          </a:xfrm>
        </p:spPr>
        <p:txBody>
          <a:bodyPr anchor="b"/>
          <a:lstStyle/>
          <a:p>
            <a:pPr>
              <a:lnSpc>
                <a:spcPct val="150000"/>
              </a:lnSpc>
            </a:pPr>
            <a:r>
              <a:rPr lang="en-US" sz="2400" dirty="0" err="1"/>
              <a:t>Birçok</a:t>
            </a:r>
            <a:r>
              <a:rPr lang="en-US" sz="2400" dirty="0"/>
              <a:t> </a:t>
            </a:r>
            <a:r>
              <a:rPr lang="en-US" sz="2400" dirty="0" err="1"/>
              <a:t>karar</a:t>
            </a:r>
            <a:r>
              <a:rPr lang="en-US" sz="2400" dirty="0"/>
              <a:t> </a:t>
            </a:r>
            <a:r>
              <a:rPr lang="en-US" sz="2400" dirty="0" err="1"/>
              <a:t>ağacı</a:t>
            </a:r>
            <a:r>
              <a:rPr lang="en-US" sz="2400" dirty="0"/>
              <a:t> </a:t>
            </a:r>
            <a:r>
              <a:rPr lang="en-US" sz="2400" dirty="0" err="1"/>
              <a:t>kullanarak</a:t>
            </a:r>
            <a:r>
              <a:rPr lang="en-US" sz="2400" dirty="0"/>
              <a:t>, Random Forest, </a:t>
            </a:r>
            <a:r>
              <a:rPr lang="en-US" sz="2400" dirty="0" err="1"/>
              <a:t>tek</a:t>
            </a:r>
            <a:r>
              <a:rPr lang="en-US" sz="2400" dirty="0"/>
              <a:t> </a:t>
            </a:r>
            <a:r>
              <a:rPr lang="en-US" sz="2400" dirty="0" err="1"/>
              <a:t>bir</a:t>
            </a:r>
            <a:r>
              <a:rPr lang="en-US" sz="2400" dirty="0"/>
              <a:t> </a:t>
            </a:r>
            <a:r>
              <a:rPr lang="en-US" sz="2400" dirty="0" err="1"/>
              <a:t>karar</a:t>
            </a:r>
            <a:r>
              <a:rPr lang="en-US" sz="2400" dirty="0"/>
              <a:t> </a:t>
            </a:r>
            <a:r>
              <a:rPr lang="en-US" sz="2400" dirty="0" err="1"/>
              <a:t>ağacının</a:t>
            </a:r>
            <a:r>
              <a:rPr lang="en-US" sz="2400" dirty="0"/>
              <a:t> </a:t>
            </a:r>
            <a:r>
              <a:rPr lang="en-US" sz="2400" dirty="0" err="1"/>
              <a:t>aşırı</a:t>
            </a:r>
            <a:r>
              <a:rPr lang="en-US" sz="2400" dirty="0"/>
              <a:t> </a:t>
            </a:r>
            <a:r>
              <a:rPr lang="en-US" sz="2400" dirty="0" err="1"/>
              <a:t>uyum</a:t>
            </a:r>
            <a:r>
              <a:rPr lang="en-US" sz="2400" dirty="0"/>
              <a:t> (overfitting) </a:t>
            </a:r>
            <a:r>
              <a:rPr lang="en-US" sz="2400" dirty="0" err="1"/>
              <a:t>yapma</a:t>
            </a:r>
            <a:r>
              <a:rPr lang="en-US" sz="2400" dirty="0"/>
              <a:t> </a:t>
            </a:r>
            <a:r>
              <a:rPr lang="en-US" sz="2400" dirty="0" err="1"/>
              <a:t>olasılığını</a:t>
            </a:r>
            <a:r>
              <a:rPr lang="en-US" sz="2400" dirty="0"/>
              <a:t> </a:t>
            </a:r>
            <a:r>
              <a:rPr lang="en-US" sz="2400" dirty="0" err="1"/>
              <a:t>azaltır</a:t>
            </a:r>
            <a:r>
              <a:rPr lang="en-US" sz="2400" dirty="0"/>
              <a:t>. </a:t>
            </a:r>
            <a:r>
              <a:rPr lang="en-US" sz="2400" dirty="0" err="1"/>
              <a:t>Çünkü</a:t>
            </a:r>
            <a:r>
              <a:rPr lang="en-US" sz="2400" dirty="0"/>
              <a:t> her </a:t>
            </a:r>
            <a:r>
              <a:rPr lang="en-US" sz="2400" dirty="0" err="1"/>
              <a:t>bir</a:t>
            </a:r>
            <a:r>
              <a:rPr lang="en-US" sz="2400" dirty="0"/>
              <a:t> </a:t>
            </a:r>
            <a:r>
              <a:rPr lang="en-US" sz="2400" dirty="0" err="1"/>
              <a:t>ağaç</a:t>
            </a:r>
            <a:r>
              <a:rPr lang="en-US" sz="2400" dirty="0"/>
              <a:t> </a:t>
            </a:r>
            <a:r>
              <a:rPr lang="en-US" sz="2400" dirty="0" err="1"/>
              <a:t>farklı</a:t>
            </a:r>
            <a:r>
              <a:rPr lang="en-US" sz="2400" dirty="0"/>
              <a:t> alt </a:t>
            </a:r>
            <a:r>
              <a:rPr lang="en-US" sz="2400" dirty="0" err="1"/>
              <a:t>küme</a:t>
            </a:r>
            <a:r>
              <a:rPr lang="en-US" sz="2400" dirty="0"/>
              <a:t> </a:t>
            </a:r>
            <a:r>
              <a:rPr lang="en-US" sz="2400" dirty="0" err="1"/>
              <a:t>ve</a:t>
            </a:r>
            <a:r>
              <a:rPr lang="en-US" sz="2400" dirty="0"/>
              <a:t> </a:t>
            </a:r>
            <a:r>
              <a:rPr lang="en-US" sz="2400" dirty="0" err="1"/>
              <a:t>özellikler</a:t>
            </a:r>
            <a:r>
              <a:rPr lang="en-US" sz="2400" dirty="0"/>
              <a:t> </a:t>
            </a:r>
            <a:r>
              <a:rPr lang="en-US" sz="2400" dirty="0" err="1"/>
              <a:t>üzerinde</a:t>
            </a:r>
            <a:r>
              <a:rPr lang="en-US" sz="2400" dirty="0"/>
              <a:t> </a:t>
            </a:r>
            <a:r>
              <a:rPr lang="en-US" sz="2400" dirty="0" err="1"/>
              <a:t>eğitildiğinden</a:t>
            </a:r>
            <a:r>
              <a:rPr lang="en-US" sz="2400" dirty="0"/>
              <a:t>, </a:t>
            </a:r>
            <a:r>
              <a:rPr lang="en-US" sz="2400" dirty="0" err="1"/>
              <a:t>tüm</a:t>
            </a:r>
            <a:r>
              <a:rPr lang="en-US" sz="2400" dirty="0"/>
              <a:t> </a:t>
            </a:r>
            <a:r>
              <a:rPr lang="en-US" sz="2400" dirty="0" err="1"/>
              <a:t>ağaçlar</a:t>
            </a:r>
            <a:r>
              <a:rPr lang="en-US" sz="2400" dirty="0"/>
              <a:t> </a:t>
            </a:r>
            <a:r>
              <a:rPr lang="en-US" sz="2400" dirty="0" err="1"/>
              <a:t>aynı</a:t>
            </a:r>
            <a:r>
              <a:rPr lang="en-US" sz="2400" dirty="0"/>
              <a:t> </a:t>
            </a:r>
            <a:r>
              <a:rPr lang="en-US" sz="2400" dirty="0" err="1"/>
              <a:t>hatayı</a:t>
            </a:r>
            <a:r>
              <a:rPr lang="en-US" sz="2400" dirty="0"/>
              <a:t> </a:t>
            </a:r>
            <a:r>
              <a:rPr lang="en-US" sz="2400" dirty="0" err="1"/>
              <a:t>yapma</a:t>
            </a:r>
            <a:r>
              <a:rPr lang="en-US" sz="2400" dirty="0"/>
              <a:t> </a:t>
            </a:r>
            <a:r>
              <a:rPr lang="en-US" sz="2400" dirty="0" err="1"/>
              <a:t>eğiliminde</a:t>
            </a:r>
            <a:r>
              <a:rPr lang="en-US" sz="2400" dirty="0"/>
              <a:t> </a:t>
            </a:r>
            <a:r>
              <a:rPr lang="en-US" sz="2400" dirty="0" err="1"/>
              <a:t>değildir</a:t>
            </a:r>
            <a:r>
              <a:rPr lang="en-US" sz="2400" dirty="0"/>
              <a:t>. Bu </a:t>
            </a:r>
            <a:r>
              <a:rPr lang="en-US" sz="2400" dirty="0" err="1"/>
              <a:t>çeşitlilik</a:t>
            </a:r>
            <a:r>
              <a:rPr lang="en-US" sz="2400" dirty="0"/>
              <a:t>, </a:t>
            </a:r>
            <a:r>
              <a:rPr lang="en-US" sz="2400" dirty="0" err="1"/>
              <a:t>modelin</a:t>
            </a:r>
            <a:r>
              <a:rPr lang="en-US" sz="2400" dirty="0"/>
              <a:t> </a:t>
            </a:r>
            <a:r>
              <a:rPr lang="en-US" sz="2400" dirty="0" err="1"/>
              <a:t>genelleme</a:t>
            </a:r>
            <a:r>
              <a:rPr lang="en-US" sz="2400" dirty="0"/>
              <a:t> </a:t>
            </a:r>
            <a:r>
              <a:rPr lang="en-US" sz="2400" dirty="0" err="1"/>
              <a:t>kabiliyetini</a:t>
            </a:r>
            <a:r>
              <a:rPr lang="en-US" sz="2400" dirty="0"/>
              <a:t> </a:t>
            </a:r>
            <a:r>
              <a:rPr lang="en-US" sz="2400" dirty="0" err="1"/>
              <a:t>artırır</a:t>
            </a:r>
            <a:r>
              <a:rPr lang="en-US" sz="2400" dirty="0"/>
              <a:t>.</a:t>
            </a:r>
          </a:p>
        </p:txBody>
      </p:sp>
      <p:pic>
        <p:nvPicPr>
          <p:cNvPr id="3" name="Picture 2">
            <a:extLst>
              <a:ext uri="{FF2B5EF4-FFF2-40B4-BE49-F238E27FC236}">
                <a16:creationId xmlns:a16="http://schemas.microsoft.com/office/drawing/2014/main" id="{D13C718F-F37E-5A31-1BBA-62DAE44B1FB7}"/>
              </a:ext>
            </a:extLst>
          </p:cNvPr>
          <p:cNvPicPr>
            <a:picLocks noChangeAspect="1"/>
          </p:cNvPicPr>
          <p:nvPr/>
        </p:nvPicPr>
        <p:blipFill>
          <a:blip r:embed="rId3"/>
          <a:stretch>
            <a:fillRect/>
          </a:stretch>
        </p:blipFill>
        <p:spPr>
          <a:xfrm>
            <a:off x="3147027" y="3429000"/>
            <a:ext cx="5630061" cy="2695951"/>
          </a:xfrm>
          <a:prstGeom prst="rect">
            <a:avLst/>
          </a:prstGeom>
        </p:spPr>
      </p:pic>
    </p:spTree>
    <p:extLst>
      <p:ext uri="{BB962C8B-B14F-4D97-AF65-F5344CB8AC3E}">
        <p14:creationId xmlns:p14="http://schemas.microsoft.com/office/powerpoint/2010/main" val="1096717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619328" y="275389"/>
            <a:ext cx="5476672" cy="5794670"/>
          </a:xfrm>
        </p:spPr>
        <p:txBody>
          <a:bodyPr>
            <a:noAutofit/>
          </a:bodyPr>
          <a:lstStyle/>
          <a:p>
            <a:pPr>
              <a:lnSpc>
                <a:spcPct val="150000"/>
              </a:lnSpc>
            </a:pPr>
            <a:r>
              <a:rPr lang="en-US" b="1" dirty="0">
                <a:latin typeface="+mj-lt"/>
              </a:rPr>
              <a:t>Random </a:t>
            </a:r>
            <a:r>
              <a:rPr lang="en-US" b="1" dirty="0" err="1">
                <a:latin typeface="+mj-lt"/>
              </a:rPr>
              <a:t>Forest'in</a:t>
            </a:r>
            <a:r>
              <a:rPr lang="en-US" b="1" dirty="0">
                <a:latin typeface="+mj-lt"/>
              </a:rPr>
              <a:t> </a:t>
            </a:r>
            <a:r>
              <a:rPr lang="en-US" b="1" dirty="0" err="1">
                <a:latin typeface="+mj-lt"/>
              </a:rPr>
              <a:t>Avantajları</a:t>
            </a:r>
            <a:endParaRPr lang="en-US" b="1" dirty="0">
              <a:latin typeface="+mj-lt"/>
            </a:endParaRPr>
          </a:p>
          <a:p>
            <a:pPr>
              <a:lnSpc>
                <a:spcPct val="150000"/>
              </a:lnSpc>
              <a:buFont typeface="Arial" panose="020B0604020202020204" pitchFamily="34" charset="0"/>
              <a:buChar char="•"/>
            </a:pPr>
            <a:r>
              <a:rPr lang="en-US" b="1" dirty="0" err="1">
                <a:latin typeface="+mj-lt"/>
              </a:rPr>
              <a:t>Yüksek</a:t>
            </a:r>
            <a:r>
              <a:rPr lang="en-US" b="1" dirty="0">
                <a:latin typeface="+mj-lt"/>
              </a:rPr>
              <a:t> </a:t>
            </a:r>
            <a:r>
              <a:rPr lang="en-US" b="1" dirty="0" err="1">
                <a:latin typeface="+mj-lt"/>
              </a:rPr>
              <a:t>Doğruluk</a:t>
            </a:r>
            <a:r>
              <a:rPr lang="en-US" dirty="0">
                <a:latin typeface="+mj-lt"/>
              </a:rPr>
              <a:t>: </a:t>
            </a:r>
            <a:r>
              <a:rPr lang="en-US" dirty="0" err="1">
                <a:latin typeface="+mj-lt"/>
              </a:rPr>
              <a:t>Birçok</a:t>
            </a:r>
            <a:r>
              <a:rPr lang="en-US" dirty="0">
                <a:latin typeface="+mj-lt"/>
              </a:rPr>
              <a:t> </a:t>
            </a:r>
            <a:r>
              <a:rPr lang="en-US" dirty="0" err="1">
                <a:latin typeface="+mj-lt"/>
              </a:rPr>
              <a:t>ağaç</a:t>
            </a:r>
            <a:r>
              <a:rPr lang="en-US" dirty="0">
                <a:latin typeface="+mj-lt"/>
              </a:rPr>
              <a:t> </a:t>
            </a:r>
            <a:r>
              <a:rPr lang="en-US" dirty="0" err="1">
                <a:latin typeface="+mj-lt"/>
              </a:rPr>
              <a:t>sayesinde</a:t>
            </a:r>
            <a:r>
              <a:rPr lang="en-US" dirty="0">
                <a:latin typeface="+mj-lt"/>
              </a:rPr>
              <a:t> </a:t>
            </a:r>
            <a:r>
              <a:rPr lang="en-US" dirty="0" err="1">
                <a:latin typeface="+mj-lt"/>
              </a:rPr>
              <a:t>tahminler</a:t>
            </a:r>
            <a:r>
              <a:rPr lang="en-US" dirty="0">
                <a:latin typeface="+mj-lt"/>
              </a:rPr>
              <a:t> </a:t>
            </a:r>
            <a:r>
              <a:rPr lang="en-US" dirty="0" err="1">
                <a:latin typeface="+mj-lt"/>
              </a:rPr>
              <a:t>genellikle</a:t>
            </a:r>
            <a:r>
              <a:rPr lang="en-US" dirty="0">
                <a:latin typeface="+mj-lt"/>
              </a:rPr>
              <a:t> </a:t>
            </a:r>
            <a:r>
              <a:rPr lang="en-US" dirty="0" err="1">
                <a:latin typeface="+mj-lt"/>
              </a:rPr>
              <a:t>daha</a:t>
            </a:r>
            <a:r>
              <a:rPr lang="en-US" dirty="0">
                <a:latin typeface="+mj-lt"/>
              </a:rPr>
              <a:t> </a:t>
            </a:r>
            <a:r>
              <a:rPr lang="en-US" dirty="0" err="1">
                <a:latin typeface="+mj-lt"/>
              </a:rPr>
              <a:t>doğru</a:t>
            </a:r>
            <a:r>
              <a:rPr lang="en-US" dirty="0">
                <a:latin typeface="+mj-lt"/>
              </a:rPr>
              <a:t> </a:t>
            </a:r>
            <a:r>
              <a:rPr lang="en-US" dirty="0" err="1">
                <a:latin typeface="+mj-lt"/>
              </a:rPr>
              <a:t>olur</a:t>
            </a:r>
            <a:r>
              <a:rPr lang="en-US" dirty="0">
                <a:latin typeface="+mj-lt"/>
              </a:rPr>
              <a:t>.</a:t>
            </a:r>
          </a:p>
          <a:p>
            <a:pPr>
              <a:lnSpc>
                <a:spcPct val="150000"/>
              </a:lnSpc>
              <a:buFont typeface="Arial" panose="020B0604020202020204" pitchFamily="34" charset="0"/>
              <a:buChar char="•"/>
            </a:pPr>
            <a:r>
              <a:rPr lang="en-US" b="1" dirty="0" err="1">
                <a:latin typeface="+mj-lt"/>
              </a:rPr>
              <a:t>Overfitting’e</a:t>
            </a:r>
            <a:r>
              <a:rPr lang="en-US" b="1" dirty="0">
                <a:latin typeface="+mj-lt"/>
              </a:rPr>
              <a:t> </a:t>
            </a:r>
            <a:r>
              <a:rPr lang="en-US" b="1" dirty="0" err="1">
                <a:latin typeface="+mj-lt"/>
              </a:rPr>
              <a:t>Karşı</a:t>
            </a:r>
            <a:r>
              <a:rPr lang="en-US" b="1" dirty="0">
                <a:latin typeface="+mj-lt"/>
              </a:rPr>
              <a:t> </a:t>
            </a:r>
            <a:r>
              <a:rPr lang="en-US" b="1" dirty="0" err="1">
                <a:latin typeface="+mj-lt"/>
              </a:rPr>
              <a:t>Dayanıklı</a:t>
            </a:r>
            <a:r>
              <a:rPr lang="en-US" dirty="0">
                <a:latin typeface="+mj-lt"/>
              </a:rPr>
              <a:t>: Bootstrap </a:t>
            </a:r>
            <a:r>
              <a:rPr lang="en-US" dirty="0" err="1">
                <a:latin typeface="+mj-lt"/>
              </a:rPr>
              <a:t>örnekleme</a:t>
            </a:r>
            <a:r>
              <a:rPr lang="en-US" dirty="0">
                <a:latin typeface="+mj-lt"/>
              </a:rPr>
              <a:t> </a:t>
            </a:r>
            <a:r>
              <a:rPr lang="en-US" dirty="0" err="1">
                <a:latin typeface="+mj-lt"/>
              </a:rPr>
              <a:t>ve</a:t>
            </a:r>
            <a:r>
              <a:rPr lang="en-US" dirty="0">
                <a:latin typeface="+mj-lt"/>
              </a:rPr>
              <a:t> </a:t>
            </a:r>
            <a:r>
              <a:rPr lang="en-US" dirty="0" err="1">
                <a:latin typeface="+mj-lt"/>
              </a:rPr>
              <a:t>özellik</a:t>
            </a:r>
            <a:r>
              <a:rPr lang="en-US" dirty="0">
                <a:latin typeface="+mj-lt"/>
              </a:rPr>
              <a:t> </a:t>
            </a:r>
            <a:r>
              <a:rPr lang="en-US" dirty="0" err="1">
                <a:latin typeface="+mj-lt"/>
              </a:rPr>
              <a:t>seçimi</a:t>
            </a:r>
            <a:r>
              <a:rPr lang="en-US" dirty="0">
                <a:latin typeface="+mj-lt"/>
              </a:rPr>
              <a:t> </a:t>
            </a:r>
            <a:r>
              <a:rPr lang="en-US" dirty="0" err="1">
                <a:latin typeface="+mj-lt"/>
              </a:rPr>
              <a:t>sayesinde</a:t>
            </a:r>
            <a:r>
              <a:rPr lang="en-US" dirty="0">
                <a:latin typeface="+mj-lt"/>
              </a:rPr>
              <a:t> model </a:t>
            </a:r>
            <a:r>
              <a:rPr lang="en-US" dirty="0" err="1">
                <a:latin typeface="+mj-lt"/>
              </a:rPr>
              <a:t>aşırı</a:t>
            </a:r>
            <a:r>
              <a:rPr lang="en-US" dirty="0">
                <a:latin typeface="+mj-lt"/>
              </a:rPr>
              <a:t> </a:t>
            </a:r>
            <a:r>
              <a:rPr lang="en-US" dirty="0" err="1">
                <a:latin typeface="+mj-lt"/>
              </a:rPr>
              <a:t>uyuma</a:t>
            </a:r>
            <a:r>
              <a:rPr lang="en-US" dirty="0">
                <a:latin typeface="+mj-lt"/>
              </a:rPr>
              <a:t> (overfitting) </a:t>
            </a:r>
            <a:r>
              <a:rPr lang="en-US" dirty="0" err="1">
                <a:latin typeface="+mj-lt"/>
              </a:rPr>
              <a:t>karşı</a:t>
            </a:r>
            <a:r>
              <a:rPr lang="en-US" dirty="0">
                <a:latin typeface="+mj-lt"/>
              </a:rPr>
              <a:t> </a:t>
            </a:r>
            <a:r>
              <a:rPr lang="en-US" dirty="0" err="1">
                <a:latin typeface="+mj-lt"/>
              </a:rPr>
              <a:t>dayanıklıdır</a:t>
            </a:r>
            <a:r>
              <a:rPr lang="en-US" dirty="0">
                <a:latin typeface="+mj-lt"/>
              </a:rPr>
              <a:t>.</a:t>
            </a:r>
          </a:p>
          <a:p>
            <a:pPr>
              <a:lnSpc>
                <a:spcPct val="150000"/>
              </a:lnSpc>
              <a:buFont typeface="Arial" panose="020B0604020202020204" pitchFamily="34" charset="0"/>
              <a:buChar char="•"/>
            </a:pPr>
            <a:r>
              <a:rPr lang="en-US" b="1" dirty="0" err="1">
                <a:latin typeface="+mj-lt"/>
              </a:rPr>
              <a:t>Özelliklerin</a:t>
            </a:r>
            <a:r>
              <a:rPr lang="en-US" b="1" dirty="0">
                <a:latin typeface="+mj-lt"/>
              </a:rPr>
              <a:t> </a:t>
            </a:r>
            <a:r>
              <a:rPr lang="en-US" b="1" dirty="0" err="1">
                <a:latin typeface="+mj-lt"/>
              </a:rPr>
              <a:t>Önemi</a:t>
            </a:r>
            <a:r>
              <a:rPr lang="en-US" dirty="0">
                <a:latin typeface="+mj-lt"/>
              </a:rPr>
              <a:t>: Model, hangi </a:t>
            </a:r>
            <a:r>
              <a:rPr lang="en-US" dirty="0" err="1">
                <a:latin typeface="+mj-lt"/>
              </a:rPr>
              <a:t>özelliklerin</a:t>
            </a:r>
            <a:r>
              <a:rPr lang="en-US" dirty="0">
                <a:latin typeface="+mj-lt"/>
              </a:rPr>
              <a:t> </a:t>
            </a:r>
            <a:r>
              <a:rPr lang="en-US" dirty="0" err="1">
                <a:latin typeface="+mj-lt"/>
              </a:rPr>
              <a:t>önemli</a:t>
            </a:r>
            <a:r>
              <a:rPr lang="en-US" dirty="0">
                <a:latin typeface="+mj-lt"/>
              </a:rPr>
              <a:t> </a:t>
            </a:r>
            <a:r>
              <a:rPr lang="en-US" dirty="0" err="1">
                <a:latin typeface="+mj-lt"/>
              </a:rPr>
              <a:t>olduğunu</a:t>
            </a:r>
            <a:r>
              <a:rPr lang="en-US" dirty="0">
                <a:latin typeface="+mj-lt"/>
              </a:rPr>
              <a:t> </a:t>
            </a:r>
            <a:r>
              <a:rPr lang="en-US" dirty="0" err="1">
                <a:latin typeface="+mj-lt"/>
              </a:rPr>
              <a:t>belirleyebilir</a:t>
            </a:r>
            <a:r>
              <a:rPr lang="en-US" dirty="0">
                <a:latin typeface="+mj-lt"/>
              </a:rPr>
              <a:t>.</a:t>
            </a:r>
          </a:p>
          <a:p>
            <a:pPr>
              <a:lnSpc>
                <a:spcPct val="150000"/>
              </a:lnSpc>
              <a:buFont typeface="Arial" panose="020B0604020202020204" pitchFamily="34" charset="0"/>
              <a:buChar char="•"/>
            </a:pPr>
            <a:r>
              <a:rPr lang="en-US" b="1" dirty="0">
                <a:latin typeface="+mj-lt"/>
              </a:rPr>
              <a:t>Veri </a:t>
            </a:r>
            <a:r>
              <a:rPr lang="en-US" b="1" dirty="0" err="1">
                <a:latin typeface="+mj-lt"/>
              </a:rPr>
              <a:t>Setine</a:t>
            </a:r>
            <a:r>
              <a:rPr lang="en-US" b="1" dirty="0">
                <a:latin typeface="+mj-lt"/>
              </a:rPr>
              <a:t> </a:t>
            </a:r>
            <a:r>
              <a:rPr lang="en-US" b="1" dirty="0" err="1">
                <a:latin typeface="+mj-lt"/>
              </a:rPr>
              <a:t>Dayanıklı</a:t>
            </a:r>
            <a:r>
              <a:rPr lang="en-US" dirty="0">
                <a:latin typeface="+mj-lt"/>
              </a:rPr>
              <a:t>: </a:t>
            </a:r>
            <a:r>
              <a:rPr lang="en-US" dirty="0" err="1">
                <a:latin typeface="+mj-lt"/>
              </a:rPr>
              <a:t>Eksik</a:t>
            </a:r>
            <a:r>
              <a:rPr lang="en-US" dirty="0">
                <a:latin typeface="+mj-lt"/>
              </a:rPr>
              <a:t> </a:t>
            </a:r>
            <a:r>
              <a:rPr lang="en-US" dirty="0" err="1">
                <a:latin typeface="+mj-lt"/>
              </a:rPr>
              <a:t>verilere</a:t>
            </a:r>
            <a:r>
              <a:rPr lang="en-US" dirty="0">
                <a:latin typeface="+mj-lt"/>
              </a:rPr>
              <a:t> </a:t>
            </a:r>
            <a:r>
              <a:rPr lang="en-US" dirty="0" err="1">
                <a:latin typeface="+mj-lt"/>
              </a:rPr>
              <a:t>karşı</a:t>
            </a:r>
            <a:r>
              <a:rPr lang="en-US" dirty="0">
                <a:latin typeface="+mj-lt"/>
              </a:rPr>
              <a:t> da </a:t>
            </a:r>
            <a:r>
              <a:rPr lang="en-US" dirty="0" err="1">
                <a:latin typeface="+mj-lt"/>
              </a:rPr>
              <a:t>dayanıklıdır</a:t>
            </a:r>
            <a:r>
              <a:rPr lang="en-US" dirty="0">
                <a:latin typeface="+mj-lt"/>
              </a:rPr>
              <a:t> </a:t>
            </a:r>
            <a:r>
              <a:rPr lang="en-US" dirty="0" err="1">
                <a:latin typeface="+mj-lt"/>
              </a:rPr>
              <a:t>ve</a:t>
            </a:r>
            <a:r>
              <a:rPr lang="en-US" dirty="0">
                <a:latin typeface="+mj-lt"/>
              </a:rPr>
              <a:t> </a:t>
            </a:r>
            <a:r>
              <a:rPr lang="en-US" dirty="0" err="1">
                <a:latin typeface="+mj-lt"/>
              </a:rPr>
              <a:t>normalde</a:t>
            </a:r>
            <a:r>
              <a:rPr lang="en-US" dirty="0">
                <a:latin typeface="+mj-lt"/>
              </a:rPr>
              <a:t> iyi </a:t>
            </a:r>
            <a:r>
              <a:rPr lang="en-US" dirty="0" err="1">
                <a:latin typeface="+mj-lt"/>
              </a:rPr>
              <a:t>çalıştığı</a:t>
            </a:r>
            <a:r>
              <a:rPr lang="en-US" dirty="0">
                <a:latin typeface="+mj-lt"/>
              </a:rPr>
              <a:t> </a:t>
            </a:r>
            <a:r>
              <a:rPr lang="en-US" dirty="0" err="1">
                <a:latin typeface="+mj-lt"/>
              </a:rPr>
              <a:t>veri</a:t>
            </a:r>
            <a:r>
              <a:rPr lang="en-US" dirty="0">
                <a:latin typeface="+mj-lt"/>
              </a:rPr>
              <a:t> </a:t>
            </a:r>
            <a:r>
              <a:rPr lang="en-US" dirty="0" err="1">
                <a:latin typeface="+mj-lt"/>
              </a:rPr>
              <a:t>setleri</a:t>
            </a:r>
            <a:r>
              <a:rPr lang="en-US" dirty="0">
                <a:latin typeface="+mj-lt"/>
              </a:rPr>
              <a:t> </a:t>
            </a:r>
            <a:r>
              <a:rPr lang="en-US" dirty="0" err="1">
                <a:latin typeface="+mj-lt"/>
              </a:rPr>
              <a:t>üzerinde</a:t>
            </a:r>
            <a:r>
              <a:rPr lang="en-US" dirty="0">
                <a:latin typeface="+mj-lt"/>
              </a:rPr>
              <a:t> </a:t>
            </a:r>
            <a:r>
              <a:rPr lang="en-US" dirty="0" err="1">
                <a:latin typeface="+mj-lt"/>
              </a:rPr>
              <a:t>genel</a:t>
            </a:r>
            <a:r>
              <a:rPr lang="en-US" dirty="0">
                <a:latin typeface="+mj-lt"/>
              </a:rPr>
              <a:t> </a:t>
            </a:r>
            <a:r>
              <a:rPr lang="en-US" dirty="0" err="1">
                <a:latin typeface="+mj-lt"/>
              </a:rPr>
              <a:t>olarak</a:t>
            </a:r>
            <a:r>
              <a:rPr lang="en-US" dirty="0">
                <a:latin typeface="+mj-lt"/>
              </a:rPr>
              <a:t> </a:t>
            </a:r>
            <a:r>
              <a:rPr lang="en-US" dirty="0" err="1">
                <a:latin typeface="+mj-lt"/>
              </a:rPr>
              <a:t>çok</a:t>
            </a:r>
            <a:r>
              <a:rPr lang="en-US" dirty="0">
                <a:latin typeface="+mj-lt"/>
              </a:rPr>
              <a:t> </a:t>
            </a:r>
            <a:r>
              <a:rPr lang="en-US" dirty="0" err="1">
                <a:latin typeface="+mj-lt"/>
              </a:rPr>
              <a:t>başarılıdır</a:t>
            </a:r>
            <a:r>
              <a:rPr lang="en-US" dirty="0">
                <a:latin typeface="+mj-lt"/>
              </a:rPr>
              <a:t>.</a:t>
            </a:r>
          </a:p>
          <a:p>
            <a:endParaRPr lang="en-US" dirty="0"/>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436423" y="275389"/>
            <a:ext cx="5476672" cy="6047590"/>
          </a:xfrm>
        </p:spPr>
        <p:txBody>
          <a:bodyPr>
            <a:normAutofit/>
          </a:bodyPr>
          <a:lstStyle/>
          <a:p>
            <a:pPr>
              <a:lnSpc>
                <a:spcPct val="150000"/>
              </a:lnSpc>
            </a:pPr>
            <a:r>
              <a:rPr lang="en-US" b="1" dirty="0">
                <a:latin typeface="+mj-lt"/>
              </a:rPr>
              <a:t>Random </a:t>
            </a:r>
            <a:r>
              <a:rPr lang="en-US" b="1" dirty="0" err="1">
                <a:latin typeface="+mj-lt"/>
              </a:rPr>
              <a:t>Forest'in</a:t>
            </a:r>
            <a:r>
              <a:rPr lang="en-US" b="1" dirty="0">
                <a:latin typeface="+mj-lt"/>
              </a:rPr>
              <a:t> </a:t>
            </a:r>
            <a:r>
              <a:rPr lang="en-US" b="1" dirty="0" err="1">
                <a:latin typeface="+mj-lt"/>
              </a:rPr>
              <a:t>Dezavantajları</a:t>
            </a:r>
            <a:endParaRPr lang="en-US" b="1" dirty="0">
              <a:latin typeface="+mj-lt"/>
            </a:endParaRPr>
          </a:p>
          <a:p>
            <a:pPr>
              <a:lnSpc>
                <a:spcPct val="150000"/>
              </a:lnSpc>
              <a:buFont typeface="Arial" panose="020B0604020202020204" pitchFamily="34" charset="0"/>
              <a:buChar char="•"/>
            </a:pPr>
            <a:r>
              <a:rPr lang="en-US" b="1" dirty="0" err="1">
                <a:latin typeface="+mj-lt"/>
              </a:rPr>
              <a:t>Hesaplama</a:t>
            </a:r>
            <a:r>
              <a:rPr lang="en-US" b="1" dirty="0">
                <a:latin typeface="+mj-lt"/>
              </a:rPr>
              <a:t> </a:t>
            </a:r>
            <a:r>
              <a:rPr lang="en-US" b="1" dirty="0" err="1">
                <a:latin typeface="+mj-lt"/>
              </a:rPr>
              <a:t>Maliyeti</a:t>
            </a:r>
            <a:r>
              <a:rPr lang="en-US" dirty="0">
                <a:latin typeface="+mj-lt"/>
              </a:rPr>
              <a:t>: </a:t>
            </a:r>
            <a:r>
              <a:rPr lang="en-US" dirty="0" err="1">
                <a:latin typeface="+mj-lt"/>
              </a:rPr>
              <a:t>Çok</a:t>
            </a:r>
            <a:r>
              <a:rPr lang="en-US" dirty="0">
                <a:latin typeface="+mj-lt"/>
              </a:rPr>
              <a:t> </a:t>
            </a:r>
            <a:r>
              <a:rPr lang="en-US" dirty="0" err="1">
                <a:latin typeface="+mj-lt"/>
              </a:rPr>
              <a:t>sayıda</a:t>
            </a:r>
            <a:r>
              <a:rPr lang="en-US" dirty="0">
                <a:latin typeface="+mj-lt"/>
              </a:rPr>
              <a:t> </a:t>
            </a:r>
            <a:r>
              <a:rPr lang="en-US" dirty="0" err="1">
                <a:latin typeface="+mj-lt"/>
              </a:rPr>
              <a:t>karar</a:t>
            </a:r>
            <a:r>
              <a:rPr lang="en-US" dirty="0">
                <a:latin typeface="+mj-lt"/>
              </a:rPr>
              <a:t> </a:t>
            </a:r>
            <a:r>
              <a:rPr lang="en-US" dirty="0" err="1">
                <a:latin typeface="+mj-lt"/>
              </a:rPr>
              <a:t>ağacı</a:t>
            </a:r>
            <a:r>
              <a:rPr lang="en-US" dirty="0">
                <a:latin typeface="+mj-lt"/>
              </a:rPr>
              <a:t> </a:t>
            </a:r>
            <a:r>
              <a:rPr lang="en-US" dirty="0" err="1">
                <a:latin typeface="+mj-lt"/>
              </a:rPr>
              <a:t>içerdiğinden</a:t>
            </a:r>
            <a:r>
              <a:rPr lang="en-US" dirty="0">
                <a:latin typeface="+mj-lt"/>
              </a:rPr>
              <a:t>, </a:t>
            </a:r>
            <a:r>
              <a:rPr lang="en-US" dirty="0" err="1">
                <a:latin typeface="+mj-lt"/>
              </a:rPr>
              <a:t>büyük</a:t>
            </a:r>
            <a:r>
              <a:rPr lang="en-US" dirty="0">
                <a:latin typeface="+mj-lt"/>
              </a:rPr>
              <a:t> </a:t>
            </a:r>
            <a:r>
              <a:rPr lang="en-US" dirty="0" err="1">
                <a:latin typeface="+mj-lt"/>
              </a:rPr>
              <a:t>veri</a:t>
            </a:r>
            <a:r>
              <a:rPr lang="en-US" dirty="0">
                <a:latin typeface="+mj-lt"/>
              </a:rPr>
              <a:t> </a:t>
            </a:r>
            <a:r>
              <a:rPr lang="en-US" dirty="0" err="1">
                <a:latin typeface="+mj-lt"/>
              </a:rPr>
              <a:t>setleriyle</a:t>
            </a:r>
            <a:r>
              <a:rPr lang="en-US" dirty="0">
                <a:latin typeface="+mj-lt"/>
              </a:rPr>
              <a:t> </a:t>
            </a:r>
            <a:r>
              <a:rPr lang="en-US" dirty="0" err="1">
                <a:latin typeface="+mj-lt"/>
              </a:rPr>
              <a:t>çalışırken</a:t>
            </a:r>
            <a:r>
              <a:rPr lang="en-US" dirty="0">
                <a:latin typeface="+mj-lt"/>
              </a:rPr>
              <a:t> </a:t>
            </a:r>
            <a:r>
              <a:rPr lang="en-US" dirty="0" err="1">
                <a:latin typeface="+mj-lt"/>
              </a:rPr>
              <a:t>yüksek</a:t>
            </a:r>
            <a:r>
              <a:rPr lang="en-US" dirty="0">
                <a:latin typeface="+mj-lt"/>
              </a:rPr>
              <a:t> </a:t>
            </a:r>
            <a:r>
              <a:rPr lang="en-US" dirty="0" err="1">
                <a:latin typeface="+mj-lt"/>
              </a:rPr>
              <a:t>hesaplama</a:t>
            </a:r>
            <a:r>
              <a:rPr lang="en-US" dirty="0">
                <a:latin typeface="+mj-lt"/>
              </a:rPr>
              <a:t> </a:t>
            </a:r>
            <a:r>
              <a:rPr lang="en-US" dirty="0" err="1">
                <a:latin typeface="+mj-lt"/>
              </a:rPr>
              <a:t>gücü</a:t>
            </a:r>
            <a:r>
              <a:rPr lang="en-US" dirty="0">
                <a:latin typeface="+mj-lt"/>
              </a:rPr>
              <a:t> </a:t>
            </a:r>
            <a:r>
              <a:rPr lang="en-US" dirty="0" err="1">
                <a:latin typeface="+mj-lt"/>
              </a:rPr>
              <a:t>ve</a:t>
            </a:r>
            <a:r>
              <a:rPr lang="en-US" dirty="0">
                <a:latin typeface="+mj-lt"/>
              </a:rPr>
              <a:t> </a:t>
            </a:r>
            <a:r>
              <a:rPr lang="en-US" dirty="0" err="1">
                <a:latin typeface="+mj-lt"/>
              </a:rPr>
              <a:t>bellek</a:t>
            </a:r>
            <a:r>
              <a:rPr lang="en-US" dirty="0">
                <a:latin typeface="+mj-lt"/>
              </a:rPr>
              <a:t> </a:t>
            </a:r>
            <a:r>
              <a:rPr lang="en-US" dirty="0" err="1">
                <a:latin typeface="+mj-lt"/>
              </a:rPr>
              <a:t>gereksinimi</a:t>
            </a:r>
            <a:r>
              <a:rPr lang="en-US" dirty="0">
                <a:latin typeface="+mj-lt"/>
              </a:rPr>
              <a:t> </a:t>
            </a:r>
            <a:r>
              <a:rPr lang="en-US" dirty="0" err="1">
                <a:latin typeface="+mj-lt"/>
              </a:rPr>
              <a:t>olabilir</a:t>
            </a:r>
            <a:r>
              <a:rPr lang="en-US" dirty="0">
                <a:latin typeface="+mj-lt"/>
              </a:rPr>
              <a:t>.</a:t>
            </a:r>
          </a:p>
          <a:p>
            <a:pPr>
              <a:lnSpc>
                <a:spcPct val="150000"/>
              </a:lnSpc>
              <a:buFont typeface="Arial" panose="020B0604020202020204" pitchFamily="34" charset="0"/>
              <a:buChar char="•"/>
            </a:pPr>
            <a:r>
              <a:rPr lang="en-US" b="1" dirty="0" err="1">
                <a:latin typeface="+mj-lt"/>
              </a:rPr>
              <a:t>Modelin</a:t>
            </a:r>
            <a:r>
              <a:rPr lang="en-US" b="1" dirty="0">
                <a:latin typeface="+mj-lt"/>
              </a:rPr>
              <a:t> </a:t>
            </a:r>
            <a:r>
              <a:rPr lang="en-US" b="1" dirty="0" err="1">
                <a:latin typeface="+mj-lt"/>
              </a:rPr>
              <a:t>Yorumlanabilirliği</a:t>
            </a:r>
            <a:r>
              <a:rPr lang="en-US" dirty="0">
                <a:latin typeface="+mj-lt"/>
              </a:rPr>
              <a:t>: </a:t>
            </a:r>
            <a:r>
              <a:rPr lang="en-US" dirty="0" err="1">
                <a:latin typeface="+mj-lt"/>
              </a:rPr>
              <a:t>Birçok</a:t>
            </a:r>
            <a:r>
              <a:rPr lang="en-US" dirty="0">
                <a:latin typeface="+mj-lt"/>
              </a:rPr>
              <a:t> </a:t>
            </a:r>
            <a:r>
              <a:rPr lang="en-US" dirty="0" err="1">
                <a:latin typeface="+mj-lt"/>
              </a:rPr>
              <a:t>karar</a:t>
            </a:r>
            <a:r>
              <a:rPr lang="en-US" dirty="0">
                <a:latin typeface="+mj-lt"/>
              </a:rPr>
              <a:t> </a:t>
            </a:r>
            <a:r>
              <a:rPr lang="en-US" dirty="0" err="1">
                <a:latin typeface="+mj-lt"/>
              </a:rPr>
              <a:t>ağacı</a:t>
            </a:r>
            <a:r>
              <a:rPr lang="en-US" dirty="0">
                <a:latin typeface="+mj-lt"/>
              </a:rPr>
              <a:t> </a:t>
            </a:r>
            <a:r>
              <a:rPr lang="en-US" dirty="0" err="1">
                <a:latin typeface="+mj-lt"/>
              </a:rPr>
              <a:t>bulunduğundan</a:t>
            </a:r>
            <a:r>
              <a:rPr lang="en-US" dirty="0">
                <a:latin typeface="+mj-lt"/>
              </a:rPr>
              <a:t>, </a:t>
            </a:r>
            <a:r>
              <a:rPr lang="en-US" dirty="0" err="1">
                <a:latin typeface="+mj-lt"/>
              </a:rPr>
              <a:t>modelin</a:t>
            </a:r>
            <a:r>
              <a:rPr lang="en-US" dirty="0">
                <a:latin typeface="+mj-lt"/>
              </a:rPr>
              <a:t> </a:t>
            </a:r>
            <a:r>
              <a:rPr lang="en-US" dirty="0" err="1">
                <a:latin typeface="+mj-lt"/>
              </a:rPr>
              <a:t>sonucu</a:t>
            </a:r>
            <a:r>
              <a:rPr lang="en-US" dirty="0">
                <a:latin typeface="+mj-lt"/>
              </a:rPr>
              <a:t> </a:t>
            </a:r>
            <a:r>
              <a:rPr lang="en-US" dirty="0" err="1">
                <a:latin typeface="+mj-lt"/>
              </a:rPr>
              <a:t>daha</a:t>
            </a:r>
            <a:r>
              <a:rPr lang="en-US" dirty="0">
                <a:latin typeface="+mj-lt"/>
              </a:rPr>
              <a:t> </a:t>
            </a:r>
            <a:r>
              <a:rPr lang="en-US" dirty="0" err="1">
                <a:latin typeface="+mj-lt"/>
              </a:rPr>
              <a:t>az</a:t>
            </a:r>
            <a:r>
              <a:rPr lang="en-US" dirty="0">
                <a:latin typeface="+mj-lt"/>
              </a:rPr>
              <a:t> </a:t>
            </a:r>
            <a:r>
              <a:rPr lang="en-US" dirty="0" err="1">
                <a:latin typeface="+mj-lt"/>
              </a:rPr>
              <a:t>yorumlanabilir</a:t>
            </a:r>
            <a:r>
              <a:rPr lang="en-US" dirty="0">
                <a:latin typeface="+mj-lt"/>
              </a:rPr>
              <a:t> </a:t>
            </a:r>
            <a:r>
              <a:rPr lang="en-US" dirty="0" err="1">
                <a:latin typeface="+mj-lt"/>
              </a:rPr>
              <a:t>ve</a:t>
            </a:r>
            <a:r>
              <a:rPr lang="en-US" dirty="0">
                <a:latin typeface="+mj-lt"/>
              </a:rPr>
              <a:t> </a:t>
            </a:r>
            <a:r>
              <a:rPr lang="en-US" dirty="0" err="1">
                <a:latin typeface="+mj-lt"/>
              </a:rPr>
              <a:t>şeffaf</a:t>
            </a:r>
            <a:r>
              <a:rPr lang="en-US" dirty="0">
                <a:latin typeface="+mj-lt"/>
              </a:rPr>
              <a:t> </a:t>
            </a:r>
            <a:r>
              <a:rPr lang="en-US" dirty="0" err="1">
                <a:latin typeface="+mj-lt"/>
              </a:rPr>
              <a:t>olabilir</a:t>
            </a:r>
            <a:r>
              <a:rPr lang="en-US" dirty="0">
                <a:latin typeface="+mj-lt"/>
              </a:rPr>
              <a:t>.</a:t>
            </a:r>
          </a:p>
          <a:p>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B0D3-908E-9486-4F84-68F28F43B517}"/>
              </a:ext>
            </a:extLst>
          </p:cNvPr>
          <p:cNvSpPr>
            <a:spLocks noGrp="1"/>
          </p:cNvSpPr>
          <p:nvPr>
            <p:ph type="title"/>
          </p:nvPr>
        </p:nvSpPr>
        <p:spPr>
          <a:xfrm>
            <a:off x="803868" y="110531"/>
            <a:ext cx="7534656" cy="914400"/>
          </a:xfrm>
        </p:spPr>
        <p:txBody>
          <a:bodyPr anchor="b">
            <a:normAutofit/>
          </a:bodyPr>
          <a:lstStyle/>
          <a:p>
            <a:r>
              <a:rPr lang="tr-TR" dirty="0"/>
              <a:t>Kullandığımız Veri Seti</a:t>
            </a:r>
            <a:endParaRPr lang="en-US" dirty="0"/>
          </a:p>
        </p:txBody>
      </p:sp>
      <p:pic>
        <p:nvPicPr>
          <p:cNvPr id="9" name="Picture 8">
            <a:extLst>
              <a:ext uri="{FF2B5EF4-FFF2-40B4-BE49-F238E27FC236}">
                <a16:creationId xmlns:a16="http://schemas.microsoft.com/office/drawing/2014/main" id="{7B61E5E6-4851-8FF4-7BB6-128B5DD63A29}"/>
              </a:ext>
            </a:extLst>
          </p:cNvPr>
          <p:cNvPicPr>
            <a:picLocks noChangeAspect="1"/>
          </p:cNvPicPr>
          <p:nvPr/>
        </p:nvPicPr>
        <p:blipFill>
          <a:blip r:embed="rId2"/>
          <a:stretch>
            <a:fillRect/>
          </a:stretch>
        </p:blipFill>
        <p:spPr>
          <a:xfrm>
            <a:off x="492368" y="1095271"/>
            <a:ext cx="10596446" cy="4953838"/>
          </a:xfrm>
          <a:prstGeom prst="rect">
            <a:avLst/>
          </a:prstGeom>
          <a:noFill/>
        </p:spPr>
      </p:pic>
      <p:sp>
        <p:nvSpPr>
          <p:cNvPr id="5" name="Slide Number Placeholder 4">
            <a:extLst>
              <a:ext uri="{FF2B5EF4-FFF2-40B4-BE49-F238E27FC236}">
                <a16:creationId xmlns:a16="http://schemas.microsoft.com/office/drawing/2014/main" id="{8E563AB8-871C-6580-753E-4AD48E609251}"/>
              </a:ext>
            </a:extLst>
          </p:cNvPr>
          <p:cNvSpPr>
            <a:spLocks noGrp="1"/>
          </p:cNvSpPr>
          <p:nvPr>
            <p:ph type="sldNum" sz="quarter" idx="4"/>
          </p:nvPr>
        </p:nvSpPr>
        <p:spPr>
          <a:xfrm>
            <a:off x="11353800" y="5879804"/>
            <a:ext cx="661416" cy="895899"/>
          </a:xfrm>
        </p:spPr>
        <p:txBody>
          <a:bodyPr anchor="ctr">
            <a:normAutofit/>
          </a:bodyPr>
          <a:lstStyle/>
          <a:p>
            <a:pPr>
              <a:spcAft>
                <a:spcPts val="600"/>
              </a:spcAft>
            </a:pPr>
            <a:fld id="{58FB4751-880F-D840-AAA9-3A15815CC996}" type="slidenum">
              <a:rPr lang="en-US" smtClean="0"/>
              <a:pPr>
                <a:spcAft>
                  <a:spcPts val="600"/>
                </a:spcAft>
              </a:pPr>
              <a:t>13</a:t>
            </a:fld>
            <a:endParaRPr lang="en-US"/>
          </a:p>
        </p:txBody>
      </p:sp>
    </p:spTree>
    <p:extLst>
      <p:ext uri="{BB962C8B-B14F-4D97-AF65-F5344CB8AC3E}">
        <p14:creationId xmlns:p14="http://schemas.microsoft.com/office/powerpoint/2010/main" val="3505356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pic>
        <p:nvPicPr>
          <p:cNvPr id="3" name="Picture 2">
            <a:extLst>
              <a:ext uri="{FF2B5EF4-FFF2-40B4-BE49-F238E27FC236}">
                <a16:creationId xmlns:a16="http://schemas.microsoft.com/office/drawing/2014/main" id="{61811CB0-31E7-5CD3-FA10-95926B345039}"/>
              </a:ext>
            </a:extLst>
          </p:cNvPr>
          <p:cNvPicPr>
            <a:picLocks noChangeAspect="1"/>
          </p:cNvPicPr>
          <p:nvPr/>
        </p:nvPicPr>
        <p:blipFill>
          <a:blip r:embed="rId2"/>
          <a:stretch>
            <a:fillRect/>
          </a:stretch>
        </p:blipFill>
        <p:spPr>
          <a:xfrm>
            <a:off x="1195754" y="1111418"/>
            <a:ext cx="6865911" cy="5401001"/>
          </a:xfrm>
          <a:prstGeom prst="rect">
            <a:avLst/>
          </a:prstGeom>
        </p:spPr>
      </p:pic>
      <p:sp>
        <p:nvSpPr>
          <p:cNvPr id="4" name="TextBox 3">
            <a:extLst>
              <a:ext uri="{FF2B5EF4-FFF2-40B4-BE49-F238E27FC236}">
                <a16:creationId xmlns:a16="http://schemas.microsoft.com/office/drawing/2014/main" id="{FDEFD010-920E-277E-CE59-061010B02E09}"/>
              </a:ext>
            </a:extLst>
          </p:cNvPr>
          <p:cNvSpPr txBox="1"/>
          <p:nvPr/>
        </p:nvSpPr>
        <p:spPr>
          <a:xfrm>
            <a:off x="1366576" y="345581"/>
            <a:ext cx="6209881" cy="584775"/>
          </a:xfrm>
          <a:prstGeom prst="rect">
            <a:avLst/>
          </a:prstGeom>
          <a:noFill/>
        </p:spPr>
        <p:txBody>
          <a:bodyPr wrap="square" rtlCol="0">
            <a:spAutoFit/>
          </a:bodyPr>
          <a:lstStyle/>
          <a:p>
            <a:r>
              <a:rPr lang="tr-TR" sz="3200" b="1" dirty="0">
                <a:latin typeface="+mj-lt"/>
              </a:rPr>
              <a:t>Korelasyon Matrisi</a:t>
            </a:r>
            <a:endParaRPr lang="en-US" sz="3200" b="1" dirty="0">
              <a:latin typeface="+mj-lt"/>
            </a:endParaRPr>
          </a:p>
        </p:txBody>
      </p:sp>
    </p:spTree>
    <p:extLst>
      <p:ext uri="{BB962C8B-B14F-4D97-AF65-F5344CB8AC3E}">
        <p14:creationId xmlns:p14="http://schemas.microsoft.com/office/powerpoint/2010/main" val="537809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74A979E-3D81-CAFE-F98A-16153E2CCD41}"/>
              </a:ext>
            </a:extLst>
          </p:cNvPr>
          <p:cNvSpPr>
            <a:spLocks noGrp="1"/>
          </p:cNvSpPr>
          <p:nvPr>
            <p:ph type="title"/>
          </p:nvPr>
        </p:nvSpPr>
        <p:spPr>
          <a:xfrm>
            <a:off x="642026" y="667513"/>
            <a:ext cx="9153728" cy="914400"/>
          </a:xfrm>
        </p:spPr>
        <p:txBody>
          <a:bodyPr/>
          <a:lstStyle/>
          <a:p>
            <a:r>
              <a:rPr lang="tr-TR" b="1" dirty="0"/>
              <a:t>K</a:t>
            </a:r>
            <a:r>
              <a:rPr lang="en-US" b="1" dirty="0" err="1"/>
              <a:t>orelasyon</a:t>
            </a:r>
            <a:r>
              <a:rPr lang="en-US" b="1" dirty="0"/>
              <a:t> </a:t>
            </a:r>
            <a:r>
              <a:rPr lang="tr-TR" b="1" dirty="0"/>
              <a:t>M</a:t>
            </a:r>
            <a:r>
              <a:rPr lang="en-US" b="1" dirty="0" err="1"/>
              <a:t>atris</a:t>
            </a:r>
            <a:r>
              <a:rPr lang="tr-TR" b="1" dirty="0"/>
              <a:t>inin Yorumlanması</a:t>
            </a:r>
            <a:br>
              <a:rPr lang="en-US" dirty="0"/>
            </a:br>
            <a:endParaRPr lang="en-US" dirty="0"/>
          </a:p>
        </p:txBody>
      </p:sp>
      <p:sp>
        <p:nvSpPr>
          <p:cNvPr id="12" name="Content Placeholder 2">
            <a:extLst>
              <a:ext uri="{FF2B5EF4-FFF2-40B4-BE49-F238E27FC236}">
                <a16:creationId xmlns:a16="http://schemas.microsoft.com/office/drawing/2014/main" id="{6123D04E-B638-DA7E-75B3-965A0B437257}"/>
              </a:ext>
            </a:extLst>
          </p:cNvPr>
          <p:cNvSpPr>
            <a:spLocks noGrp="1"/>
          </p:cNvSpPr>
          <p:nvPr>
            <p:ph sz="quarter" idx="10"/>
          </p:nvPr>
        </p:nvSpPr>
        <p:spPr>
          <a:xfrm>
            <a:off x="876300" y="1459148"/>
            <a:ext cx="10300782" cy="4731340"/>
          </a:xfrm>
        </p:spPr>
        <p:txBody>
          <a:bodyPr>
            <a:normAutofit fontScale="92500"/>
          </a:bodyPr>
          <a:lstStyle/>
          <a:p>
            <a:pPr>
              <a:buFont typeface="+mj-lt"/>
              <a:buAutoNum type="arabicPeriod"/>
            </a:pPr>
            <a:r>
              <a:rPr lang="en-US" sz="2400" b="1" dirty="0">
                <a:latin typeface="+mj-lt"/>
              </a:rPr>
              <a:t>Age </a:t>
            </a:r>
            <a:r>
              <a:rPr lang="en-US" sz="2400" b="1" dirty="0" err="1">
                <a:latin typeface="+mj-lt"/>
              </a:rPr>
              <a:t>ve</a:t>
            </a:r>
            <a:r>
              <a:rPr lang="en-US" sz="2400" b="1" dirty="0">
                <a:latin typeface="+mj-lt"/>
              </a:rPr>
              <a:t> Experience</a:t>
            </a:r>
            <a:r>
              <a:rPr lang="en-US" sz="2400" dirty="0">
                <a:latin typeface="+mj-lt"/>
              </a:rPr>
              <a:t>: </a:t>
            </a:r>
            <a:r>
              <a:rPr lang="en-US" sz="2400" dirty="0" err="1">
                <a:latin typeface="+mj-lt"/>
              </a:rPr>
              <a:t>Korelasyon</a:t>
            </a:r>
            <a:r>
              <a:rPr lang="en-US" sz="2400" dirty="0">
                <a:latin typeface="+mj-lt"/>
              </a:rPr>
              <a:t> </a:t>
            </a:r>
            <a:r>
              <a:rPr lang="en-US" sz="2400" dirty="0" err="1">
                <a:latin typeface="+mj-lt"/>
              </a:rPr>
              <a:t>katsayısı</a:t>
            </a:r>
            <a:r>
              <a:rPr lang="en-US" sz="2400" dirty="0">
                <a:latin typeface="+mj-lt"/>
              </a:rPr>
              <a:t> </a:t>
            </a:r>
            <a:r>
              <a:rPr lang="en-US" sz="2400" b="1" dirty="0">
                <a:latin typeface="+mj-lt"/>
              </a:rPr>
              <a:t>0.99</a:t>
            </a:r>
            <a:r>
              <a:rPr lang="en-US" sz="2400" dirty="0">
                <a:latin typeface="+mj-lt"/>
              </a:rPr>
              <a:t> </a:t>
            </a:r>
            <a:r>
              <a:rPr lang="en-US" sz="2400" dirty="0" err="1">
                <a:latin typeface="+mj-lt"/>
              </a:rPr>
              <a:t>olduğundan</a:t>
            </a:r>
            <a:r>
              <a:rPr lang="en-US" sz="2400" dirty="0">
                <a:latin typeface="+mj-lt"/>
              </a:rPr>
              <a:t>, </a:t>
            </a:r>
            <a:r>
              <a:rPr lang="en-US" sz="2400" dirty="0" err="1">
                <a:latin typeface="+mj-lt"/>
              </a:rPr>
              <a:t>neredeyse</a:t>
            </a:r>
            <a:r>
              <a:rPr lang="en-US" sz="2400" dirty="0">
                <a:latin typeface="+mj-lt"/>
              </a:rPr>
              <a:t> </a:t>
            </a:r>
            <a:r>
              <a:rPr lang="en-US" sz="2400" dirty="0" err="1">
                <a:latin typeface="+mj-lt"/>
              </a:rPr>
              <a:t>mükemmel</a:t>
            </a:r>
            <a:r>
              <a:rPr lang="en-US" sz="2400" dirty="0">
                <a:latin typeface="+mj-lt"/>
              </a:rPr>
              <a:t> </a:t>
            </a:r>
            <a:r>
              <a:rPr lang="en-US" sz="2400" dirty="0" err="1">
                <a:latin typeface="+mj-lt"/>
              </a:rPr>
              <a:t>pozitif</a:t>
            </a:r>
            <a:r>
              <a:rPr lang="en-US" sz="2400" dirty="0">
                <a:latin typeface="+mj-lt"/>
              </a:rPr>
              <a:t> </a:t>
            </a:r>
            <a:r>
              <a:rPr lang="en-US" sz="2400" dirty="0" err="1">
                <a:latin typeface="+mj-lt"/>
              </a:rPr>
              <a:t>bir</a:t>
            </a:r>
            <a:r>
              <a:rPr lang="en-US" sz="2400" dirty="0">
                <a:latin typeface="+mj-lt"/>
              </a:rPr>
              <a:t> </a:t>
            </a:r>
            <a:r>
              <a:rPr lang="en-US" sz="2400" dirty="0" err="1">
                <a:latin typeface="+mj-lt"/>
              </a:rPr>
              <a:t>ilişki</a:t>
            </a:r>
            <a:r>
              <a:rPr lang="en-US" sz="2400" dirty="0">
                <a:latin typeface="+mj-lt"/>
              </a:rPr>
              <a:t> </a:t>
            </a:r>
            <a:r>
              <a:rPr lang="en-US" sz="2400" dirty="0" err="1">
                <a:latin typeface="+mj-lt"/>
              </a:rPr>
              <a:t>vardır</a:t>
            </a:r>
            <a:r>
              <a:rPr lang="en-US" sz="2400" dirty="0">
                <a:latin typeface="+mj-lt"/>
              </a:rPr>
              <a:t>. Bu, </a:t>
            </a:r>
            <a:r>
              <a:rPr lang="en-US" sz="2400" dirty="0" err="1">
                <a:latin typeface="+mj-lt"/>
              </a:rPr>
              <a:t>muhtemelen</a:t>
            </a:r>
            <a:r>
              <a:rPr lang="en-US" sz="2400" dirty="0">
                <a:latin typeface="+mj-lt"/>
              </a:rPr>
              <a:t> </a:t>
            </a:r>
            <a:r>
              <a:rPr lang="en-US" sz="2400" dirty="0" err="1">
                <a:latin typeface="+mj-lt"/>
              </a:rPr>
              <a:t>iki</a:t>
            </a:r>
            <a:r>
              <a:rPr lang="en-US" sz="2400" dirty="0">
                <a:latin typeface="+mj-lt"/>
              </a:rPr>
              <a:t> </a:t>
            </a:r>
            <a:r>
              <a:rPr lang="en-US" sz="2400" dirty="0" err="1">
                <a:latin typeface="+mj-lt"/>
              </a:rPr>
              <a:t>değişkenin</a:t>
            </a:r>
            <a:r>
              <a:rPr lang="en-US" sz="2400" dirty="0">
                <a:latin typeface="+mj-lt"/>
              </a:rPr>
              <a:t> </a:t>
            </a:r>
            <a:r>
              <a:rPr lang="en-US" sz="2400" dirty="0" err="1">
                <a:latin typeface="+mj-lt"/>
              </a:rPr>
              <a:t>aynı</a:t>
            </a:r>
            <a:r>
              <a:rPr lang="en-US" sz="2400" dirty="0">
                <a:latin typeface="+mj-lt"/>
              </a:rPr>
              <a:t> </a:t>
            </a:r>
            <a:r>
              <a:rPr lang="en-US" sz="2400" dirty="0" err="1">
                <a:latin typeface="+mj-lt"/>
              </a:rPr>
              <a:t>bilgiyi</a:t>
            </a:r>
            <a:r>
              <a:rPr lang="en-US" sz="2400" dirty="0">
                <a:latin typeface="+mj-lt"/>
              </a:rPr>
              <a:t> </a:t>
            </a:r>
            <a:r>
              <a:rPr lang="en-US" sz="2400" dirty="0" err="1">
                <a:latin typeface="+mj-lt"/>
              </a:rPr>
              <a:t>ifade</a:t>
            </a:r>
            <a:r>
              <a:rPr lang="en-US" sz="2400" dirty="0">
                <a:latin typeface="+mj-lt"/>
              </a:rPr>
              <a:t> </a:t>
            </a:r>
            <a:r>
              <a:rPr lang="en-US" sz="2400" dirty="0" err="1">
                <a:latin typeface="+mj-lt"/>
              </a:rPr>
              <a:t>ettiğini</a:t>
            </a:r>
            <a:r>
              <a:rPr lang="en-US" sz="2400" dirty="0">
                <a:latin typeface="+mj-lt"/>
              </a:rPr>
              <a:t> </a:t>
            </a:r>
            <a:r>
              <a:rPr lang="en-US" sz="2400" dirty="0" err="1">
                <a:latin typeface="+mj-lt"/>
              </a:rPr>
              <a:t>veya</a:t>
            </a:r>
            <a:r>
              <a:rPr lang="en-US" sz="2400" dirty="0">
                <a:latin typeface="+mj-lt"/>
              </a:rPr>
              <a:t> </a:t>
            </a:r>
            <a:r>
              <a:rPr lang="en-US" sz="2400" dirty="0" err="1">
                <a:latin typeface="+mj-lt"/>
              </a:rPr>
              <a:t>birbirine</a:t>
            </a:r>
            <a:r>
              <a:rPr lang="en-US" sz="2400" dirty="0">
                <a:latin typeface="+mj-lt"/>
              </a:rPr>
              <a:t> </a:t>
            </a:r>
            <a:r>
              <a:rPr lang="en-US" sz="2400" dirty="0" err="1">
                <a:latin typeface="+mj-lt"/>
              </a:rPr>
              <a:t>bağımlı</a:t>
            </a:r>
            <a:r>
              <a:rPr lang="en-US" sz="2400" dirty="0">
                <a:latin typeface="+mj-lt"/>
              </a:rPr>
              <a:t> </a:t>
            </a:r>
            <a:r>
              <a:rPr lang="en-US" sz="2400" dirty="0" err="1">
                <a:latin typeface="+mj-lt"/>
              </a:rPr>
              <a:t>olduğunu</a:t>
            </a:r>
            <a:r>
              <a:rPr lang="en-US" sz="2400" dirty="0">
                <a:latin typeface="+mj-lt"/>
              </a:rPr>
              <a:t> </a:t>
            </a:r>
            <a:r>
              <a:rPr lang="en-US" sz="2400" dirty="0" err="1">
                <a:latin typeface="+mj-lt"/>
              </a:rPr>
              <a:t>gösterir</a:t>
            </a:r>
            <a:r>
              <a:rPr lang="en-US" sz="2400" dirty="0">
                <a:latin typeface="+mj-lt"/>
              </a:rPr>
              <a:t>.</a:t>
            </a:r>
          </a:p>
          <a:p>
            <a:pPr>
              <a:buFont typeface="+mj-lt"/>
              <a:buAutoNum type="arabicPeriod"/>
            </a:pPr>
            <a:r>
              <a:rPr lang="en-US" sz="2400" b="1" dirty="0">
                <a:latin typeface="+mj-lt"/>
              </a:rPr>
              <a:t>Income </a:t>
            </a:r>
            <a:r>
              <a:rPr lang="en-US" sz="2400" b="1" dirty="0" err="1">
                <a:latin typeface="+mj-lt"/>
              </a:rPr>
              <a:t>ve</a:t>
            </a:r>
            <a:r>
              <a:rPr lang="en-US" sz="2400" b="1" dirty="0">
                <a:latin typeface="+mj-lt"/>
              </a:rPr>
              <a:t> </a:t>
            </a:r>
            <a:r>
              <a:rPr lang="en-US" sz="2400" b="1" dirty="0" err="1">
                <a:latin typeface="+mj-lt"/>
              </a:rPr>
              <a:t>CCAvg</a:t>
            </a:r>
            <a:r>
              <a:rPr lang="en-US" sz="2400" dirty="0">
                <a:latin typeface="+mj-lt"/>
              </a:rPr>
              <a:t>: </a:t>
            </a:r>
            <a:r>
              <a:rPr lang="en-US" sz="2400" dirty="0" err="1">
                <a:latin typeface="+mj-lt"/>
              </a:rPr>
              <a:t>Korelasyon</a:t>
            </a:r>
            <a:r>
              <a:rPr lang="en-US" sz="2400" dirty="0">
                <a:latin typeface="+mj-lt"/>
              </a:rPr>
              <a:t> </a:t>
            </a:r>
            <a:r>
              <a:rPr lang="en-US" sz="2400" dirty="0" err="1">
                <a:latin typeface="+mj-lt"/>
              </a:rPr>
              <a:t>katsayısı</a:t>
            </a:r>
            <a:r>
              <a:rPr lang="en-US" sz="2400" dirty="0">
                <a:latin typeface="+mj-lt"/>
              </a:rPr>
              <a:t> </a:t>
            </a:r>
            <a:r>
              <a:rPr lang="en-US" sz="2400" b="1" dirty="0">
                <a:latin typeface="+mj-lt"/>
              </a:rPr>
              <a:t>0.65</a:t>
            </a:r>
            <a:r>
              <a:rPr lang="en-US" sz="2400" dirty="0">
                <a:latin typeface="+mj-lt"/>
              </a:rPr>
              <a:t> </a:t>
            </a:r>
            <a:r>
              <a:rPr lang="en-US" sz="2400" dirty="0" err="1">
                <a:latin typeface="+mj-lt"/>
              </a:rPr>
              <a:t>civarında</a:t>
            </a:r>
            <a:r>
              <a:rPr lang="en-US" sz="2400" dirty="0">
                <a:latin typeface="+mj-lt"/>
              </a:rPr>
              <a:t>, </a:t>
            </a:r>
            <a:r>
              <a:rPr lang="en-US" sz="2400" dirty="0" err="1">
                <a:latin typeface="+mj-lt"/>
              </a:rPr>
              <a:t>bu</a:t>
            </a:r>
            <a:r>
              <a:rPr lang="en-US" sz="2400" dirty="0">
                <a:latin typeface="+mj-lt"/>
              </a:rPr>
              <a:t> da </a:t>
            </a:r>
            <a:r>
              <a:rPr lang="en-US" sz="2400" dirty="0" err="1">
                <a:latin typeface="+mj-lt"/>
              </a:rPr>
              <a:t>orta</a:t>
            </a:r>
            <a:r>
              <a:rPr lang="en-US" sz="2400" dirty="0">
                <a:latin typeface="+mj-lt"/>
              </a:rPr>
              <a:t> </a:t>
            </a:r>
            <a:r>
              <a:rPr lang="en-US" sz="2400" dirty="0" err="1">
                <a:latin typeface="+mj-lt"/>
              </a:rPr>
              <a:t>dereceli</a:t>
            </a:r>
            <a:r>
              <a:rPr lang="en-US" sz="2400" dirty="0">
                <a:latin typeface="+mj-lt"/>
              </a:rPr>
              <a:t> </a:t>
            </a:r>
            <a:r>
              <a:rPr lang="en-US" sz="2400" dirty="0" err="1">
                <a:latin typeface="+mj-lt"/>
              </a:rPr>
              <a:t>pozitif</a:t>
            </a:r>
            <a:r>
              <a:rPr lang="en-US" sz="2400" dirty="0">
                <a:latin typeface="+mj-lt"/>
              </a:rPr>
              <a:t> </a:t>
            </a:r>
            <a:r>
              <a:rPr lang="en-US" sz="2400" dirty="0" err="1">
                <a:latin typeface="+mj-lt"/>
              </a:rPr>
              <a:t>bir</a:t>
            </a:r>
            <a:r>
              <a:rPr lang="en-US" sz="2400" dirty="0">
                <a:latin typeface="+mj-lt"/>
              </a:rPr>
              <a:t> </a:t>
            </a:r>
            <a:r>
              <a:rPr lang="en-US" sz="2400" dirty="0" err="1">
                <a:latin typeface="+mj-lt"/>
              </a:rPr>
              <a:t>ilişkiyi</a:t>
            </a:r>
            <a:r>
              <a:rPr lang="en-US" sz="2400" dirty="0">
                <a:latin typeface="+mj-lt"/>
              </a:rPr>
              <a:t> </a:t>
            </a:r>
            <a:r>
              <a:rPr lang="en-US" sz="2400" dirty="0" err="1">
                <a:latin typeface="+mj-lt"/>
              </a:rPr>
              <a:t>ifade</a:t>
            </a:r>
            <a:r>
              <a:rPr lang="en-US" sz="2400" dirty="0">
                <a:latin typeface="+mj-lt"/>
              </a:rPr>
              <a:t> </a:t>
            </a:r>
            <a:r>
              <a:rPr lang="en-US" sz="2400" dirty="0" err="1">
                <a:latin typeface="+mj-lt"/>
              </a:rPr>
              <a:t>eder</a:t>
            </a:r>
            <a:r>
              <a:rPr lang="en-US" sz="2400" dirty="0">
                <a:latin typeface="+mj-lt"/>
              </a:rPr>
              <a:t>. Yani </a:t>
            </a:r>
            <a:r>
              <a:rPr lang="en-US" sz="2400" dirty="0" err="1">
                <a:latin typeface="+mj-lt"/>
              </a:rPr>
              <a:t>geliri</a:t>
            </a:r>
            <a:r>
              <a:rPr lang="en-US" sz="2400" dirty="0">
                <a:latin typeface="+mj-lt"/>
              </a:rPr>
              <a:t> </a:t>
            </a:r>
            <a:r>
              <a:rPr lang="en-US" sz="2400" dirty="0" err="1">
                <a:latin typeface="+mj-lt"/>
              </a:rPr>
              <a:t>yüksek</a:t>
            </a:r>
            <a:r>
              <a:rPr lang="en-US" sz="2400" dirty="0">
                <a:latin typeface="+mj-lt"/>
              </a:rPr>
              <a:t> </a:t>
            </a:r>
            <a:r>
              <a:rPr lang="en-US" sz="2400" dirty="0" err="1">
                <a:latin typeface="+mj-lt"/>
              </a:rPr>
              <a:t>olan</a:t>
            </a:r>
            <a:r>
              <a:rPr lang="en-US" sz="2400" dirty="0">
                <a:latin typeface="+mj-lt"/>
              </a:rPr>
              <a:t> </a:t>
            </a:r>
            <a:r>
              <a:rPr lang="en-US" sz="2400" dirty="0" err="1">
                <a:latin typeface="+mj-lt"/>
              </a:rPr>
              <a:t>bireylerin</a:t>
            </a:r>
            <a:r>
              <a:rPr lang="en-US" sz="2400" dirty="0">
                <a:latin typeface="+mj-lt"/>
              </a:rPr>
              <a:t> </a:t>
            </a:r>
            <a:r>
              <a:rPr lang="en-US" sz="2400" dirty="0" err="1">
                <a:latin typeface="+mj-lt"/>
              </a:rPr>
              <a:t>kredi</a:t>
            </a:r>
            <a:r>
              <a:rPr lang="en-US" sz="2400" dirty="0">
                <a:latin typeface="+mj-lt"/>
              </a:rPr>
              <a:t> </a:t>
            </a:r>
            <a:r>
              <a:rPr lang="en-US" sz="2400" dirty="0" err="1">
                <a:latin typeface="+mj-lt"/>
              </a:rPr>
              <a:t>kartı</a:t>
            </a:r>
            <a:r>
              <a:rPr lang="en-US" sz="2400" dirty="0">
                <a:latin typeface="+mj-lt"/>
              </a:rPr>
              <a:t> </a:t>
            </a:r>
            <a:r>
              <a:rPr lang="en-US" sz="2400" dirty="0" err="1">
                <a:latin typeface="+mj-lt"/>
              </a:rPr>
              <a:t>harcamalarının</a:t>
            </a:r>
            <a:r>
              <a:rPr lang="en-US" sz="2400" dirty="0">
                <a:latin typeface="+mj-lt"/>
              </a:rPr>
              <a:t> da </a:t>
            </a:r>
            <a:r>
              <a:rPr lang="en-US" sz="2400" dirty="0" err="1">
                <a:latin typeface="+mj-lt"/>
              </a:rPr>
              <a:t>yüksek</a:t>
            </a:r>
            <a:r>
              <a:rPr lang="en-US" sz="2400" dirty="0">
                <a:latin typeface="+mj-lt"/>
              </a:rPr>
              <a:t> </a:t>
            </a:r>
            <a:r>
              <a:rPr lang="en-US" sz="2400" dirty="0" err="1">
                <a:latin typeface="+mj-lt"/>
              </a:rPr>
              <a:t>olma</a:t>
            </a:r>
            <a:r>
              <a:rPr lang="en-US" sz="2400" dirty="0">
                <a:latin typeface="+mj-lt"/>
              </a:rPr>
              <a:t> </a:t>
            </a:r>
            <a:r>
              <a:rPr lang="en-US" sz="2400" dirty="0" err="1">
                <a:latin typeface="+mj-lt"/>
              </a:rPr>
              <a:t>eğiliminde</a:t>
            </a:r>
            <a:r>
              <a:rPr lang="en-US" sz="2400" dirty="0">
                <a:latin typeface="+mj-lt"/>
              </a:rPr>
              <a:t> </a:t>
            </a:r>
            <a:r>
              <a:rPr lang="en-US" sz="2400" dirty="0" err="1">
                <a:latin typeface="+mj-lt"/>
              </a:rPr>
              <a:t>olduğunu</a:t>
            </a:r>
            <a:r>
              <a:rPr lang="en-US" sz="2400" dirty="0">
                <a:latin typeface="+mj-lt"/>
              </a:rPr>
              <a:t> </a:t>
            </a:r>
            <a:r>
              <a:rPr lang="en-US" sz="2400" dirty="0" err="1">
                <a:latin typeface="+mj-lt"/>
              </a:rPr>
              <a:t>gösterir</a:t>
            </a:r>
            <a:r>
              <a:rPr lang="en-US" sz="2400" dirty="0">
                <a:latin typeface="+mj-lt"/>
              </a:rPr>
              <a:t>.</a:t>
            </a:r>
          </a:p>
          <a:p>
            <a:pPr>
              <a:buFont typeface="+mj-lt"/>
              <a:buAutoNum type="arabicPeriod"/>
            </a:pPr>
            <a:r>
              <a:rPr lang="en-US" sz="2400" b="1" dirty="0" err="1">
                <a:latin typeface="+mj-lt"/>
              </a:rPr>
              <a:t>Personal.Loan</a:t>
            </a:r>
            <a:r>
              <a:rPr lang="en-US" sz="2400" b="1" dirty="0">
                <a:latin typeface="+mj-lt"/>
              </a:rPr>
              <a:t> </a:t>
            </a:r>
            <a:r>
              <a:rPr lang="en-US" sz="2400" b="1" dirty="0" err="1">
                <a:latin typeface="+mj-lt"/>
              </a:rPr>
              <a:t>ve</a:t>
            </a:r>
            <a:r>
              <a:rPr lang="en-US" sz="2400" b="1" dirty="0">
                <a:latin typeface="+mj-lt"/>
              </a:rPr>
              <a:t> Income</a:t>
            </a:r>
            <a:r>
              <a:rPr lang="en-US" sz="2400" dirty="0">
                <a:latin typeface="+mj-lt"/>
              </a:rPr>
              <a:t>: </a:t>
            </a:r>
            <a:r>
              <a:rPr lang="en-US" sz="2400" dirty="0" err="1">
                <a:latin typeface="+mj-lt"/>
              </a:rPr>
              <a:t>Korelasyon</a:t>
            </a:r>
            <a:r>
              <a:rPr lang="en-US" sz="2400" dirty="0">
                <a:latin typeface="+mj-lt"/>
              </a:rPr>
              <a:t> </a:t>
            </a:r>
            <a:r>
              <a:rPr lang="en-US" sz="2400" dirty="0" err="1">
                <a:latin typeface="+mj-lt"/>
              </a:rPr>
              <a:t>katsayısı</a:t>
            </a:r>
            <a:r>
              <a:rPr lang="en-US" sz="2400" dirty="0">
                <a:latin typeface="+mj-lt"/>
              </a:rPr>
              <a:t> </a:t>
            </a:r>
            <a:r>
              <a:rPr lang="en-US" sz="2400" b="1" dirty="0">
                <a:latin typeface="+mj-lt"/>
              </a:rPr>
              <a:t>0.50</a:t>
            </a:r>
            <a:r>
              <a:rPr lang="en-US" sz="2400" dirty="0">
                <a:latin typeface="+mj-lt"/>
              </a:rPr>
              <a:t>, </a:t>
            </a:r>
            <a:r>
              <a:rPr lang="en-US" sz="2400" dirty="0" err="1">
                <a:latin typeface="+mj-lt"/>
              </a:rPr>
              <a:t>bu</a:t>
            </a:r>
            <a:r>
              <a:rPr lang="en-US" sz="2400" dirty="0">
                <a:latin typeface="+mj-lt"/>
              </a:rPr>
              <a:t> da </a:t>
            </a:r>
            <a:r>
              <a:rPr lang="en-US" sz="2400" dirty="0" err="1">
                <a:latin typeface="+mj-lt"/>
              </a:rPr>
              <a:t>geliri</a:t>
            </a:r>
            <a:r>
              <a:rPr lang="en-US" sz="2400" dirty="0">
                <a:latin typeface="+mj-lt"/>
              </a:rPr>
              <a:t> </a:t>
            </a:r>
            <a:r>
              <a:rPr lang="en-US" sz="2400" dirty="0" err="1">
                <a:latin typeface="+mj-lt"/>
              </a:rPr>
              <a:t>yüksek</a:t>
            </a:r>
            <a:r>
              <a:rPr lang="en-US" sz="2400" dirty="0">
                <a:latin typeface="+mj-lt"/>
              </a:rPr>
              <a:t> </a:t>
            </a:r>
            <a:r>
              <a:rPr lang="en-US" sz="2400" dirty="0" err="1">
                <a:latin typeface="+mj-lt"/>
              </a:rPr>
              <a:t>olan</a:t>
            </a:r>
            <a:r>
              <a:rPr lang="en-US" sz="2400" dirty="0">
                <a:latin typeface="+mj-lt"/>
              </a:rPr>
              <a:t> </a:t>
            </a:r>
            <a:r>
              <a:rPr lang="en-US" sz="2400" dirty="0" err="1">
                <a:latin typeface="+mj-lt"/>
              </a:rPr>
              <a:t>bireylerin</a:t>
            </a:r>
            <a:r>
              <a:rPr lang="en-US" sz="2400" dirty="0">
                <a:latin typeface="+mj-lt"/>
              </a:rPr>
              <a:t> </a:t>
            </a:r>
            <a:r>
              <a:rPr lang="en-US" sz="2400" dirty="0" err="1">
                <a:latin typeface="+mj-lt"/>
              </a:rPr>
              <a:t>kişisel</a:t>
            </a:r>
            <a:r>
              <a:rPr lang="en-US" sz="2400" dirty="0">
                <a:latin typeface="+mj-lt"/>
              </a:rPr>
              <a:t> </a:t>
            </a:r>
            <a:r>
              <a:rPr lang="en-US" sz="2400" dirty="0" err="1">
                <a:latin typeface="+mj-lt"/>
              </a:rPr>
              <a:t>kredi</a:t>
            </a:r>
            <a:r>
              <a:rPr lang="en-US" sz="2400" dirty="0">
                <a:latin typeface="+mj-lt"/>
              </a:rPr>
              <a:t> alma </a:t>
            </a:r>
            <a:r>
              <a:rPr lang="en-US" sz="2400" dirty="0" err="1">
                <a:latin typeface="+mj-lt"/>
              </a:rPr>
              <a:t>olasılığının</a:t>
            </a:r>
            <a:r>
              <a:rPr lang="en-US" sz="2400" dirty="0">
                <a:latin typeface="+mj-lt"/>
              </a:rPr>
              <a:t> </a:t>
            </a:r>
            <a:r>
              <a:rPr lang="en-US" sz="2400" dirty="0" err="1">
                <a:latin typeface="+mj-lt"/>
              </a:rPr>
              <a:t>daha</a:t>
            </a:r>
            <a:r>
              <a:rPr lang="en-US" sz="2400" dirty="0">
                <a:latin typeface="+mj-lt"/>
              </a:rPr>
              <a:t> </a:t>
            </a:r>
            <a:r>
              <a:rPr lang="en-US" sz="2400" dirty="0" err="1">
                <a:latin typeface="+mj-lt"/>
              </a:rPr>
              <a:t>fazla</a:t>
            </a:r>
            <a:r>
              <a:rPr lang="en-US" sz="2400" dirty="0">
                <a:latin typeface="+mj-lt"/>
              </a:rPr>
              <a:t> </a:t>
            </a:r>
            <a:r>
              <a:rPr lang="en-US" sz="2400" dirty="0" err="1">
                <a:latin typeface="+mj-lt"/>
              </a:rPr>
              <a:t>olabileceğini</a:t>
            </a:r>
            <a:r>
              <a:rPr lang="en-US" sz="2400" dirty="0">
                <a:latin typeface="+mj-lt"/>
              </a:rPr>
              <a:t> </a:t>
            </a:r>
            <a:r>
              <a:rPr lang="en-US" sz="2400" dirty="0" err="1">
                <a:latin typeface="+mj-lt"/>
              </a:rPr>
              <a:t>gösterir</a:t>
            </a:r>
            <a:r>
              <a:rPr lang="en-US" sz="2400" dirty="0">
                <a:latin typeface="+mj-lt"/>
              </a:rPr>
              <a:t>.</a:t>
            </a:r>
          </a:p>
          <a:p>
            <a:pPr>
              <a:buFont typeface="+mj-lt"/>
              <a:buAutoNum type="arabicPeriod"/>
            </a:pPr>
            <a:r>
              <a:rPr lang="en-US" sz="2400" b="1" dirty="0" err="1">
                <a:latin typeface="+mj-lt"/>
              </a:rPr>
              <a:t>CD.Account</a:t>
            </a:r>
            <a:r>
              <a:rPr lang="en-US" sz="2400" b="1" dirty="0">
                <a:latin typeface="+mj-lt"/>
              </a:rPr>
              <a:t> </a:t>
            </a:r>
            <a:r>
              <a:rPr lang="en-US" sz="2400" b="1" dirty="0" err="1">
                <a:latin typeface="+mj-lt"/>
              </a:rPr>
              <a:t>ile</a:t>
            </a:r>
            <a:r>
              <a:rPr lang="en-US" sz="2400" b="1" dirty="0">
                <a:latin typeface="+mj-lt"/>
              </a:rPr>
              <a:t> </a:t>
            </a:r>
            <a:r>
              <a:rPr lang="en-US" sz="2400" b="1" dirty="0" err="1">
                <a:latin typeface="+mj-lt"/>
              </a:rPr>
              <a:t>Personal.Loan</a:t>
            </a:r>
            <a:r>
              <a:rPr lang="en-US" sz="2400" dirty="0">
                <a:latin typeface="+mj-lt"/>
              </a:rPr>
              <a:t>: </a:t>
            </a:r>
            <a:r>
              <a:rPr lang="en-US" sz="2400" dirty="0" err="1">
                <a:latin typeface="+mj-lt"/>
              </a:rPr>
              <a:t>Korelasyon</a:t>
            </a:r>
            <a:r>
              <a:rPr lang="en-US" sz="2400" dirty="0">
                <a:latin typeface="+mj-lt"/>
              </a:rPr>
              <a:t> </a:t>
            </a:r>
            <a:r>
              <a:rPr lang="en-US" sz="2400" b="1" dirty="0">
                <a:latin typeface="+mj-lt"/>
              </a:rPr>
              <a:t>0.32</a:t>
            </a:r>
            <a:r>
              <a:rPr lang="en-US" sz="2400" dirty="0">
                <a:latin typeface="+mj-lt"/>
              </a:rPr>
              <a:t> </a:t>
            </a:r>
            <a:r>
              <a:rPr lang="en-US" sz="2400" dirty="0" err="1">
                <a:latin typeface="+mj-lt"/>
              </a:rPr>
              <a:t>olduğundan</a:t>
            </a:r>
            <a:r>
              <a:rPr lang="en-US" sz="2400" dirty="0">
                <a:latin typeface="+mj-lt"/>
              </a:rPr>
              <a:t>, </a:t>
            </a:r>
            <a:r>
              <a:rPr lang="en-US" sz="2400" dirty="0" err="1">
                <a:latin typeface="+mj-lt"/>
              </a:rPr>
              <a:t>bunlar</a:t>
            </a:r>
            <a:r>
              <a:rPr lang="en-US" sz="2400" dirty="0">
                <a:latin typeface="+mj-lt"/>
              </a:rPr>
              <a:t> </a:t>
            </a:r>
            <a:r>
              <a:rPr lang="en-US" sz="2400" dirty="0" err="1">
                <a:latin typeface="+mj-lt"/>
              </a:rPr>
              <a:t>arasında</a:t>
            </a:r>
            <a:r>
              <a:rPr lang="en-US" sz="2400" dirty="0">
                <a:latin typeface="+mj-lt"/>
              </a:rPr>
              <a:t> </a:t>
            </a:r>
            <a:r>
              <a:rPr lang="en-US" sz="2400" dirty="0" err="1">
                <a:latin typeface="+mj-lt"/>
              </a:rPr>
              <a:t>orta</a:t>
            </a:r>
            <a:r>
              <a:rPr lang="en-US" sz="2400" dirty="0">
                <a:latin typeface="+mj-lt"/>
              </a:rPr>
              <a:t> </a:t>
            </a:r>
            <a:r>
              <a:rPr lang="en-US" sz="2400" dirty="0" err="1">
                <a:latin typeface="+mj-lt"/>
              </a:rPr>
              <a:t>düzeyde</a:t>
            </a:r>
            <a:r>
              <a:rPr lang="en-US" sz="2400" dirty="0">
                <a:latin typeface="+mj-lt"/>
              </a:rPr>
              <a:t> </a:t>
            </a:r>
            <a:r>
              <a:rPr lang="en-US" sz="2400" dirty="0" err="1">
                <a:latin typeface="+mj-lt"/>
              </a:rPr>
              <a:t>pozitif</a:t>
            </a:r>
            <a:r>
              <a:rPr lang="en-US" sz="2400" dirty="0">
                <a:latin typeface="+mj-lt"/>
              </a:rPr>
              <a:t> </a:t>
            </a:r>
            <a:r>
              <a:rPr lang="en-US" sz="2400" dirty="0" err="1">
                <a:latin typeface="+mj-lt"/>
              </a:rPr>
              <a:t>bir</a:t>
            </a:r>
            <a:r>
              <a:rPr lang="en-US" sz="2400" dirty="0">
                <a:latin typeface="+mj-lt"/>
              </a:rPr>
              <a:t> </a:t>
            </a:r>
            <a:r>
              <a:rPr lang="en-US" sz="2400" dirty="0" err="1">
                <a:latin typeface="+mj-lt"/>
              </a:rPr>
              <a:t>ilişki</a:t>
            </a:r>
            <a:r>
              <a:rPr lang="en-US" sz="2400" dirty="0">
                <a:latin typeface="+mj-lt"/>
              </a:rPr>
              <a:t> </a:t>
            </a:r>
            <a:r>
              <a:rPr lang="en-US" sz="2400" dirty="0" err="1">
                <a:latin typeface="+mj-lt"/>
              </a:rPr>
              <a:t>vardır</a:t>
            </a:r>
            <a:r>
              <a:rPr lang="en-US" sz="2400" dirty="0">
                <a:latin typeface="+mj-lt"/>
              </a:rPr>
              <a:t>.</a:t>
            </a:r>
          </a:p>
          <a:p>
            <a:pPr>
              <a:buFont typeface="+mj-lt"/>
              <a:buAutoNum type="arabicPeriod"/>
            </a:pPr>
            <a:r>
              <a:rPr lang="en-US" sz="2400" b="1" dirty="0">
                <a:latin typeface="+mj-lt"/>
              </a:rPr>
              <a:t>Mortgage </a:t>
            </a:r>
            <a:r>
              <a:rPr lang="en-US" sz="2400" b="1" dirty="0" err="1">
                <a:latin typeface="+mj-lt"/>
              </a:rPr>
              <a:t>ve</a:t>
            </a:r>
            <a:r>
              <a:rPr lang="en-US" sz="2400" b="1" dirty="0">
                <a:latin typeface="+mj-lt"/>
              </a:rPr>
              <a:t> </a:t>
            </a:r>
            <a:r>
              <a:rPr lang="en-US" sz="2400" b="1" dirty="0" err="1">
                <a:latin typeface="+mj-lt"/>
              </a:rPr>
              <a:t>diğer</a:t>
            </a:r>
            <a:r>
              <a:rPr lang="en-US" sz="2400" b="1" dirty="0">
                <a:latin typeface="+mj-lt"/>
              </a:rPr>
              <a:t> </a:t>
            </a:r>
            <a:r>
              <a:rPr lang="en-US" sz="2400" b="1" dirty="0" err="1">
                <a:latin typeface="+mj-lt"/>
              </a:rPr>
              <a:t>değişkenler</a:t>
            </a:r>
            <a:r>
              <a:rPr lang="en-US" sz="2400" dirty="0">
                <a:latin typeface="+mj-lt"/>
              </a:rPr>
              <a:t>: Mortgage </a:t>
            </a:r>
            <a:r>
              <a:rPr lang="en-US" sz="2400" dirty="0" err="1">
                <a:latin typeface="+mj-lt"/>
              </a:rPr>
              <a:t>değişkeni</a:t>
            </a:r>
            <a:r>
              <a:rPr lang="en-US" sz="2400" dirty="0">
                <a:latin typeface="+mj-lt"/>
              </a:rPr>
              <a:t>, </a:t>
            </a:r>
            <a:r>
              <a:rPr lang="en-US" sz="2400" dirty="0" err="1">
                <a:latin typeface="+mj-lt"/>
              </a:rPr>
              <a:t>genel</a:t>
            </a:r>
            <a:r>
              <a:rPr lang="en-US" sz="2400" dirty="0">
                <a:latin typeface="+mj-lt"/>
              </a:rPr>
              <a:t> </a:t>
            </a:r>
            <a:r>
              <a:rPr lang="en-US" sz="2400" dirty="0" err="1">
                <a:latin typeface="+mj-lt"/>
              </a:rPr>
              <a:t>olarak</a:t>
            </a:r>
            <a:r>
              <a:rPr lang="en-US" sz="2400" dirty="0">
                <a:latin typeface="+mj-lt"/>
              </a:rPr>
              <a:t> </a:t>
            </a:r>
            <a:r>
              <a:rPr lang="en-US" sz="2400" dirty="0" err="1">
                <a:latin typeface="+mj-lt"/>
              </a:rPr>
              <a:t>düşük</a:t>
            </a:r>
            <a:r>
              <a:rPr lang="en-US" sz="2400" dirty="0">
                <a:latin typeface="+mj-lt"/>
              </a:rPr>
              <a:t> </a:t>
            </a:r>
            <a:r>
              <a:rPr lang="en-US" sz="2400" dirty="0" err="1">
                <a:latin typeface="+mj-lt"/>
              </a:rPr>
              <a:t>korelasyon</a:t>
            </a:r>
            <a:r>
              <a:rPr lang="en-US" sz="2400" dirty="0">
                <a:latin typeface="+mj-lt"/>
              </a:rPr>
              <a:t> </a:t>
            </a:r>
            <a:r>
              <a:rPr lang="en-US" sz="2400" dirty="0" err="1">
                <a:latin typeface="+mj-lt"/>
              </a:rPr>
              <a:t>değerlerine</a:t>
            </a:r>
            <a:r>
              <a:rPr lang="en-US" sz="2400" dirty="0">
                <a:latin typeface="+mj-lt"/>
              </a:rPr>
              <a:t> </a:t>
            </a:r>
            <a:r>
              <a:rPr lang="en-US" sz="2400" dirty="0" err="1">
                <a:latin typeface="+mj-lt"/>
              </a:rPr>
              <a:t>sahiptir</a:t>
            </a:r>
            <a:r>
              <a:rPr lang="en-US" sz="2400" dirty="0">
                <a:latin typeface="+mj-lt"/>
              </a:rPr>
              <a:t>.</a:t>
            </a:r>
          </a:p>
          <a:p>
            <a:endParaRPr lang="en-US" dirty="0"/>
          </a:p>
        </p:txBody>
      </p:sp>
      <p:sp>
        <p:nvSpPr>
          <p:cNvPr id="5" name="Slide Number Placeholder 4">
            <a:extLst>
              <a:ext uri="{FF2B5EF4-FFF2-40B4-BE49-F238E27FC236}">
                <a16:creationId xmlns:a16="http://schemas.microsoft.com/office/drawing/2014/main" id="{F787DDF6-EB72-01F5-1699-203002CB6879}"/>
              </a:ext>
            </a:extLst>
          </p:cNvPr>
          <p:cNvSpPr>
            <a:spLocks noGrp="1"/>
          </p:cNvSpPr>
          <p:nvPr>
            <p:ph type="sldNum" sz="quarter" idx="4"/>
          </p:nvPr>
        </p:nvSpPr>
        <p:spPr>
          <a:xfrm>
            <a:off x="11353800" y="5879804"/>
            <a:ext cx="661416" cy="895899"/>
          </a:xfrm>
        </p:spPr>
        <p:txBody>
          <a:bodyPr anchor="ctr">
            <a:normAutofit/>
          </a:bodyPr>
          <a:lstStyle/>
          <a:p>
            <a:pPr>
              <a:spcAft>
                <a:spcPts val="600"/>
              </a:spcAft>
            </a:pPr>
            <a:fld id="{58FB4751-880F-D840-AAA9-3A15815CC996}" type="slidenum">
              <a:rPr lang="en-US" smtClean="0"/>
              <a:pPr>
                <a:spcAft>
                  <a:spcPts val="600"/>
                </a:spcAft>
              </a:pPr>
              <a:t>15</a:t>
            </a:fld>
            <a:endParaRPr lang="en-US"/>
          </a:p>
        </p:txBody>
      </p:sp>
    </p:spTree>
    <p:extLst>
      <p:ext uri="{BB962C8B-B14F-4D97-AF65-F5344CB8AC3E}">
        <p14:creationId xmlns:p14="http://schemas.microsoft.com/office/powerpoint/2010/main" val="1943692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B4D9DA-63AA-16EA-5063-6EFC2CD5CB51}"/>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
        <p:nvSpPr>
          <p:cNvPr id="5" name="Rectangle 1">
            <a:extLst>
              <a:ext uri="{FF2B5EF4-FFF2-40B4-BE49-F238E27FC236}">
                <a16:creationId xmlns:a16="http://schemas.microsoft.com/office/drawing/2014/main" id="{BB9CBAFA-5778-6C5B-0F86-8E3E5653AA53}"/>
              </a:ext>
            </a:extLst>
          </p:cNvPr>
          <p:cNvSpPr>
            <a:spLocks noGrp="1" noChangeArrowheads="1"/>
          </p:cNvSpPr>
          <p:nvPr>
            <p:ph sz="quarter" idx="10"/>
          </p:nvPr>
        </p:nvSpPr>
        <p:spPr bwMode="auto">
          <a:xfrm>
            <a:off x="2108082" y="2158425"/>
            <a:ext cx="776549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j-lt"/>
              </a:rPr>
              <a:t>Age </a:t>
            </a:r>
            <a:r>
              <a:rPr kumimoji="0" lang="en-US" altLang="en-US" sz="2400" b="1" i="0" u="none" strike="noStrike" cap="none" normalizeH="0" baseline="0" dirty="0" err="1">
                <a:ln>
                  <a:noFill/>
                </a:ln>
                <a:solidFill>
                  <a:schemeClr val="tx1"/>
                </a:solidFill>
                <a:effectLst/>
                <a:latin typeface="+mj-lt"/>
              </a:rPr>
              <a:t>ve</a:t>
            </a:r>
            <a:r>
              <a:rPr kumimoji="0" lang="en-US" altLang="en-US" sz="2400" b="1" i="0" u="none" strike="noStrike" cap="none" normalizeH="0" baseline="0" dirty="0">
                <a:ln>
                  <a:noFill/>
                </a:ln>
                <a:solidFill>
                  <a:schemeClr val="tx1"/>
                </a:solidFill>
                <a:effectLst/>
                <a:latin typeface="+mj-lt"/>
              </a:rPr>
              <a:t> Experience</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gibi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yüksek</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korelasyonlu</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değişkenlerden</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biri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çıkarılabilir</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çünkü</a:t>
            </a:r>
            <a:r>
              <a:rPr kumimoji="0" lang="en-US" altLang="en-US" sz="2400" b="0" i="0" u="none" strike="noStrike" cap="none" normalizeH="0" baseline="0" dirty="0">
                <a:ln>
                  <a:noFill/>
                </a:ln>
                <a:solidFill>
                  <a:schemeClr val="tx1"/>
                </a:solidFill>
                <a:effectLst/>
                <a:latin typeface="+mj-lt"/>
              </a:rPr>
              <a:t> her </a:t>
            </a:r>
            <a:r>
              <a:rPr kumimoji="0" lang="en-US" altLang="en-US" sz="2400" b="0" i="0" u="none" strike="noStrike" cap="none" normalizeH="0" baseline="0" dirty="0" err="1">
                <a:ln>
                  <a:noFill/>
                </a:ln>
                <a:solidFill>
                  <a:schemeClr val="tx1"/>
                </a:solidFill>
                <a:effectLst/>
                <a:latin typeface="+mj-lt"/>
              </a:rPr>
              <a:t>iki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değişken</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aynı</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bilgiyi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verebilir</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ve</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bu</a:t>
            </a:r>
            <a:r>
              <a:rPr kumimoji="0" lang="en-US" altLang="en-US" sz="2400" b="0" i="0" u="none" strike="noStrike" cap="none" normalizeH="0" baseline="0" dirty="0">
                <a:ln>
                  <a:noFill/>
                </a:ln>
                <a:solidFill>
                  <a:schemeClr val="tx1"/>
                </a:solidFill>
                <a:effectLst/>
                <a:latin typeface="+mj-lt"/>
              </a:rPr>
              <a:t> durum </a:t>
            </a:r>
            <a:r>
              <a:rPr kumimoji="0" lang="en-US" altLang="en-US" sz="2400" b="1" i="0" u="none" strike="noStrike" cap="none" normalizeH="0" baseline="0" dirty="0" err="1">
                <a:ln>
                  <a:noFill/>
                </a:ln>
                <a:solidFill>
                  <a:schemeClr val="tx1"/>
                </a:solidFill>
                <a:effectLst/>
                <a:latin typeface="+mj-lt"/>
              </a:rPr>
              <a:t>çoklu</a:t>
            </a:r>
            <a:r>
              <a:rPr kumimoji="0" lang="en-US" altLang="en-US" sz="2400" b="1" i="0" u="none" strike="noStrike" cap="none" normalizeH="0" baseline="0" dirty="0">
                <a:ln>
                  <a:noFill/>
                </a:ln>
                <a:solidFill>
                  <a:schemeClr val="tx1"/>
                </a:solidFill>
                <a:effectLst/>
                <a:latin typeface="+mj-lt"/>
              </a:rPr>
              <a:t> </a:t>
            </a:r>
            <a:r>
              <a:rPr kumimoji="0" lang="en-US" altLang="en-US" sz="2400" b="1" i="0" u="none" strike="noStrike" cap="none" normalizeH="0" baseline="0" dirty="0" err="1">
                <a:ln>
                  <a:noFill/>
                </a:ln>
                <a:solidFill>
                  <a:schemeClr val="tx1"/>
                </a:solidFill>
                <a:effectLst/>
                <a:latin typeface="+mj-lt"/>
              </a:rPr>
              <a:t>doğrusal</a:t>
            </a:r>
            <a:r>
              <a:rPr kumimoji="0" lang="en-US" altLang="en-US" sz="2400" b="1" i="0" u="none" strike="noStrike" cap="none" normalizeH="0" baseline="0" dirty="0">
                <a:ln>
                  <a:noFill/>
                </a:ln>
                <a:solidFill>
                  <a:schemeClr val="tx1"/>
                </a:solidFill>
                <a:effectLst/>
                <a:latin typeface="+mj-lt"/>
              </a:rPr>
              <a:t> </a:t>
            </a:r>
            <a:r>
              <a:rPr kumimoji="0" lang="en-US" altLang="en-US" sz="2400" b="1" i="0" u="none" strike="noStrike" cap="none" normalizeH="0" baseline="0" dirty="0" err="1">
                <a:ln>
                  <a:noFill/>
                </a:ln>
                <a:solidFill>
                  <a:schemeClr val="tx1"/>
                </a:solidFill>
                <a:effectLst/>
                <a:latin typeface="+mj-lt"/>
              </a:rPr>
              <a:t>bağlantıya</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neden</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olabilir</a:t>
            </a:r>
            <a:r>
              <a:rPr kumimoji="0" lang="en-US" altLang="en-US" sz="2400" b="0" i="0" u="none" strike="noStrike" cap="none" normalizeH="0" baseline="0" dirty="0">
                <a:ln>
                  <a:noFill/>
                </a:ln>
                <a:solidFill>
                  <a:schemeClr val="tx1"/>
                </a:solidFill>
                <a:effectLst/>
                <a:latin typeface="+mj-lt"/>
              </a:rPr>
              <a:t>.</a:t>
            </a:r>
            <a:endParaRPr kumimoji="0" lang="tr-TR" altLang="en-US"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mj-lt"/>
              </a:rPr>
              <a:t>Income </a:t>
            </a:r>
            <a:r>
              <a:rPr kumimoji="0" lang="en-US" altLang="en-US" sz="2400" b="1" i="0" u="none" strike="noStrike" cap="none" normalizeH="0" baseline="0" dirty="0" err="1">
                <a:ln>
                  <a:noFill/>
                </a:ln>
                <a:solidFill>
                  <a:schemeClr val="tx1"/>
                </a:solidFill>
                <a:effectLst/>
                <a:latin typeface="+mj-lt"/>
              </a:rPr>
              <a:t>ve</a:t>
            </a:r>
            <a:r>
              <a:rPr kumimoji="0" lang="en-US" altLang="en-US" sz="2400" b="1" i="0" u="none" strike="noStrike" cap="none" normalizeH="0" baseline="0" dirty="0">
                <a:ln>
                  <a:noFill/>
                </a:ln>
                <a:solidFill>
                  <a:schemeClr val="tx1"/>
                </a:solidFill>
                <a:effectLst/>
                <a:latin typeface="+mj-lt"/>
              </a:rPr>
              <a:t> </a:t>
            </a:r>
            <a:r>
              <a:rPr kumimoji="0" lang="en-US" altLang="en-US" sz="2400" b="1" i="0" u="none" strike="noStrike" cap="none" normalizeH="0" baseline="0" dirty="0" err="1">
                <a:ln>
                  <a:noFill/>
                </a:ln>
                <a:solidFill>
                  <a:schemeClr val="tx1"/>
                </a:solidFill>
                <a:effectLst/>
                <a:latin typeface="+mj-lt"/>
              </a:rPr>
              <a:t>CCAvg</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arasındaki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ilişki</a:t>
            </a:r>
            <a:r>
              <a:rPr kumimoji="0" lang="en-US" altLang="en-US" sz="2400" b="0" i="0" u="none" strike="noStrike" cap="none" normalizeH="0" baseline="0" dirty="0">
                <a:ln>
                  <a:noFill/>
                </a:ln>
                <a:solidFill>
                  <a:schemeClr val="tx1"/>
                </a:solidFill>
                <a:effectLst/>
                <a:latin typeface="+mj-lt"/>
              </a:rPr>
              <a:t>, her </a:t>
            </a:r>
            <a:r>
              <a:rPr kumimoji="0" lang="en-US" altLang="en-US" sz="2400" b="0" i="0" u="none" strike="noStrike" cap="none" normalizeH="0" baseline="0" dirty="0" err="1">
                <a:ln>
                  <a:noFill/>
                </a:ln>
                <a:solidFill>
                  <a:schemeClr val="tx1"/>
                </a:solidFill>
                <a:effectLst/>
                <a:latin typeface="+mj-lt"/>
              </a:rPr>
              <a:t>iki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değişkenin</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birlikte</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kullanıldığı</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modelde</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dikkat</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edilmesi</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gereken</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bir</a:t>
            </a:r>
            <a:r>
              <a:rPr kumimoji="0" lang="en-US" altLang="en-US" sz="2400" b="0" i="0" u="none" strike="noStrike" cap="none" normalizeH="0" baseline="0" dirty="0">
                <a:ln>
                  <a:noFill/>
                </a:ln>
                <a:solidFill>
                  <a:schemeClr val="tx1"/>
                </a:solidFill>
                <a:effectLst/>
                <a:latin typeface="+mj-lt"/>
              </a:rPr>
              <a:t> </a:t>
            </a:r>
            <a:r>
              <a:rPr kumimoji="0" lang="en-US" altLang="en-US" sz="2400" b="0" i="0" u="none" strike="noStrike" cap="none" normalizeH="0" baseline="0" dirty="0" err="1">
                <a:ln>
                  <a:noFill/>
                </a:ln>
                <a:solidFill>
                  <a:schemeClr val="tx1"/>
                </a:solidFill>
                <a:effectLst/>
                <a:latin typeface="+mj-lt"/>
              </a:rPr>
              <a:t>noktadır</a:t>
            </a:r>
            <a:r>
              <a:rPr kumimoji="0" lang="en-US" altLang="en-US" sz="2400" b="0" i="0" u="none" strike="noStrike" cap="none" normalizeH="0" baseline="0" dirty="0">
                <a:ln>
                  <a:noFill/>
                </a:ln>
                <a:solidFill>
                  <a:schemeClr val="tx1"/>
                </a:solidFill>
                <a:effectLst/>
                <a:latin typeface="+mj-lt"/>
              </a:rPr>
              <a:t>. </a:t>
            </a:r>
          </a:p>
        </p:txBody>
      </p:sp>
      <p:sp>
        <p:nvSpPr>
          <p:cNvPr id="6" name="TextBox 5">
            <a:extLst>
              <a:ext uri="{FF2B5EF4-FFF2-40B4-BE49-F238E27FC236}">
                <a16:creationId xmlns:a16="http://schemas.microsoft.com/office/drawing/2014/main" id="{BF372D8F-CF61-5565-ABD9-354333FBA9A7}"/>
              </a:ext>
            </a:extLst>
          </p:cNvPr>
          <p:cNvSpPr txBox="1"/>
          <p:nvPr/>
        </p:nvSpPr>
        <p:spPr>
          <a:xfrm>
            <a:off x="1741251" y="1070043"/>
            <a:ext cx="6021421" cy="584775"/>
          </a:xfrm>
          <a:prstGeom prst="rect">
            <a:avLst/>
          </a:prstGeom>
          <a:noFill/>
        </p:spPr>
        <p:txBody>
          <a:bodyPr wrap="square" rtlCol="0">
            <a:spAutoFit/>
          </a:bodyPr>
          <a:lstStyle/>
          <a:p>
            <a:r>
              <a:rPr lang="tr-TR" sz="3200" b="1" dirty="0">
                <a:latin typeface="+mj-lt"/>
              </a:rPr>
              <a:t>YANİ;</a:t>
            </a:r>
            <a:endParaRPr lang="en-US" sz="3200" b="1" dirty="0">
              <a:latin typeface="+mj-lt"/>
            </a:endParaRPr>
          </a:p>
        </p:txBody>
      </p:sp>
    </p:spTree>
    <p:extLst>
      <p:ext uri="{BB962C8B-B14F-4D97-AF65-F5344CB8AC3E}">
        <p14:creationId xmlns:p14="http://schemas.microsoft.com/office/powerpoint/2010/main" val="4225099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76445F-E92A-63E7-3C5E-B8AD27A56AB8}"/>
              </a:ext>
            </a:extLst>
          </p:cNvPr>
          <p:cNvSpPr txBox="1"/>
          <p:nvPr/>
        </p:nvSpPr>
        <p:spPr>
          <a:xfrm>
            <a:off x="841201" y="180871"/>
            <a:ext cx="10360152" cy="914400"/>
          </a:xfrm>
          <a:prstGeom prst="rect">
            <a:avLst/>
          </a:prstGeom>
        </p:spPr>
        <p:txBody>
          <a:bodyPr vert="horz" lIns="91440" tIns="45720" rIns="91440" bIns="45720" rtlCol="0" anchor="b" anchorCtr="0">
            <a:normAutofit/>
          </a:bodyPr>
          <a:lstStyle/>
          <a:p>
            <a:pPr>
              <a:lnSpc>
                <a:spcPct val="90000"/>
              </a:lnSpc>
              <a:spcBef>
                <a:spcPct val="0"/>
              </a:spcBef>
              <a:spcAft>
                <a:spcPts val="600"/>
              </a:spcAft>
            </a:pPr>
            <a:r>
              <a:rPr lang="tr-TR" sz="3200" b="1" kern="1200" dirty="0" err="1">
                <a:latin typeface="+mj-lt"/>
                <a:ea typeface="+mj-ea"/>
                <a:cs typeface="+mj-cs"/>
              </a:rPr>
              <a:t>Random</a:t>
            </a:r>
            <a:r>
              <a:rPr lang="tr-TR" sz="3200" b="1" kern="1200" dirty="0">
                <a:latin typeface="+mj-lt"/>
                <a:ea typeface="+mj-ea"/>
                <a:cs typeface="+mj-cs"/>
              </a:rPr>
              <a:t> </a:t>
            </a:r>
            <a:r>
              <a:rPr lang="tr-TR" sz="3200" b="1" kern="1200" dirty="0" err="1">
                <a:latin typeface="+mj-lt"/>
                <a:ea typeface="+mj-ea"/>
                <a:cs typeface="+mj-cs"/>
              </a:rPr>
              <a:t>Forest</a:t>
            </a:r>
            <a:r>
              <a:rPr lang="tr-TR" sz="3200" b="1" kern="1200" dirty="0">
                <a:latin typeface="+mj-lt"/>
                <a:ea typeface="+mj-ea"/>
                <a:cs typeface="+mj-cs"/>
              </a:rPr>
              <a:t> kodu</a:t>
            </a:r>
            <a:endParaRPr lang="en-US" sz="3200" b="1" kern="1200" dirty="0">
              <a:latin typeface="+mj-lt"/>
              <a:ea typeface="+mj-ea"/>
              <a:cs typeface="+mj-cs"/>
            </a:endParaRP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17</a:t>
            </a:fld>
            <a:endParaRPr lang="en-US"/>
          </a:p>
        </p:txBody>
      </p:sp>
      <p:pic>
        <p:nvPicPr>
          <p:cNvPr id="9" name="Picture 8">
            <a:extLst>
              <a:ext uri="{FF2B5EF4-FFF2-40B4-BE49-F238E27FC236}">
                <a16:creationId xmlns:a16="http://schemas.microsoft.com/office/drawing/2014/main" id="{F0C3B353-B45D-4E0D-C5B5-54DD19A7B0CF}"/>
              </a:ext>
            </a:extLst>
          </p:cNvPr>
          <p:cNvPicPr>
            <a:picLocks noChangeAspect="1"/>
          </p:cNvPicPr>
          <p:nvPr/>
        </p:nvPicPr>
        <p:blipFill>
          <a:blip r:embed="rId3"/>
          <a:stretch>
            <a:fillRect/>
          </a:stretch>
        </p:blipFill>
        <p:spPr>
          <a:xfrm>
            <a:off x="689464" y="1347699"/>
            <a:ext cx="6582209" cy="5088270"/>
          </a:xfrm>
          <a:prstGeom prst="rect">
            <a:avLst/>
          </a:prstGeom>
        </p:spPr>
      </p:pic>
      <p:pic>
        <p:nvPicPr>
          <p:cNvPr id="11" name="Picture 10">
            <a:extLst>
              <a:ext uri="{FF2B5EF4-FFF2-40B4-BE49-F238E27FC236}">
                <a16:creationId xmlns:a16="http://schemas.microsoft.com/office/drawing/2014/main" id="{74D911F3-AAE0-0C07-4634-3769C59E9B33}"/>
              </a:ext>
            </a:extLst>
          </p:cNvPr>
          <p:cNvPicPr>
            <a:picLocks noChangeAspect="1"/>
          </p:cNvPicPr>
          <p:nvPr/>
        </p:nvPicPr>
        <p:blipFill>
          <a:blip r:embed="rId4"/>
          <a:stretch>
            <a:fillRect/>
          </a:stretch>
        </p:blipFill>
        <p:spPr>
          <a:xfrm>
            <a:off x="7358583" y="2909033"/>
            <a:ext cx="4143953" cy="1743318"/>
          </a:xfrm>
          <a:prstGeom prst="rect">
            <a:avLst/>
          </a:prstGeom>
        </p:spPr>
      </p:pic>
    </p:spTree>
    <p:extLst>
      <p:ext uri="{BB962C8B-B14F-4D97-AF65-F5344CB8AC3E}">
        <p14:creationId xmlns:p14="http://schemas.microsoft.com/office/powerpoint/2010/main" val="3748348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556CBDE-6DE3-D6D0-2132-141069DCFE52}"/>
              </a:ext>
            </a:extLst>
          </p:cNvPr>
          <p:cNvSpPr>
            <a:spLocks noGrp="1"/>
          </p:cNvSpPr>
          <p:nvPr>
            <p:ph type="title"/>
          </p:nvPr>
        </p:nvSpPr>
        <p:spPr>
          <a:xfrm>
            <a:off x="984739" y="110532"/>
            <a:ext cx="7534656" cy="914400"/>
          </a:xfrm>
        </p:spPr>
        <p:txBody>
          <a:bodyPr/>
          <a:lstStyle/>
          <a:p>
            <a:r>
              <a:rPr lang="tr-TR" b="1" dirty="0"/>
              <a:t>Oluşan İlk Karar Ağacı</a:t>
            </a:r>
            <a:endParaRPr lang="en-US" b="1" dirty="0"/>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nchor="ctr">
            <a:normAutofit/>
          </a:bodyPr>
          <a:lstStyle/>
          <a:p>
            <a:pPr>
              <a:spcAft>
                <a:spcPts val="600"/>
              </a:spcAft>
            </a:pPr>
            <a:fld id="{58FB4751-880F-D840-AAA9-3A15815CC996}" type="slidenum">
              <a:rPr lang="en-US" smtClean="0"/>
              <a:pPr>
                <a:spcAft>
                  <a:spcPts val="600"/>
                </a:spcAft>
              </a:pPr>
              <a:t>18</a:t>
            </a:fld>
            <a:endParaRPr lang="en-US"/>
          </a:p>
        </p:txBody>
      </p:sp>
      <p:pic>
        <p:nvPicPr>
          <p:cNvPr id="4098" name="Picture 2">
            <a:extLst>
              <a:ext uri="{FF2B5EF4-FFF2-40B4-BE49-F238E27FC236}">
                <a16:creationId xmlns:a16="http://schemas.microsoft.com/office/drawing/2014/main" id="{894ECD78-7C06-534B-820E-F685644BAE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3015" y="1286190"/>
            <a:ext cx="9285969" cy="4814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2147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18EBE0-D2F8-F3C9-596E-0BBB534BE8C2}"/>
              </a:ext>
            </a:extLst>
          </p:cNvPr>
          <p:cNvSpPr>
            <a:spLocks noGrp="1"/>
          </p:cNvSpPr>
          <p:nvPr>
            <p:ph sz="quarter" idx="11"/>
          </p:nvPr>
        </p:nvSpPr>
        <p:spPr>
          <a:xfrm>
            <a:off x="389107" y="443777"/>
            <a:ext cx="5175114" cy="5850020"/>
          </a:xfrm>
        </p:spPr>
        <p:txBody>
          <a:bodyPr>
            <a:normAutofit fontScale="85000" lnSpcReduction="10000"/>
          </a:bodyPr>
          <a:lstStyle/>
          <a:p>
            <a:r>
              <a:rPr lang="en-US" b="1" dirty="0">
                <a:latin typeface="+mj-lt"/>
              </a:rPr>
              <a:t>1. Model </a:t>
            </a:r>
            <a:r>
              <a:rPr lang="en-US" b="1" dirty="0" err="1">
                <a:latin typeface="+mj-lt"/>
              </a:rPr>
              <a:t>Doğruluk</a:t>
            </a:r>
            <a:r>
              <a:rPr lang="en-US" b="1" dirty="0">
                <a:latin typeface="+mj-lt"/>
              </a:rPr>
              <a:t> </a:t>
            </a:r>
            <a:r>
              <a:rPr lang="en-US" b="1" dirty="0" err="1">
                <a:latin typeface="+mj-lt"/>
              </a:rPr>
              <a:t>Oranı</a:t>
            </a:r>
            <a:r>
              <a:rPr lang="en-US" b="1" dirty="0">
                <a:latin typeface="+mj-lt"/>
              </a:rPr>
              <a:t> (Accuracy)</a:t>
            </a:r>
          </a:p>
          <a:p>
            <a:pPr>
              <a:buFont typeface="Arial" panose="020B0604020202020204" pitchFamily="34" charset="0"/>
              <a:buChar char="•"/>
            </a:pPr>
            <a:r>
              <a:rPr lang="en-US" b="1" dirty="0" err="1">
                <a:latin typeface="+mj-lt"/>
              </a:rPr>
              <a:t>Doğruluk</a:t>
            </a:r>
            <a:r>
              <a:rPr lang="en-US" b="1" dirty="0">
                <a:latin typeface="+mj-lt"/>
              </a:rPr>
              <a:t> (Accuracy): 0.98</a:t>
            </a:r>
            <a:br>
              <a:rPr lang="en-US" dirty="0">
                <a:latin typeface="+mj-lt"/>
              </a:rPr>
            </a:br>
            <a:r>
              <a:rPr lang="en-US" dirty="0" err="1">
                <a:latin typeface="+mj-lt"/>
              </a:rPr>
              <a:t>Doğruluk</a:t>
            </a:r>
            <a:r>
              <a:rPr lang="en-US" dirty="0">
                <a:latin typeface="+mj-lt"/>
              </a:rPr>
              <a:t>, </a:t>
            </a:r>
            <a:r>
              <a:rPr lang="en-US" dirty="0" err="1">
                <a:latin typeface="+mj-lt"/>
              </a:rPr>
              <a:t>modelin</a:t>
            </a:r>
            <a:r>
              <a:rPr lang="en-US" dirty="0">
                <a:latin typeface="+mj-lt"/>
              </a:rPr>
              <a:t> </a:t>
            </a:r>
            <a:r>
              <a:rPr lang="en-US" dirty="0" err="1">
                <a:latin typeface="+mj-lt"/>
              </a:rPr>
              <a:t>doğru</a:t>
            </a:r>
            <a:r>
              <a:rPr lang="en-US" dirty="0">
                <a:latin typeface="+mj-lt"/>
              </a:rPr>
              <a:t> </a:t>
            </a:r>
            <a:r>
              <a:rPr lang="en-US" dirty="0" err="1">
                <a:latin typeface="+mj-lt"/>
              </a:rPr>
              <a:t>tahmin</a:t>
            </a:r>
            <a:r>
              <a:rPr lang="en-US" dirty="0">
                <a:latin typeface="+mj-lt"/>
              </a:rPr>
              <a:t> </a:t>
            </a:r>
            <a:r>
              <a:rPr lang="en-US" dirty="0" err="1">
                <a:latin typeface="+mj-lt"/>
              </a:rPr>
              <a:t>ettiği</a:t>
            </a:r>
            <a:r>
              <a:rPr lang="en-US" dirty="0">
                <a:latin typeface="+mj-lt"/>
              </a:rPr>
              <a:t> </a:t>
            </a:r>
            <a:r>
              <a:rPr lang="en-US" dirty="0" err="1">
                <a:latin typeface="+mj-lt"/>
              </a:rPr>
              <a:t>örneklerin</a:t>
            </a:r>
            <a:r>
              <a:rPr lang="en-US" dirty="0">
                <a:latin typeface="+mj-lt"/>
              </a:rPr>
              <a:t> </a:t>
            </a:r>
            <a:r>
              <a:rPr lang="en-US" dirty="0" err="1">
                <a:latin typeface="+mj-lt"/>
              </a:rPr>
              <a:t>toplam</a:t>
            </a:r>
            <a:r>
              <a:rPr lang="en-US" dirty="0">
                <a:latin typeface="+mj-lt"/>
              </a:rPr>
              <a:t> </a:t>
            </a:r>
            <a:r>
              <a:rPr lang="en-US" dirty="0" err="1">
                <a:latin typeface="+mj-lt"/>
              </a:rPr>
              <a:t>örnek</a:t>
            </a:r>
            <a:r>
              <a:rPr lang="en-US" dirty="0">
                <a:latin typeface="+mj-lt"/>
              </a:rPr>
              <a:t> </a:t>
            </a:r>
            <a:r>
              <a:rPr lang="en-US" dirty="0" err="1">
                <a:latin typeface="+mj-lt"/>
              </a:rPr>
              <a:t>sayısına</a:t>
            </a:r>
            <a:r>
              <a:rPr lang="en-US" dirty="0">
                <a:latin typeface="+mj-lt"/>
              </a:rPr>
              <a:t> </a:t>
            </a:r>
            <a:r>
              <a:rPr lang="en-US" dirty="0" err="1">
                <a:latin typeface="+mj-lt"/>
              </a:rPr>
              <a:t>oranıdır</a:t>
            </a:r>
            <a:r>
              <a:rPr lang="en-US" dirty="0">
                <a:latin typeface="+mj-lt"/>
              </a:rPr>
              <a:t>.</a:t>
            </a:r>
            <a:endParaRPr lang="tr-TR" dirty="0">
              <a:latin typeface="+mj-lt"/>
            </a:endParaRPr>
          </a:p>
          <a:p>
            <a:pPr>
              <a:buFont typeface="Arial" panose="020B0604020202020204" pitchFamily="34" charset="0"/>
              <a:buChar char="•"/>
            </a:pPr>
            <a:endParaRPr lang="en-US" dirty="0">
              <a:latin typeface="+mj-lt"/>
            </a:endParaRPr>
          </a:p>
          <a:p>
            <a:r>
              <a:rPr lang="en-US" b="1" dirty="0">
                <a:latin typeface="+mj-lt"/>
              </a:rPr>
              <a:t>2. </a:t>
            </a:r>
            <a:r>
              <a:rPr lang="en-US" b="1" dirty="0" err="1">
                <a:latin typeface="+mj-lt"/>
              </a:rPr>
              <a:t>Sınıflar</a:t>
            </a:r>
            <a:r>
              <a:rPr lang="en-US" b="1" dirty="0">
                <a:latin typeface="+mj-lt"/>
              </a:rPr>
              <a:t> </a:t>
            </a:r>
            <a:r>
              <a:rPr lang="en-US" b="1" dirty="0" err="1">
                <a:latin typeface="+mj-lt"/>
              </a:rPr>
              <a:t>ve</a:t>
            </a:r>
            <a:r>
              <a:rPr lang="en-US" b="1" dirty="0">
                <a:latin typeface="+mj-lt"/>
              </a:rPr>
              <a:t> </a:t>
            </a:r>
            <a:r>
              <a:rPr lang="en-US" b="1" dirty="0" err="1">
                <a:latin typeface="+mj-lt"/>
              </a:rPr>
              <a:t>Destek</a:t>
            </a:r>
            <a:r>
              <a:rPr lang="en-US" b="1" dirty="0">
                <a:latin typeface="+mj-lt"/>
              </a:rPr>
              <a:t> (Support)</a:t>
            </a:r>
          </a:p>
          <a:p>
            <a:pPr>
              <a:buFont typeface="Arial" panose="020B0604020202020204" pitchFamily="34" charset="0"/>
              <a:buChar char="•"/>
            </a:pPr>
            <a:r>
              <a:rPr lang="en-US" b="1" dirty="0" err="1">
                <a:latin typeface="+mj-lt"/>
              </a:rPr>
              <a:t>Sınıf</a:t>
            </a:r>
            <a:r>
              <a:rPr lang="en-US" b="1" dirty="0">
                <a:latin typeface="+mj-lt"/>
              </a:rPr>
              <a:t> 0 (Personal Loan = 0):</a:t>
            </a:r>
            <a:r>
              <a:rPr lang="en-US" dirty="0">
                <a:latin typeface="+mj-lt"/>
              </a:rPr>
              <a:t> 1356 </a:t>
            </a:r>
            <a:r>
              <a:rPr lang="en-US" dirty="0" err="1">
                <a:latin typeface="+mj-lt"/>
              </a:rPr>
              <a:t>adet</a:t>
            </a:r>
            <a:r>
              <a:rPr lang="en-US" dirty="0">
                <a:latin typeface="+mj-lt"/>
              </a:rPr>
              <a:t> </a:t>
            </a:r>
            <a:r>
              <a:rPr lang="en-US" dirty="0" err="1">
                <a:latin typeface="+mj-lt"/>
              </a:rPr>
              <a:t>örnek</a:t>
            </a:r>
            <a:r>
              <a:rPr lang="en-US" dirty="0">
                <a:latin typeface="+mj-lt"/>
              </a:rPr>
              <a:t>.</a:t>
            </a:r>
          </a:p>
          <a:p>
            <a:pPr>
              <a:buFont typeface="Arial" panose="020B0604020202020204" pitchFamily="34" charset="0"/>
              <a:buChar char="•"/>
            </a:pPr>
            <a:r>
              <a:rPr lang="en-US" b="1" dirty="0" err="1">
                <a:latin typeface="+mj-lt"/>
              </a:rPr>
              <a:t>Sınıf</a:t>
            </a:r>
            <a:r>
              <a:rPr lang="en-US" b="1" dirty="0">
                <a:latin typeface="+mj-lt"/>
              </a:rPr>
              <a:t> 1 (Personal Loan = 1):</a:t>
            </a:r>
            <a:r>
              <a:rPr lang="en-US" dirty="0">
                <a:latin typeface="+mj-lt"/>
              </a:rPr>
              <a:t> 144 </a:t>
            </a:r>
            <a:r>
              <a:rPr lang="en-US" dirty="0" err="1">
                <a:latin typeface="+mj-lt"/>
              </a:rPr>
              <a:t>adet</a:t>
            </a:r>
            <a:r>
              <a:rPr lang="en-US" dirty="0">
                <a:latin typeface="+mj-lt"/>
              </a:rPr>
              <a:t> </a:t>
            </a:r>
            <a:r>
              <a:rPr lang="en-US" dirty="0" err="1">
                <a:latin typeface="+mj-lt"/>
              </a:rPr>
              <a:t>örnek</a:t>
            </a:r>
            <a:r>
              <a:rPr lang="en-US" dirty="0">
                <a:latin typeface="+mj-lt"/>
              </a:rPr>
              <a:t>.</a:t>
            </a:r>
            <a:br>
              <a:rPr lang="en-US" dirty="0">
                <a:latin typeface="+mj-lt"/>
              </a:rPr>
            </a:br>
            <a:r>
              <a:rPr lang="en-US" b="1" dirty="0">
                <a:latin typeface="+mj-lt"/>
              </a:rPr>
              <a:t>Support</a:t>
            </a:r>
            <a:r>
              <a:rPr lang="en-US" dirty="0">
                <a:latin typeface="+mj-lt"/>
              </a:rPr>
              <a:t>, her </a:t>
            </a:r>
            <a:r>
              <a:rPr lang="en-US" dirty="0" err="1">
                <a:latin typeface="+mj-lt"/>
              </a:rPr>
              <a:t>sınıfın</a:t>
            </a:r>
            <a:r>
              <a:rPr lang="en-US" dirty="0">
                <a:latin typeface="+mj-lt"/>
              </a:rPr>
              <a:t> </a:t>
            </a:r>
            <a:r>
              <a:rPr lang="en-US" dirty="0" err="1">
                <a:latin typeface="+mj-lt"/>
              </a:rPr>
              <a:t>veri</a:t>
            </a:r>
            <a:r>
              <a:rPr lang="en-US" dirty="0">
                <a:latin typeface="+mj-lt"/>
              </a:rPr>
              <a:t> </a:t>
            </a:r>
            <a:r>
              <a:rPr lang="en-US" dirty="0" err="1">
                <a:latin typeface="+mj-lt"/>
              </a:rPr>
              <a:t>kümesinde</a:t>
            </a:r>
            <a:r>
              <a:rPr lang="en-US" dirty="0">
                <a:latin typeface="+mj-lt"/>
              </a:rPr>
              <a:t> </a:t>
            </a:r>
            <a:r>
              <a:rPr lang="en-US" dirty="0" err="1">
                <a:latin typeface="+mj-lt"/>
              </a:rPr>
              <a:t>kaç</a:t>
            </a:r>
            <a:r>
              <a:rPr lang="en-US" dirty="0">
                <a:latin typeface="+mj-lt"/>
              </a:rPr>
              <a:t> </a:t>
            </a:r>
            <a:r>
              <a:rPr lang="en-US" dirty="0" err="1">
                <a:latin typeface="+mj-lt"/>
              </a:rPr>
              <a:t>örnekle</a:t>
            </a:r>
            <a:r>
              <a:rPr lang="en-US" dirty="0">
                <a:latin typeface="+mj-lt"/>
              </a:rPr>
              <a:t> </a:t>
            </a:r>
            <a:r>
              <a:rPr lang="en-US" dirty="0" err="1">
                <a:latin typeface="+mj-lt"/>
              </a:rPr>
              <a:t>temsil</a:t>
            </a:r>
            <a:r>
              <a:rPr lang="en-US" dirty="0">
                <a:latin typeface="+mj-lt"/>
              </a:rPr>
              <a:t> </a:t>
            </a:r>
            <a:r>
              <a:rPr lang="en-US" dirty="0" err="1">
                <a:latin typeface="+mj-lt"/>
              </a:rPr>
              <a:t>edildiğini</a:t>
            </a:r>
            <a:r>
              <a:rPr lang="en-US" dirty="0">
                <a:latin typeface="+mj-lt"/>
              </a:rPr>
              <a:t> </a:t>
            </a:r>
            <a:r>
              <a:rPr lang="en-US" dirty="0" err="1">
                <a:latin typeface="+mj-lt"/>
              </a:rPr>
              <a:t>gösterir</a:t>
            </a:r>
            <a:r>
              <a:rPr lang="en-US" dirty="0">
                <a:latin typeface="+mj-lt"/>
              </a:rPr>
              <a:t>. Bu </a:t>
            </a:r>
            <a:r>
              <a:rPr lang="en-US" dirty="0" err="1">
                <a:latin typeface="+mj-lt"/>
              </a:rPr>
              <a:t>değer</a:t>
            </a:r>
            <a:r>
              <a:rPr lang="en-US" dirty="0">
                <a:latin typeface="+mj-lt"/>
              </a:rPr>
              <a:t>, </a:t>
            </a:r>
            <a:r>
              <a:rPr lang="en-US" dirty="0" err="1">
                <a:latin typeface="+mj-lt"/>
              </a:rPr>
              <a:t>metriklerin</a:t>
            </a:r>
            <a:r>
              <a:rPr lang="en-US" dirty="0">
                <a:latin typeface="+mj-lt"/>
              </a:rPr>
              <a:t> </a:t>
            </a:r>
            <a:r>
              <a:rPr lang="en-US" dirty="0" err="1">
                <a:latin typeface="+mj-lt"/>
              </a:rPr>
              <a:t>hesaplanmasında</a:t>
            </a:r>
            <a:r>
              <a:rPr lang="en-US" dirty="0">
                <a:latin typeface="+mj-lt"/>
              </a:rPr>
              <a:t> </a:t>
            </a:r>
            <a:r>
              <a:rPr lang="en-US" dirty="0" err="1">
                <a:latin typeface="+mj-lt"/>
              </a:rPr>
              <a:t>kullanılır</a:t>
            </a:r>
            <a:r>
              <a:rPr lang="en-US" dirty="0">
                <a:latin typeface="+mj-lt"/>
              </a:rPr>
              <a:t> </a:t>
            </a:r>
            <a:r>
              <a:rPr lang="en-US" dirty="0" err="1">
                <a:latin typeface="+mj-lt"/>
              </a:rPr>
              <a:t>ancak</a:t>
            </a:r>
            <a:r>
              <a:rPr lang="en-US" dirty="0">
                <a:latin typeface="+mj-lt"/>
              </a:rPr>
              <a:t> model </a:t>
            </a:r>
            <a:r>
              <a:rPr lang="en-US" dirty="0" err="1">
                <a:latin typeface="+mj-lt"/>
              </a:rPr>
              <a:t>performansına</a:t>
            </a:r>
            <a:r>
              <a:rPr lang="en-US" dirty="0">
                <a:latin typeface="+mj-lt"/>
              </a:rPr>
              <a:t> </a:t>
            </a:r>
            <a:r>
              <a:rPr lang="en-US" dirty="0" err="1">
                <a:latin typeface="+mj-lt"/>
              </a:rPr>
              <a:t>doğrudan</a:t>
            </a:r>
            <a:r>
              <a:rPr lang="en-US" dirty="0">
                <a:latin typeface="+mj-lt"/>
              </a:rPr>
              <a:t> </a:t>
            </a:r>
            <a:r>
              <a:rPr lang="en-US" dirty="0" err="1">
                <a:latin typeface="+mj-lt"/>
              </a:rPr>
              <a:t>etki</a:t>
            </a:r>
            <a:r>
              <a:rPr lang="en-US" dirty="0">
                <a:latin typeface="+mj-lt"/>
              </a:rPr>
              <a:t> </a:t>
            </a:r>
            <a:r>
              <a:rPr lang="en-US" dirty="0" err="1">
                <a:latin typeface="+mj-lt"/>
              </a:rPr>
              <a:t>etmez</a:t>
            </a:r>
            <a:r>
              <a:rPr lang="en-US" dirty="0">
                <a:latin typeface="+mj-lt"/>
              </a:rPr>
              <a:t>.</a:t>
            </a:r>
            <a:endParaRPr lang="tr-TR" dirty="0">
              <a:latin typeface="+mj-lt"/>
            </a:endParaRPr>
          </a:p>
          <a:p>
            <a:pPr>
              <a:buFont typeface="Arial" panose="020B0604020202020204" pitchFamily="34" charset="0"/>
              <a:buChar char="•"/>
            </a:pPr>
            <a:endParaRPr lang="tr-TR" dirty="0">
              <a:latin typeface="+mj-lt"/>
            </a:endParaRPr>
          </a:p>
          <a:p>
            <a:r>
              <a:rPr lang="en-US" b="1" dirty="0">
                <a:latin typeface="+mj-lt"/>
              </a:rPr>
              <a:t>3. Precision (</a:t>
            </a:r>
            <a:r>
              <a:rPr lang="en-US" b="1" dirty="0" err="1">
                <a:latin typeface="+mj-lt"/>
              </a:rPr>
              <a:t>Kesinlik</a:t>
            </a:r>
            <a:r>
              <a:rPr lang="en-US" b="1" dirty="0">
                <a:latin typeface="+mj-lt"/>
              </a:rPr>
              <a:t>)</a:t>
            </a:r>
          </a:p>
          <a:p>
            <a:pPr>
              <a:buFont typeface="Arial" panose="020B0604020202020204" pitchFamily="34" charset="0"/>
              <a:buChar char="•"/>
            </a:pPr>
            <a:r>
              <a:rPr lang="en-US" b="1" dirty="0" err="1">
                <a:latin typeface="+mj-lt"/>
              </a:rPr>
              <a:t>Sınıf</a:t>
            </a:r>
            <a:r>
              <a:rPr lang="en-US" b="1" dirty="0">
                <a:latin typeface="+mj-lt"/>
              </a:rPr>
              <a:t> 0 </a:t>
            </a:r>
            <a:r>
              <a:rPr lang="en-US" b="1" dirty="0" err="1">
                <a:latin typeface="+mj-lt"/>
              </a:rPr>
              <a:t>için</a:t>
            </a:r>
            <a:r>
              <a:rPr lang="en-US" b="1" dirty="0">
                <a:latin typeface="+mj-lt"/>
              </a:rPr>
              <a:t> Precision: 0.98</a:t>
            </a:r>
            <a:br>
              <a:rPr lang="en-US" dirty="0">
                <a:latin typeface="+mj-lt"/>
              </a:rPr>
            </a:br>
            <a:r>
              <a:rPr lang="en-US" dirty="0">
                <a:latin typeface="+mj-lt"/>
              </a:rPr>
              <a:t>Precision, </a:t>
            </a:r>
            <a:r>
              <a:rPr lang="en-US" dirty="0" err="1">
                <a:latin typeface="+mj-lt"/>
              </a:rPr>
              <a:t>modelin</a:t>
            </a:r>
            <a:r>
              <a:rPr lang="en-US" dirty="0">
                <a:latin typeface="+mj-lt"/>
              </a:rPr>
              <a:t> </a:t>
            </a:r>
            <a:r>
              <a:rPr lang="en-US" b="1" dirty="0">
                <a:latin typeface="+mj-lt"/>
              </a:rPr>
              <a:t>0</a:t>
            </a:r>
            <a:r>
              <a:rPr lang="en-US" dirty="0">
                <a:latin typeface="+mj-lt"/>
              </a:rPr>
              <a:t> </a:t>
            </a:r>
            <a:r>
              <a:rPr lang="en-US" dirty="0" err="1">
                <a:latin typeface="+mj-lt"/>
              </a:rPr>
              <a:t>sınıfı</a:t>
            </a:r>
            <a:r>
              <a:rPr lang="en-US" dirty="0">
                <a:latin typeface="+mj-lt"/>
              </a:rPr>
              <a:t> </a:t>
            </a:r>
            <a:r>
              <a:rPr lang="en-US" dirty="0" err="1">
                <a:latin typeface="+mj-lt"/>
              </a:rPr>
              <a:t>tahmin</a:t>
            </a:r>
            <a:r>
              <a:rPr lang="en-US" dirty="0">
                <a:latin typeface="+mj-lt"/>
              </a:rPr>
              <a:t> </a:t>
            </a:r>
            <a:r>
              <a:rPr lang="en-US" dirty="0" err="1">
                <a:latin typeface="+mj-lt"/>
              </a:rPr>
              <a:t>ettiğinde</a:t>
            </a:r>
            <a:r>
              <a:rPr lang="en-US" dirty="0">
                <a:latin typeface="+mj-lt"/>
              </a:rPr>
              <a:t> </a:t>
            </a:r>
            <a:r>
              <a:rPr lang="en-US" dirty="0" err="1">
                <a:latin typeface="+mj-lt"/>
              </a:rPr>
              <a:t>gerçekten</a:t>
            </a:r>
            <a:r>
              <a:rPr lang="en-US" dirty="0">
                <a:latin typeface="+mj-lt"/>
              </a:rPr>
              <a:t> ne </a:t>
            </a:r>
            <a:r>
              <a:rPr lang="en-US" dirty="0" err="1">
                <a:latin typeface="+mj-lt"/>
              </a:rPr>
              <a:t>kadar</a:t>
            </a:r>
            <a:r>
              <a:rPr lang="en-US" dirty="0">
                <a:latin typeface="+mj-lt"/>
              </a:rPr>
              <a:t> </a:t>
            </a:r>
            <a:r>
              <a:rPr lang="en-US" dirty="0" err="1">
                <a:latin typeface="+mj-lt"/>
              </a:rPr>
              <a:t>doğru</a:t>
            </a:r>
            <a:r>
              <a:rPr lang="en-US" dirty="0">
                <a:latin typeface="+mj-lt"/>
              </a:rPr>
              <a:t> </a:t>
            </a:r>
            <a:r>
              <a:rPr lang="en-US" dirty="0" err="1">
                <a:latin typeface="+mj-lt"/>
              </a:rPr>
              <a:t>olduğunu</a:t>
            </a:r>
            <a:r>
              <a:rPr lang="en-US" dirty="0">
                <a:latin typeface="+mj-lt"/>
              </a:rPr>
              <a:t> </a:t>
            </a:r>
            <a:r>
              <a:rPr lang="en-US" dirty="0" err="1">
                <a:latin typeface="+mj-lt"/>
              </a:rPr>
              <a:t>gösterir</a:t>
            </a:r>
            <a:r>
              <a:rPr lang="en-US" dirty="0">
                <a:latin typeface="+mj-lt"/>
              </a:rPr>
              <a:t>.</a:t>
            </a:r>
            <a:endParaRPr lang="tr-TR" dirty="0">
              <a:latin typeface="+mj-lt"/>
            </a:endParaRPr>
          </a:p>
          <a:p>
            <a:pPr>
              <a:buFont typeface="Arial" panose="020B0604020202020204" pitchFamily="34" charset="0"/>
              <a:buChar char="•"/>
            </a:pPr>
            <a:r>
              <a:rPr lang="en-US" b="1" dirty="0" err="1">
                <a:latin typeface="+mj-lt"/>
              </a:rPr>
              <a:t>Sınıf</a:t>
            </a:r>
            <a:r>
              <a:rPr lang="en-US" b="1" dirty="0">
                <a:latin typeface="+mj-lt"/>
              </a:rPr>
              <a:t> 1 </a:t>
            </a:r>
            <a:r>
              <a:rPr lang="en-US" b="1" dirty="0" err="1">
                <a:latin typeface="+mj-lt"/>
              </a:rPr>
              <a:t>için</a:t>
            </a:r>
            <a:r>
              <a:rPr lang="en-US" b="1" dirty="0">
                <a:latin typeface="+mj-lt"/>
              </a:rPr>
              <a:t> Precision: 1.00</a:t>
            </a:r>
            <a:br>
              <a:rPr lang="en-US" dirty="0">
                <a:latin typeface="+mj-lt"/>
              </a:rPr>
            </a:br>
            <a:r>
              <a:rPr lang="en-US" dirty="0">
                <a:latin typeface="+mj-lt"/>
              </a:rPr>
              <a:t>Model, </a:t>
            </a:r>
            <a:r>
              <a:rPr lang="en-US" dirty="0" err="1">
                <a:latin typeface="+mj-lt"/>
              </a:rPr>
              <a:t>sınıf</a:t>
            </a:r>
            <a:r>
              <a:rPr lang="en-US" dirty="0">
                <a:latin typeface="+mj-lt"/>
              </a:rPr>
              <a:t> 1 </a:t>
            </a:r>
            <a:r>
              <a:rPr lang="en-US" dirty="0" err="1">
                <a:latin typeface="+mj-lt"/>
              </a:rPr>
              <a:t>için</a:t>
            </a:r>
            <a:r>
              <a:rPr lang="en-US" dirty="0">
                <a:latin typeface="+mj-lt"/>
              </a:rPr>
              <a:t> </a:t>
            </a:r>
            <a:r>
              <a:rPr lang="en-US" dirty="0" err="1">
                <a:latin typeface="+mj-lt"/>
              </a:rPr>
              <a:t>tahmin</a:t>
            </a:r>
            <a:r>
              <a:rPr lang="en-US" dirty="0">
                <a:latin typeface="+mj-lt"/>
              </a:rPr>
              <a:t> </a:t>
            </a:r>
            <a:r>
              <a:rPr lang="en-US" dirty="0" err="1">
                <a:latin typeface="+mj-lt"/>
              </a:rPr>
              <a:t>yaparken</a:t>
            </a:r>
            <a:r>
              <a:rPr lang="en-US" dirty="0">
                <a:latin typeface="+mj-lt"/>
              </a:rPr>
              <a:t> </a:t>
            </a:r>
            <a:r>
              <a:rPr lang="en-US" dirty="0" err="1">
                <a:latin typeface="+mj-lt"/>
              </a:rPr>
              <a:t>hiç</a:t>
            </a:r>
            <a:r>
              <a:rPr lang="en-US" dirty="0">
                <a:latin typeface="+mj-lt"/>
              </a:rPr>
              <a:t> </a:t>
            </a:r>
            <a:r>
              <a:rPr lang="en-US" dirty="0" err="1">
                <a:latin typeface="+mj-lt"/>
              </a:rPr>
              <a:t>yanlış</a:t>
            </a:r>
            <a:r>
              <a:rPr lang="en-US" dirty="0">
                <a:latin typeface="+mj-lt"/>
              </a:rPr>
              <a:t> </a:t>
            </a:r>
            <a:r>
              <a:rPr lang="en-US" dirty="0" err="1">
                <a:latin typeface="+mj-lt"/>
              </a:rPr>
              <a:t>pozitif</a:t>
            </a:r>
            <a:r>
              <a:rPr lang="en-US" dirty="0">
                <a:latin typeface="+mj-lt"/>
              </a:rPr>
              <a:t> </a:t>
            </a:r>
            <a:r>
              <a:rPr lang="en-US" dirty="0" err="1">
                <a:latin typeface="+mj-lt"/>
              </a:rPr>
              <a:t>üretmemiştir</a:t>
            </a:r>
            <a:endParaRPr lang="en-US" dirty="0">
              <a:latin typeface="+mj-lt"/>
            </a:endParaRPr>
          </a:p>
          <a:p>
            <a:pPr>
              <a:buFont typeface="Arial" panose="020B0604020202020204" pitchFamily="34" charset="0"/>
              <a:buChar char="•"/>
            </a:pPr>
            <a:endParaRPr lang="en-US" dirty="0"/>
          </a:p>
          <a:p>
            <a:endParaRPr lang="en-US" dirty="0"/>
          </a:p>
        </p:txBody>
      </p:sp>
      <p:sp>
        <p:nvSpPr>
          <p:cNvPr id="4" name="Content Placeholder 3">
            <a:extLst>
              <a:ext uri="{FF2B5EF4-FFF2-40B4-BE49-F238E27FC236}">
                <a16:creationId xmlns:a16="http://schemas.microsoft.com/office/drawing/2014/main" id="{AF15511D-236D-AA49-11B3-707B6CA5D89D}"/>
              </a:ext>
            </a:extLst>
          </p:cNvPr>
          <p:cNvSpPr>
            <a:spLocks noGrp="1"/>
          </p:cNvSpPr>
          <p:nvPr>
            <p:ph sz="quarter" idx="12"/>
          </p:nvPr>
        </p:nvSpPr>
        <p:spPr>
          <a:xfrm>
            <a:off x="5564221" y="443777"/>
            <a:ext cx="6147881" cy="5733288"/>
          </a:xfrm>
        </p:spPr>
        <p:txBody>
          <a:bodyPr>
            <a:normAutofit fontScale="92500" lnSpcReduction="20000"/>
          </a:bodyPr>
          <a:lstStyle/>
          <a:p>
            <a:r>
              <a:rPr lang="en-US" sz="1800" b="1" dirty="0">
                <a:latin typeface="+mj-lt"/>
              </a:rPr>
              <a:t>4. Recall (</a:t>
            </a:r>
            <a:r>
              <a:rPr lang="en-US" sz="1800" b="1" dirty="0" err="1">
                <a:latin typeface="+mj-lt"/>
              </a:rPr>
              <a:t>Duyarlılık</a:t>
            </a:r>
            <a:r>
              <a:rPr lang="en-US" sz="1800" b="1" dirty="0">
                <a:latin typeface="+mj-lt"/>
              </a:rPr>
              <a:t>)</a:t>
            </a:r>
          </a:p>
          <a:p>
            <a:pPr>
              <a:buFont typeface="Arial" panose="020B0604020202020204" pitchFamily="34" charset="0"/>
              <a:buChar char="•"/>
            </a:pPr>
            <a:r>
              <a:rPr lang="en-US" sz="1800" b="1" dirty="0" err="1">
                <a:latin typeface="+mj-lt"/>
              </a:rPr>
              <a:t>Sınıf</a:t>
            </a:r>
            <a:r>
              <a:rPr lang="en-US" sz="1800" b="1" dirty="0">
                <a:latin typeface="+mj-lt"/>
              </a:rPr>
              <a:t> 0 </a:t>
            </a:r>
            <a:r>
              <a:rPr lang="en-US" sz="1800" b="1" dirty="0" err="1">
                <a:latin typeface="+mj-lt"/>
              </a:rPr>
              <a:t>için</a:t>
            </a:r>
            <a:r>
              <a:rPr lang="en-US" sz="1800" b="1" dirty="0">
                <a:latin typeface="+mj-lt"/>
              </a:rPr>
              <a:t> Recall: 1.00</a:t>
            </a:r>
            <a:br>
              <a:rPr lang="en-US" sz="1800" dirty="0">
                <a:latin typeface="+mj-lt"/>
              </a:rPr>
            </a:br>
            <a:r>
              <a:rPr lang="en-US" sz="1800" dirty="0">
                <a:latin typeface="+mj-lt"/>
              </a:rPr>
              <a:t>Recall, </a:t>
            </a:r>
            <a:r>
              <a:rPr lang="en-US" sz="1800" dirty="0" err="1">
                <a:latin typeface="+mj-lt"/>
              </a:rPr>
              <a:t>modelin</a:t>
            </a:r>
            <a:r>
              <a:rPr lang="en-US" sz="1800" dirty="0">
                <a:latin typeface="+mj-lt"/>
              </a:rPr>
              <a:t> </a:t>
            </a:r>
            <a:r>
              <a:rPr lang="en-US" sz="1800" dirty="0" err="1">
                <a:latin typeface="+mj-lt"/>
              </a:rPr>
              <a:t>gerçekten</a:t>
            </a:r>
            <a:r>
              <a:rPr lang="en-US" sz="1800" dirty="0">
                <a:latin typeface="+mj-lt"/>
              </a:rPr>
              <a:t> </a:t>
            </a:r>
            <a:r>
              <a:rPr lang="en-US" sz="1800" dirty="0" err="1">
                <a:latin typeface="+mj-lt"/>
              </a:rPr>
              <a:t>sınıf</a:t>
            </a:r>
            <a:r>
              <a:rPr lang="en-US" sz="1800" dirty="0">
                <a:latin typeface="+mj-lt"/>
              </a:rPr>
              <a:t> 0 </a:t>
            </a:r>
            <a:r>
              <a:rPr lang="en-US" sz="1800" dirty="0" err="1">
                <a:latin typeface="+mj-lt"/>
              </a:rPr>
              <a:t>olan</a:t>
            </a:r>
            <a:r>
              <a:rPr lang="en-US" sz="1800" dirty="0">
                <a:latin typeface="+mj-lt"/>
              </a:rPr>
              <a:t> </a:t>
            </a:r>
            <a:r>
              <a:rPr lang="en-US" sz="1800" dirty="0" err="1">
                <a:latin typeface="+mj-lt"/>
              </a:rPr>
              <a:t>örnekleri</a:t>
            </a:r>
            <a:r>
              <a:rPr lang="en-US" sz="1800" dirty="0">
                <a:latin typeface="+mj-lt"/>
              </a:rPr>
              <a:t> </a:t>
            </a:r>
            <a:r>
              <a:rPr lang="en-US" sz="1800" dirty="0" err="1">
                <a:latin typeface="+mj-lt"/>
              </a:rPr>
              <a:t>doğru</a:t>
            </a:r>
            <a:r>
              <a:rPr lang="en-US" sz="1800" dirty="0">
                <a:latin typeface="+mj-lt"/>
              </a:rPr>
              <a:t> </a:t>
            </a:r>
            <a:r>
              <a:rPr lang="en-US" sz="1800" dirty="0" err="1">
                <a:latin typeface="+mj-lt"/>
              </a:rPr>
              <a:t>tahmin</a:t>
            </a:r>
            <a:r>
              <a:rPr lang="en-US" sz="1800" dirty="0">
                <a:latin typeface="+mj-lt"/>
              </a:rPr>
              <a:t> </a:t>
            </a:r>
            <a:r>
              <a:rPr lang="en-US" sz="1800" dirty="0" err="1">
                <a:latin typeface="+mj-lt"/>
              </a:rPr>
              <a:t>etme</a:t>
            </a:r>
            <a:r>
              <a:rPr lang="en-US" sz="1800" dirty="0">
                <a:latin typeface="+mj-lt"/>
              </a:rPr>
              <a:t> </a:t>
            </a:r>
            <a:r>
              <a:rPr lang="en-US" sz="1800" dirty="0" err="1">
                <a:latin typeface="+mj-lt"/>
              </a:rPr>
              <a:t>oranıdır</a:t>
            </a:r>
            <a:r>
              <a:rPr lang="en-US" sz="1800" dirty="0">
                <a:latin typeface="+mj-lt"/>
              </a:rPr>
              <a:t>.</a:t>
            </a:r>
            <a:endParaRPr lang="tr-TR" sz="1800" dirty="0">
              <a:latin typeface="+mj-lt"/>
            </a:endParaRPr>
          </a:p>
          <a:p>
            <a:pPr>
              <a:buFont typeface="Arial" panose="020B0604020202020204" pitchFamily="34" charset="0"/>
              <a:buChar char="•"/>
            </a:pPr>
            <a:r>
              <a:rPr lang="en-US" sz="1800" b="1" dirty="0" err="1">
                <a:latin typeface="+mj-lt"/>
              </a:rPr>
              <a:t>Sınıf</a:t>
            </a:r>
            <a:r>
              <a:rPr lang="en-US" sz="1800" b="1" dirty="0">
                <a:latin typeface="+mj-lt"/>
              </a:rPr>
              <a:t> 1 </a:t>
            </a:r>
            <a:r>
              <a:rPr lang="en-US" sz="1800" b="1" dirty="0" err="1">
                <a:latin typeface="+mj-lt"/>
              </a:rPr>
              <a:t>için</a:t>
            </a:r>
            <a:r>
              <a:rPr lang="en-US" sz="1800" b="1" dirty="0">
                <a:latin typeface="+mj-lt"/>
              </a:rPr>
              <a:t> Recall: 0.82</a:t>
            </a:r>
            <a:br>
              <a:rPr lang="en-US" sz="1800" dirty="0">
                <a:latin typeface="+mj-lt"/>
              </a:rPr>
            </a:br>
            <a:r>
              <a:rPr lang="en-US" sz="1800" dirty="0">
                <a:latin typeface="+mj-lt"/>
              </a:rPr>
              <a:t>Model, </a:t>
            </a:r>
            <a:r>
              <a:rPr lang="en-US" sz="1800" dirty="0" err="1">
                <a:latin typeface="+mj-lt"/>
              </a:rPr>
              <a:t>sınıf</a:t>
            </a:r>
            <a:r>
              <a:rPr lang="en-US" sz="1800" dirty="0">
                <a:latin typeface="+mj-lt"/>
              </a:rPr>
              <a:t> 1 </a:t>
            </a:r>
            <a:r>
              <a:rPr lang="en-US" sz="1800" dirty="0" err="1">
                <a:latin typeface="+mj-lt"/>
              </a:rPr>
              <a:t>olan</a:t>
            </a:r>
            <a:r>
              <a:rPr lang="en-US" sz="1800" dirty="0">
                <a:latin typeface="+mj-lt"/>
              </a:rPr>
              <a:t> 144 </a:t>
            </a:r>
            <a:r>
              <a:rPr lang="en-US" sz="1800" dirty="0" err="1">
                <a:latin typeface="+mj-lt"/>
              </a:rPr>
              <a:t>örnekten</a:t>
            </a:r>
            <a:r>
              <a:rPr lang="en-US" sz="1800" dirty="0">
                <a:latin typeface="+mj-lt"/>
              </a:rPr>
              <a:t> %82’sini </a:t>
            </a:r>
            <a:r>
              <a:rPr lang="en-US" sz="1800" dirty="0" err="1">
                <a:latin typeface="+mj-lt"/>
              </a:rPr>
              <a:t>doğru</a:t>
            </a:r>
            <a:r>
              <a:rPr lang="en-US" sz="1800" dirty="0">
                <a:latin typeface="+mj-lt"/>
              </a:rPr>
              <a:t> </a:t>
            </a:r>
            <a:r>
              <a:rPr lang="en-US" sz="1800" dirty="0" err="1">
                <a:latin typeface="+mj-lt"/>
              </a:rPr>
              <a:t>sınıflandırmıştır</a:t>
            </a:r>
            <a:r>
              <a:rPr lang="en-US" sz="1800" dirty="0">
                <a:latin typeface="+mj-lt"/>
              </a:rPr>
              <a:t>. Yani, </a:t>
            </a:r>
            <a:r>
              <a:rPr lang="en-US" sz="1800" dirty="0" err="1">
                <a:latin typeface="+mj-lt"/>
              </a:rPr>
              <a:t>bazı</a:t>
            </a:r>
            <a:r>
              <a:rPr lang="en-US" sz="1800" dirty="0">
                <a:latin typeface="+mj-lt"/>
              </a:rPr>
              <a:t> </a:t>
            </a:r>
            <a:r>
              <a:rPr lang="en-US" sz="1800" dirty="0" err="1">
                <a:latin typeface="+mj-lt"/>
              </a:rPr>
              <a:t>pozitif</a:t>
            </a:r>
            <a:r>
              <a:rPr lang="en-US" sz="1800" dirty="0">
                <a:latin typeface="+mj-lt"/>
              </a:rPr>
              <a:t> </a:t>
            </a:r>
            <a:r>
              <a:rPr lang="en-US" sz="1800" dirty="0" err="1">
                <a:latin typeface="+mj-lt"/>
              </a:rPr>
              <a:t>örnekler</a:t>
            </a:r>
            <a:r>
              <a:rPr lang="en-US" sz="1800" dirty="0">
                <a:latin typeface="+mj-lt"/>
              </a:rPr>
              <a:t> </a:t>
            </a:r>
            <a:r>
              <a:rPr lang="en-US" sz="1800" dirty="0" err="1">
                <a:latin typeface="+mj-lt"/>
              </a:rPr>
              <a:t>yanlış</a:t>
            </a:r>
            <a:r>
              <a:rPr lang="en-US" sz="1800" dirty="0">
                <a:latin typeface="+mj-lt"/>
              </a:rPr>
              <a:t> </a:t>
            </a:r>
            <a:r>
              <a:rPr lang="en-US" sz="1800" dirty="0" err="1">
                <a:latin typeface="+mj-lt"/>
              </a:rPr>
              <a:t>sınıflandırılmıştır</a:t>
            </a:r>
            <a:r>
              <a:rPr lang="en-US" sz="1800" dirty="0">
                <a:latin typeface="+mj-lt"/>
              </a:rPr>
              <a:t>.</a:t>
            </a:r>
            <a:endParaRPr lang="tr-TR" sz="1800" dirty="0">
              <a:latin typeface="+mj-lt"/>
            </a:endParaRPr>
          </a:p>
          <a:p>
            <a:pPr>
              <a:buFont typeface="Arial" panose="020B0604020202020204" pitchFamily="34" charset="0"/>
              <a:buChar char="•"/>
            </a:pPr>
            <a:endParaRPr lang="tr-TR" sz="1800" dirty="0">
              <a:latin typeface="+mj-lt"/>
            </a:endParaRPr>
          </a:p>
          <a:p>
            <a:r>
              <a:rPr lang="en-US" sz="1800" b="1" dirty="0">
                <a:latin typeface="+mj-lt"/>
              </a:rPr>
              <a:t>5. F1-Score</a:t>
            </a:r>
          </a:p>
          <a:p>
            <a:pPr>
              <a:buFont typeface="Arial" panose="020B0604020202020204" pitchFamily="34" charset="0"/>
              <a:buChar char="•"/>
            </a:pPr>
            <a:r>
              <a:rPr lang="en-US" sz="1800" b="1" dirty="0" err="1">
                <a:latin typeface="+mj-lt"/>
              </a:rPr>
              <a:t>Sınıf</a:t>
            </a:r>
            <a:r>
              <a:rPr lang="en-US" sz="1800" b="1" dirty="0">
                <a:latin typeface="+mj-lt"/>
              </a:rPr>
              <a:t> 0 </a:t>
            </a:r>
            <a:r>
              <a:rPr lang="en-US" sz="1800" b="1" dirty="0" err="1">
                <a:latin typeface="+mj-lt"/>
              </a:rPr>
              <a:t>için</a:t>
            </a:r>
            <a:r>
              <a:rPr lang="en-US" sz="1800" b="1" dirty="0">
                <a:latin typeface="+mj-lt"/>
              </a:rPr>
              <a:t> F1-Score: 0.99</a:t>
            </a:r>
            <a:br>
              <a:rPr lang="en-US" sz="1800" dirty="0">
                <a:latin typeface="+mj-lt"/>
              </a:rPr>
            </a:br>
            <a:r>
              <a:rPr lang="en-US" sz="1800" dirty="0">
                <a:latin typeface="+mj-lt"/>
              </a:rPr>
              <a:t>F1-score, precision </a:t>
            </a:r>
            <a:r>
              <a:rPr lang="en-US" sz="1800" dirty="0" err="1">
                <a:latin typeface="+mj-lt"/>
              </a:rPr>
              <a:t>ve</a:t>
            </a:r>
            <a:r>
              <a:rPr lang="en-US" sz="1800" dirty="0">
                <a:latin typeface="+mj-lt"/>
              </a:rPr>
              <a:t> </a:t>
            </a:r>
            <a:r>
              <a:rPr lang="en-US" sz="1800" dirty="0" err="1">
                <a:latin typeface="+mj-lt"/>
              </a:rPr>
              <a:t>recall’un</a:t>
            </a:r>
            <a:r>
              <a:rPr lang="en-US" sz="1800" dirty="0">
                <a:latin typeface="+mj-lt"/>
              </a:rPr>
              <a:t> </a:t>
            </a:r>
            <a:r>
              <a:rPr lang="en-US" sz="1800" dirty="0" err="1">
                <a:latin typeface="+mj-lt"/>
              </a:rPr>
              <a:t>harmonik</a:t>
            </a:r>
            <a:r>
              <a:rPr lang="en-US" sz="1800" dirty="0">
                <a:latin typeface="+mj-lt"/>
              </a:rPr>
              <a:t> </a:t>
            </a:r>
            <a:r>
              <a:rPr lang="en-US" sz="1800" dirty="0" err="1">
                <a:latin typeface="+mj-lt"/>
              </a:rPr>
              <a:t>ortalamasıdır</a:t>
            </a:r>
            <a:r>
              <a:rPr lang="en-US" sz="1800" dirty="0">
                <a:latin typeface="+mj-lt"/>
              </a:rPr>
              <a:t>. İyi </a:t>
            </a:r>
            <a:r>
              <a:rPr lang="en-US" sz="1800" dirty="0" err="1">
                <a:latin typeface="+mj-lt"/>
              </a:rPr>
              <a:t>bir</a:t>
            </a:r>
            <a:r>
              <a:rPr lang="en-US" sz="1800" dirty="0">
                <a:latin typeface="+mj-lt"/>
              </a:rPr>
              <a:t> </a:t>
            </a:r>
            <a:r>
              <a:rPr lang="en-US" sz="1800" dirty="0" err="1">
                <a:latin typeface="+mj-lt"/>
              </a:rPr>
              <a:t>dengeyi</a:t>
            </a:r>
            <a:r>
              <a:rPr lang="en-US" sz="1800" dirty="0">
                <a:latin typeface="+mj-lt"/>
              </a:rPr>
              <a:t> </a:t>
            </a:r>
            <a:r>
              <a:rPr lang="en-US" sz="1800" dirty="0" err="1">
                <a:latin typeface="+mj-lt"/>
              </a:rPr>
              <a:t>ifade</a:t>
            </a:r>
            <a:r>
              <a:rPr lang="en-US" sz="1800" dirty="0">
                <a:latin typeface="+mj-lt"/>
              </a:rPr>
              <a:t> </a:t>
            </a:r>
            <a:r>
              <a:rPr lang="en-US" sz="1800" dirty="0" err="1">
                <a:latin typeface="+mj-lt"/>
              </a:rPr>
              <a:t>eder</a:t>
            </a:r>
            <a:r>
              <a:rPr lang="en-US" sz="1800" dirty="0">
                <a:latin typeface="+mj-lt"/>
              </a:rPr>
              <a:t>.</a:t>
            </a:r>
          </a:p>
          <a:p>
            <a:pPr>
              <a:buFont typeface="Arial" panose="020B0604020202020204" pitchFamily="34" charset="0"/>
              <a:buChar char="•"/>
            </a:pPr>
            <a:r>
              <a:rPr lang="en-US" sz="1800" b="1" dirty="0" err="1">
                <a:latin typeface="+mj-lt"/>
              </a:rPr>
              <a:t>Sınıf</a:t>
            </a:r>
            <a:r>
              <a:rPr lang="en-US" sz="1800" b="1" dirty="0">
                <a:latin typeface="+mj-lt"/>
              </a:rPr>
              <a:t> 1 </a:t>
            </a:r>
            <a:r>
              <a:rPr lang="en-US" sz="1800" b="1" dirty="0" err="1">
                <a:latin typeface="+mj-lt"/>
              </a:rPr>
              <a:t>için</a:t>
            </a:r>
            <a:r>
              <a:rPr lang="en-US" sz="1800" b="1" dirty="0">
                <a:latin typeface="+mj-lt"/>
              </a:rPr>
              <a:t> F1-Score: 0.90</a:t>
            </a:r>
            <a:br>
              <a:rPr lang="en-US" sz="1800" dirty="0">
                <a:latin typeface="+mj-lt"/>
              </a:rPr>
            </a:br>
            <a:r>
              <a:rPr lang="en-US" sz="1800" dirty="0">
                <a:latin typeface="+mj-lt"/>
              </a:rPr>
              <a:t>Bu, </a:t>
            </a:r>
            <a:r>
              <a:rPr lang="en-US" sz="1800" dirty="0" err="1">
                <a:latin typeface="+mj-lt"/>
              </a:rPr>
              <a:t>sınıf</a:t>
            </a:r>
            <a:r>
              <a:rPr lang="en-US" sz="1800" dirty="0">
                <a:latin typeface="+mj-lt"/>
              </a:rPr>
              <a:t> 1 </a:t>
            </a:r>
            <a:r>
              <a:rPr lang="en-US" sz="1800" dirty="0" err="1">
                <a:latin typeface="+mj-lt"/>
              </a:rPr>
              <a:t>için</a:t>
            </a:r>
            <a:r>
              <a:rPr lang="en-US" sz="1800" dirty="0">
                <a:latin typeface="+mj-lt"/>
              </a:rPr>
              <a:t> precision </a:t>
            </a:r>
            <a:r>
              <a:rPr lang="en-US" sz="1800" dirty="0" err="1">
                <a:latin typeface="+mj-lt"/>
              </a:rPr>
              <a:t>ve</a:t>
            </a:r>
            <a:r>
              <a:rPr lang="en-US" sz="1800" dirty="0">
                <a:latin typeface="+mj-lt"/>
              </a:rPr>
              <a:t> recall </a:t>
            </a:r>
            <a:r>
              <a:rPr lang="en-US" sz="1800" dirty="0" err="1">
                <a:latin typeface="+mj-lt"/>
              </a:rPr>
              <a:t>arasındaki</a:t>
            </a:r>
            <a:r>
              <a:rPr lang="en-US" sz="1800" dirty="0">
                <a:latin typeface="+mj-lt"/>
              </a:rPr>
              <a:t> </a:t>
            </a:r>
            <a:r>
              <a:rPr lang="en-US" sz="1800" dirty="0" err="1">
                <a:latin typeface="+mj-lt"/>
              </a:rPr>
              <a:t>dengeyi</a:t>
            </a:r>
            <a:r>
              <a:rPr lang="en-US" sz="1800" dirty="0">
                <a:latin typeface="+mj-lt"/>
              </a:rPr>
              <a:t> </a:t>
            </a:r>
            <a:r>
              <a:rPr lang="en-US" sz="1800" dirty="0" err="1">
                <a:latin typeface="+mj-lt"/>
              </a:rPr>
              <a:t>gösterir</a:t>
            </a:r>
            <a:r>
              <a:rPr lang="en-US" sz="1800" dirty="0">
                <a:latin typeface="+mj-lt"/>
              </a:rPr>
              <a:t>.</a:t>
            </a:r>
            <a:endParaRPr lang="tr-TR" sz="1800" dirty="0">
              <a:latin typeface="+mj-lt"/>
            </a:endParaRPr>
          </a:p>
          <a:p>
            <a:pPr>
              <a:buFont typeface="Arial" panose="020B0604020202020204" pitchFamily="34" charset="0"/>
              <a:buChar char="•"/>
            </a:pPr>
            <a:endParaRPr lang="en-US" sz="1800" dirty="0">
              <a:latin typeface="+mj-lt"/>
            </a:endParaRPr>
          </a:p>
          <a:p>
            <a:r>
              <a:rPr lang="tr-TR" sz="1800" b="1" dirty="0">
                <a:latin typeface="+mj-lt"/>
              </a:rPr>
              <a:t>6. </a:t>
            </a:r>
            <a:r>
              <a:rPr lang="en-US" sz="1800" b="1" dirty="0">
                <a:latin typeface="+mj-lt"/>
              </a:rPr>
              <a:t>Macro Avg </a:t>
            </a:r>
            <a:r>
              <a:rPr lang="en-US" sz="1800" b="1" dirty="0" err="1">
                <a:latin typeface="+mj-lt"/>
              </a:rPr>
              <a:t>ve</a:t>
            </a:r>
            <a:r>
              <a:rPr lang="en-US" sz="1800" b="1" dirty="0">
                <a:latin typeface="+mj-lt"/>
              </a:rPr>
              <a:t> Weighted Avg</a:t>
            </a:r>
          </a:p>
          <a:p>
            <a:pPr>
              <a:buFont typeface="Arial" panose="020B0604020202020204" pitchFamily="34" charset="0"/>
              <a:buChar char="•"/>
            </a:pPr>
            <a:r>
              <a:rPr lang="en-US" sz="1800" b="1" dirty="0">
                <a:latin typeface="+mj-lt"/>
              </a:rPr>
              <a:t>Macro Avg</a:t>
            </a:r>
            <a:r>
              <a:rPr lang="en-US" sz="1800" dirty="0">
                <a:latin typeface="+mj-lt"/>
              </a:rPr>
              <a:t>: Precision, recall </a:t>
            </a:r>
            <a:r>
              <a:rPr lang="en-US" sz="1800" dirty="0" err="1">
                <a:latin typeface="+mj-lt"/>
              </a:rPr>
              <a:t>ve</a:t>
            </a:r>
            <a:r>
              <a:rPr lang="en-US" sz="1800" dirty="0">
                <a:latin typeface="+mj-lt"/>
              </a:rPr>
              <a:t> f1-score’un her </a:t>
            </a:r>
            <a:r>
              <a:rPr lang="en-US" sz="1800" dirty="0" err="1">
                <a:latin typeface="+mj-lt"/>
              </a:rPr>
              <a:t>sınıf</a:t>
            </a:r>
            <a:r>
              <a:rPr lang="en-US" sz="1800" dirty="0">
                <a:latin typeface="+mj-lt"/>
              </a:rPr>
              <a:t> </a:t>
            </a:r>
            <a:r>
              <a:rPr lang="en-US" sz="1800" dirty="0" err="1">
                <a:latin typeface="+mj-lt"/>
              </a:rPr>
              <a:t>için</a:t>
            </a:r>
            <a:r>
              <a:rPr lang="en-US" sz="1800" dirty="0">
                <a:latin typeface="+mj-lt"/>
              </a:rPr>
              <a:t> </a:t>
            </a:r>
            <a:r>
              <a:rPr lang="en-US" sz="1800" dirty="0" err="1">
                <a:latin typeface="+mj-lt"/>
              </a:rPr>
              <a:t>eşit</a:t>
            </a:r>
            <a:r>
              <a:rPr lang="en-US" sz="1800" dirty="0">
                <a:latin typeface="+mj-lt"/>
              </a:rPr>
              <a:t> </a:t>
            </a:r>
            <a:r>
              <a:rPr lang="en-US" sz="1800" dirty="0" err="1">
                <a:latin typeface="+mj-lt"/>
              </a:rPr>
              <a:t>ağırlıklı</a:t>
            </a:r>
            <a:r>
              <a:rPr lang="en-US" sz="1800" dirty="0">
                <a:latin typeface="+mj-lt"/>
              </a:rPr>
              <a:t> </a:t>
            </a:r>
            <a:r>
              <a:rPr lang="en-US" sz="1800" dirty="0" err="1">
                <a:latin typeface="+mj-lt"/>
              </a:rPr>
              <a:t>ortalamasıdır</a:t>
            </a:r>
            <a:r>
              <a:rPr lang="en-US" sz="1800" dirty="0">
                <a:latin typeface="+mj-lt"/>
              </a:rPr>
              <a:t>.</a:t>
            </a:r>
          </a:p>
          <a:p>
            <a:pPr>
              <a:buFont typeface="Arial" panose="020B0604020202020204" pitchFamily="34" charset="0"/>
              <a:buChar char="•"/>
            </a:pPr>
            <a:r>
              <a:rPr lang="en-US" sz="1800" b="1" dirty="0">
                <a:latin typeface="+mj-lt"/>
              </a:rPr>
              <a:t>Weighted Avg</a:t>
            </a:r>
            <a:r>
              <a:rPr lang="en-US" sz="1800" dirty="0">
                <a:latin typeface="+mj-lt"/>
              </a:rPr>
              <a:t>: Precision, recall </a:t>
            </a:r>
            <a:r>
              <a:rPr lang="en-US" sz="1800" dirty="0" err="1">
                <a:latin typeface="+mj-lt"/>
              </a:rPr>
              <a:t>ve</a:t>
            </a:r>
            <a:r>
              <a:rPr lang="en-US" sz="1800" dirty="0">
                <a:latin typeface="+mj-lt"/>
              </a:rPr>
              <a:t> f1-score’un </a:t>
            </a:r>
            <a:r>
              <a:rPr lang="en-US" sz="1800" dirty="0" err="1">
                <a:latin typeface="+mj-lt"/>
              </a:rPr>
              <a:t>sınıf</a:t>
            </a:r>
            <a:r>
              <a:rPr lang="en-US" sz="1800" dirty="0">
                <a:latin typeface="+mj-lt"/>
              </a:rPr>
              <a:t> </a:t>
            </a:r>
            <a:r>
              <a:rPr lang="en-US" sz="1800" dirty="0" err="1">
                <a:latin typeface="+mj-lt"/>
              </a:rPr>
              <a:t>destek</a:t>
            </a:r>
            <a:r>
              <a:rPr lang="en-US" sz="1800" dirty="0">
                <a:latin typeface="+mj-lt"/>
              </a:rPr>
              <a:t> </a:t>
            </a:r>
            <a:r>
              <a:rPr lang="en-US" sz="1800" dirty="0" err="1">
                <a:latin typeface="+mj-lt"/>
              </a:rPr>
              <a:t>oranına</a:t>
            </a:r>
            <a:r>
              <a:rPr lang="en-US" sz="1800" dirty="0">
                <a:latin typeface="+mj-lt"/>
              </a:rPr>
              <a:t> </a:t>
            </a:r>
            <a:r>
              <a:rPr lang="en-US" sz="1800" dirty="0" err="1">
                <a:latin typeface="+mj-lt"/>
              </a:rPr>
              <a:t>göre</a:t>
            </a:r>
            <a:r>
              <a:rPr lang="en-US" sz="1800" dirty="0">
                <a:latin typeface="+mj-lt"/>
              </a:rPr>
              <a:t> </a:t>
            </a:r>
            <a:r>
              <a:rPr lang="en-US" sz="1800" dirty="0" err="1">
                <a:latin typeface="+mj-lt"/>
              </a:rPr>
              <a:t>ağırlıklı</a:t>
            </a:r>
            <a:r>
              <a:rPr lang="en-US" sz="1800" dirty="0">
                <a:latin typeface="+mj-lt"/>
              </a:rPr>
              <a:t> </a:t>
            </a:r>
            <a:r>
              <a:rPr lang="en-US" sz="1800" dirty="0" err="1">
                <a:latin typeface="+mj-lt"/>
              </a:rPr>
              <a:t>ortalamasıdır</a:t>
            </a:r>
            <a:r>
              <a:rPr lang="en-US" sz="1800" dirty="0">
                <a:latin typeface="+mj-lt"/>
              </a:rPr>
              <a:t>.</a:t>
            </a:r>
          </a:p>
          <a:p>
            <a:endParaRPr lang="en-US" dirty="0"/>
          </a:p>
        </p:txBody>
      </p:sp>
      <p:sp>
        <p:nvSpPr>
          <p:cNvPr id="5" name="Slide Number Placeholder 4">
            <a:extLst>
              <a:ext uri="{FF2B5EF4-FFF2-40B4-BE49-F238E27FC236}">
                <a16:creationId xmlns:a16="http://schemas.microsoft.com/office/drawing/2014/main" id="{B2D126F3-5801-C32E-AB56-582C5AEE67DE}"/>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2119760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20ECF-25B4-FA5A-D6AA-75A26BADCD5B}"/>
              </a:ext>
            </a:extLst>
          </p:cNvPr>
          <p:cNvSpPr>
            <a:spLocks noGrp="1"/>
          </p:cNvSpPr>
          <p:nvPr>
            <p:ph type="title"/>
          </p:nvPr>
        </p:nvSpPr>
        <p:spPr/>
        <p:txBody>
          <a:bodyPr/>
          <a:lstStyle/>
          <a:p>
            <a:r>
              <a:rPr lang="tr-TR" dirty="0"/>
              <a:t>REFERANSLAR</a:t>
            </a:r>
            <a:br>
              <a:rPr lang="tr-TR" dirty="0"/>
            </a:br>
            <a:endParaRPr lang="en-US" dirty="0"/>
          </a:p>
        </p:txBody>
      </p:sp>
      <p:sp>
        <p:nvSpPr>
          <p:cNvPr id="3" name="Table Placeholder 2">
            <a:extLst>
              <a:ext uri="{FF2B5EF4-FFF2-40B4-BE49-F238E27FC236}">
                <a16:creationId xmlns:a16="http://schemas.microsoft.com/office/drawing/2014/main" id="{6FE7F09A-D21D-FDB2-57CE-99B2C8A31A08}"/>
              </a:ext>
            </a:extLst>
          </p:cNvPr>
          <p:cNvSpPr>
            <a:spLocks noGrp="1"/>
          </p:cNvSpPr>
          <p:nvPr>
            <p:ph type="tbl" sz="quarter" idx="14"/>
          </p:nvPr>
        </p:nvSpPr>
        <p:spPr>
          <a:xfrm>
            <a:off x="739302" y="1906251"/>
            <a:ext cx="10360025" cy="3973553"/>
          </a:xfrm>
        </p:spPr>
        <p:txBody>
          <a:bodyPr>
            <a:normAutofit fontScale="85000" lnSpcReduction="10000"/>
          </a:bodyPr>
          <a:lstStyle/>
          <a:p>
            <a:pPr>
              <a:lnSpc>
                <a:spcPct val="110000"/>
              </a:lnSpc>
            </a:pPr>
            <a:r>
              <a:rPr lang="en-US" dirty="0">
                <a:hlinkClick r:id="rId2"/>
              </a:rPr>
              <a:t>https://www.btkakademi.gov.tr/portal/course/player/deliver/makine-ogrenmesi-30123</a:t>
            </a:r>
            <a:endParaRPr lang="tr-TR" dirty="0"/>
          </a:p>
          <a:p>
            <a:pPr>
              <a:lnSpc>
                <a:spcPct val="110000"/>
              </a:lnSpc>
            </a:pPr>
            <a:r>
              <a:rPr lang="en-US" dirty="0">
                <a:hlinkClick r:id="rId3"/>
              </a:rPr>
              <a:t>https://www.kaggle.com/datasets/vikramamin/bank-loan-approval-lr-dt-rf-and-auc</a:t>
            </a:r>
            <a:endParaRPr lang="tr-TR" dirty="0"/>
          </a:p>
          <a:p>
            <a:pPr>
              <a:lnSpc>
                <a:spcPct val="110000"/>
              </a:lnSpc>
            </a:pPr>
            <a:r>
              <a:rPr lang="en-US" dirty="0">
                <a:hlinkClick r:id="rId4"/>
              </a:rPr>
              <a:t>https://medium.com/data-science-tr/makine-öğrenmesi-dersleri-5-bagging-ve-random-forest-2f803cf21e07</a:t>
            </a:r>
            <a:endParaRPr lang="tr-TR" dirty="0"/>
          </a:p>
          <a:p>
            <a:pPr>
              <a:lnSpc>
                <a:spcPct val="110000"/>
              </a:lnSpc>
            </a:pPr>
            <a:r>
              <a:rPr lang="en-US" dirty="0">
                <a:hlinkClick r:id="rId5"/>
              </a:rPr>
              <a:t>https://www.veribilimiokulu.com/siniflandirma-notlari-18-random-forest-python-uygulama/</a:t>
            </a:r>
            <a:endParaRPr lang="tr-TR" dirty="0"/>
          </a:p>
          <a:p>
            <a:pPr>
              <a:lnSpc>
                <a:spcPct val="110000"/>
              </a:lnSpc>
            </a:pPr>
            <a:r>
              <a:rPr lang="en-US" dirty="0">
                <a:hlinkClick r:id="rId6"/>
              </a:rPr>
              <a:t>https://www.btkakademi.gov.tr/portal/course/player/deliver/python-ile-makine-ogrenmesi-uygulamalari-30284</a:t>
            </a:r>
            <a:endParaRPr lang="tr-TR" dirty="0"/>
          </a:p>
          <a:p>
            <a:endParaRPr lang="en-US" dirty="0"/>
          </a:p>
        </p:txBody>
      </p:sp>
      <p:sp>
        <p:nvSpPr>
          <p:cNvPr id="4" name="Slide Number Placeholder 3">
            <a:extLst>
              <a:ext uri="{FF2B5EF4-FFF2-40B4-BE49-F238E27FC236}">
                <a16:creationId xmlns:a16="http://schemas.microsoft.com/office/drawing/2014/main" id="{E84BC886-1B17-4CC8-1EA6-EF828FE93765}"/>
              </a:ext>
            </a:extLst>
          </p:cNvPr>
          <p:cNvSpPr>
            <a:spLocks noGrp="1"/>
          </p:cNvSpPr>
          <p:nvPr>
            <p:ph type="sldNum" sz="quarter" idx="4"/>
          </p:nvPr>
        </p:nvSpPr>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3664508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1947C5D-386C-53D0-D6EC-81558744AB44}"/>
              </a:ext>
            </a:extLst>
          </p:cNvPr>
          <p:cNvSpPr>
            <a:spLocks noGrp="1"/>
          </p:cNvSpPr>
          <p:nvPr>
            <p:ph type="title"/>
          </p:nvPr>
        </p:nvSpPr>
        <p:spPr>
          <a:xfrm>
            <a:off x="1246012" y="334897"/>
            <a:ext cx="9820608" cy="800174"/>
          </a:xfrm>
        </p:spPr>
        <p:txBody>
          <a:bodyPr/>
          <a:lstStyle/>
          <a:p>
            <a:r>
              <a:rPr lang="tr-TR" dirty="0">
                <a:solidFill>
                  <a:schemeClr val="tx1"/>
                </a:solidFill>
              </a:rPr>
              <a:t>Aşağıdakilerden hangisi örnekteki karar ağaçlarından biri olabilir?</a:t>
            </a:r>
            <a:endParaRPr lang="en-US" dirty="0">
              <a:solidFill>
                <a:schemeClr val="tx1"/>
              </a:solidFill>
            </a:endParaRPr>
          </a:p>
        </p:txBody>
      </p:sp>
      <p:sp>
        <p:nvSpPr>
          <p:cNvPr id="4" name="Slide Number Placeholder 3" hidden="1">
            <a:extLst>
              <a:ext uri="{FF2B5EF4-FFF2-40B4-BE49-F238E27FC236}">
                <a16:creationId xmlns:a16="http://schemas.microsoft.com/office/drawing/2014/main" id="{DFAFBAD4-958D-D17C-57F4-714EF185F962}"/>
              </a:ext>
            </a:extLst>
          </p:cNvPr>
          <p:cNvSpPr>
            <a:spLocks noGrp="1"/>
          </p:cNvSpPr>
          <p:nvPr>
            <p:ph type="sldNum" sz="quarter" idx="4294967295"/>
          </p:nvPr>
        </p:nvSpPr>
        <p:spPr>
          <a:xfrm>
            <a:off x="11353800" y="5879804"/>
            <a:ext cx="661416" cy="895899"/>
          </a:xfrm>
        </p:spPr>
        <p:txBody>
          <a:bodyPr/>
          <a:lstStyle/>
          <a:p>
            <a:pPr>
              <a:spcAft>
                <a:spcPts val="600"/>
              </a:spcAft>
            </a:pPr>
            <a:fld id="{58FB4751-880F-D840-AAA9-3A15815CC996}" type="slidenum">
              <a:rPr lang="en-US" smtClean="0"/>
              <a:pPr>
                <a:spcAft>
                  <a:spcPts val="600"/>
                </a:spcAft>
              </a:pPr>
              <a:t>21</a:t>
            </a:fld>
            <a:endParaRPr lang="en-US"/>
          </a:p>
        </p:txBody>
      </p:sp>
      <p:pic>
        <p:nvPicPr>
          <p:cNvPr id="8" name="Picture 7" descr="A diagram of a number of objects&#10;&#10;Description automatically generated with medium confidence">
            <a:extLst>
              <a:ext uri="{FF2B5EF4-FFF2-40B4-BE49-F238E27FC236}">
                <a16:creationId xmlns:a16="http://schemas.microsoft.com/office/drawing/2014/main" id="{4235E9CF-8A7F-D1B6-A364-058D34B5F7D0}"/>
              </a:ext>
            </a:extLst>
          </p:cNvPr>
          <p:cNvPicPr>
            <a:picLocks noChangeAspect="1"/>
          </p:cNvPicPr>
          <p:nvPr/>
        </p:nvPicPr>
        <p:blipFill>
          <a:blip r:embed="rId2"/>
          <a:stretch>
            <a:fillRect/>
          </a:stretch>
        </p:blipFill>
        <p:spPr>
          <a:xfrm>
            <a:off x="1340215" y="4580386"/>
            <a:ext cx="4208467" cy="2181970"/>
          </a:xfrm>
          <a:prstGeom prst="rect">
            <a:avLst/>
          </a:prstGeom>
        </p:spPr>
      </p:pic>
      <p:pic>
        <p:nvPicPr>
          <p:cNvPr id="10" name="Picture 9" descr="A diagram of a company&#10;&#10;Description automatically generated">
            <a:extLst>
              <a:ext uri="{FF2B5EF4-FFF2-40B4-BE49-F238E27FC236}">
                <a16:creationId xmlns:a16="http://schemas.microsoft.com/office/drawing/2014/main" id="{8381C7CA-7895-C0F2-9128-CFF09F90585B}"/>
              </a:ext>
            </a:extLst>
          </p:cNvPr>
          <p:cNvPicPr>
            <a:picLocks noChangeAspect="1"/>
          </p:cNvPicPr>
          <p:nvPr/>
        </p:nvPicPr>
        <p:blipFill>
          <a:blip r:embed="rId3"/>
          <a:stretch>
            <a:fillRect/>
          </a:stretch>
        </p:blipFill>
        <p:spPr>
          <a:xfrm>
            <a:off x="6572148" y="2163959"/>
            <a:ext cx="4208468" cy="2181970"/>
          </a:xfrm>
          <a:prstGeom prst="rect">
            <a:avLst/>
          </a:prstGeom>
        </p:spPr>
      </p:pic>
      <p:pic>
        <p:nvPicPr>
          <p:cNvPr id="13" name="Picture 12" descr="A diagram of a diagram&#10;&#10;Description automatically generated with medium confidence">
            <a:extLst>
              <a:ext uri="{FF2B5EF4-FFF2-40B4-BE49-F238E27FC236}">
                <a16:creationId xmlns:a16="http://schemas.microsoft.com/office/drawing/2014/main" id="{647F4F68-43EE-B6B5-5266-C2BBDAA2DCAF}"/>
              </a:ext>
            </a:extLst>
          </p:cNvPr>
          <p:cNvPicPr>
            <a:picLocks noChangeAspect="1"/>
          </p:cNvPicPr>
          <p:nvPr/>
        </p:nvPicPr>
        <p:blipFill>
          <a:blip r:embed="rId4"/>
          <a:stretch>
            <a:fillRect/>
          </a:stretch>
        </p:blipFill>
        <p:spPr>
          <a:xfrm>
            <a:off x="1340216" y="2163959"/>
            <a:ext cx="4208467" cy="2181970"/>
          </a:xfrm>
          <a:prstGeom prst="rect">
            <a:avLst/>
          </a:prstGeom>
        </p:spPr>
      </p:pic>
      <p:pic>
        <p:nvPicPr>
          <p:cNvPr id="15" name="Picture 14" descr="A diagram of a computer algorithm&#10;&#10;Description automatically generated with medium confidence">
            <a:extLst>
              <a:ext uri="{FF2B5EF4-FFF2-40B4-BE49-F238E27FC236}">
                <a16:creationId xmlns:a16="http://schemas.microsoft.com/office/drawing/2014/main" id="{8D1348D0-00CA-F83B-AB6C-0A8227131C20}"/>
              </a:ext>
            </a:extLst>
          </p:cNvPr>
          <p:cNvPicPr>
            <a:picLocks noChangeAspect="1"/>
          </p:cNvPicPr>
          <p:nvPr/>
        </p:nvPicPr>
        <p:blipFill>
          <a:blip r:embed="rId5"/>
          <a:stretch>
            <a:fillRect/>
          </a:stretch>
        </p:blipFill>
        <p:spPr>
          <a:xfrm>
            <a:off x="6572148" y="4580386"/>
            <a:ext cx="4208467" cy="2181970"/>
          </a:xfrm>
          <a:prstGeom prst="rect">
            <a:avLst/>
          </a:prstGeom>
        </p:spPr>
      </p:pic>
      <p:pic>
        <p:nvPicPr>
          <p:cNvPr id="17" name="Picture 16">
            <a:extLst>
              <a:ext uri="{FF2B5EF4-FFF2-40B4-BE49-F238E27FC236}">
                <a16:creationId xmlns:a16="http://schemas.microsoft.com/office/drawing/2014/main" id="{85EA4410-A071-E1FA-CC07-D481DA03DA50}"/>
              </a:ext>
            </a:extLst>
          </p:cNvPr>
          <p:cNvPicPr>
            <a:picLocks noChangeAspect="1"/>
          </p:cNvPicPr>
          <p:nvPr/>
        </p:nvPicPr>
        <p:blipFill>
          <a:blip r:embed="rId6"/>
          <a:stretch>
            <a:fillRect/>
          </a:stretch>
        </p:blipFill>
        <p:spPr>
          <a:xfrm>
            <a:off x="1340216" y="1259661"/>
            <a:ext cx="8212589" cy="392830"/>
          </a:xfrm>
          <a:prstGeom prst="rect">
            <a:avLst/>
          </a:prstGeom>
        </p:spPr>
      </p:pic>
      <p:pic>
        <p:nvPicPr>
          <p:cNvPr id="19" name="Picture 18">
            <a:extLst>
              <a:ext uri="{FF2B5EF4-FFF2-40B4-BE49-F238E27FC236}">
                <a16:creationId xmlns:a16="http://schemas.microsoft.com/office/drawing/2014/main" id="{49AF3590-25FB-4B97-BCB0-631089FFFAC5}"/>
              </a:ext>
            </a:extLst>
          </p:cNvPr>
          <p:cNvPicPr>
            <a:picLocks noChangeAspect="1"/>
          </p:cNvPicPr>
          <p:nvPr/>
        </p:nvPicPr>
        <p:blipFill>
          <a:blip r:embed="rId7"/>
          <a:stretch>
            <a:fillRect/>
          </a:stretch>
        </p:blipFill>
        <p:spPr>
          <a:xfrm>
            <a:off x="1340216" y="1624659"/>
            <a:ext cx="5459468" cy="304843"/>
          </a:xfrm>
          <a:prstGeom prst="rect">
            <a:avLst/>
          </a:prstGeom>
        </p:spPr>
      </p:pic>
      <p:sp>
        <p:nvSpPr>
          <p:cNvPr id="20" name="TextBox 19">
            <a:extLst>
              <a:ext uri="{FF2B5EF4-FFF2-40B4-BE49-F238E27FC236}">
                <a16:creationId xmlns:a16="http://schemas.microsoft.com/office/drawing/2014/main" id="{077F1129-9501-8D96-0D8A-95EA32B3E20A}"/>
              </a:ext>
            </a:extLst>
          </p:cNvPr>
          <p:cNvSpPr txBox="1"/>
          <p:nvPr/>
        </p:nvSpPr>
        <p:spPr>
          <a:xfrm>
            <a:off x="661481" y="2163959"/>
            <a:ext cx="584531" cy="369332"/>
          </a:xfrm>
          <a:prstGeom prst="rect">
            <a:avLst/>
          </a:prstGeom>
          <a:noFill/>
        </p:spPr>
        <p:txBody>
          <a:bodyPr wrap="square" rtlCol="0">
            <a:spAutoFit/>
          </a:bodyPr>
          <a:lstStyle/>
          <a:p>
            <a:r>
              <a:rPr lang="tr-TR" dirty="0"/>
              <a:t>A-)</a:t>
            </a:r>
            <a:endParaRPr lang="en-US" dirty="0"/>
          </a:p>
        </p:txBody>
      </p:sp>
      <p:sp>
        <p:nvSpPr>
          <p:cNvPr id="21" name="TextBox 20">
            <a:extLst>
              <a:ext uri="{FF2B5EF4-FFF2-40B4-BE49-F238E27FC236}">
                <a16:creationId xmlns:a16="http://schemas.microsoft.com/office/drawing/2014/main" id="{6CD12078-A0AA-E8E2-0EC5-D9A37C3E1AD5}"/>
              </a:ext>
            </a:extLst>
          </p:cNvPr>
          <p:cNvSpPr txBox="1"/>
          <p:nvPr/>
        </p:nvSpPr>
        <p:spPr>
          <a:xfrm>
            <a:off x="5987617" y="2099479"/>
            <a:ext cx="584531" cy="369332"/>
          </a:xfrm>
          <a:prstGeom prst="rect">
            <a:avLst/>
          </a:prstGeom>
          <a:noFill/>
        </p:spPr>
        <p:txBody>
          <a:bodyPr wrap="square" rtlCol="0">
            <a:spAutoFit/>
          </a:bodyPr>
          <a:lstStyle/>
          <a:p>
            <a:r>
              <a:rPr lang="tr-TR" dirty="0"/>
              <a:t>B-)</a:t>
            </a:r>
            <a:endParaRPr lang="en-US" dirty="0"/>
          </a:p>
        </p:txBody>
      </p:sp>
      <p:sp>
        <p:nvSpPr>
          <p:cNvPr id="22" name="TextBox 21">
            <a:extLst>
              <a:ext uri="{FF2B5EF4-FFF2-40B4-BE49-F238E27FC236}">
                <a16:creationId xmlns:a16="http://schemas.microsoft.com/office/drawing/2014/main" id="{CBD0837E-0BB1-3216-D927-A2B7EA509E28}"/>
              </a:ext>
            </a:extLst>
          </p:cNvPr>
          <p:cNvSpPr txBox="1"/>
          <p:nvPr/>
        </p:nvSpPr>
        <p:spPr>
          <a:xfrm>
            <a:off x="661481" y="4580386"/>
            <a:ext cx="515566" cy="369332"/>
          </a:xfrm>
          <a:prstGeom prst="rect">
            <a:avLst/>
          </a:prstGeom>
          <a:noFill/>
        </p:spPr>
        <p:txBody>
          <a:bodyPr wrap="square" rtlCol="0">
            <a:spAutoFit/>
          </a:bodyPr>
          <a:lstStyle/>
          <a:p>
            <a:r>
              <a:rPr lang="tr-TR" dirty="0"/>
              <a:t>C-)</a:t>
            </a:r>
            <a:endParaRPr lang="en-US" dirty="0"/>
          </a:p>
        </p:txBody>
      </p:sp>
      <p:sp>
        <p:nvSpPr>
          <p:cNvPr id="23" name="TextBox 22">
            <a:extLst>
              <a:ext uri="{FF2B5EF4-FFF2-40B4-BE49-F238E27FC236}">
                <a16:creationId xmlns:a16="http://schemas.microsoft.com/office/drawing/2014/main" id="{F8AEC7D0-5607-1593-5886-7B319052315D}"/>
              </a:ext>
            </a:extLst>
          </p:cNvPr>
          <p:cNvSpPr txBox="1"/>
          <p:nvPr/>
        </p:nvSpPr>
        <p:spPr>
          <a:xfrm>
            <a:off x="5987617" y="4580386"/>
            <a:ext cx="584531" cy="369332"/>
          </a:xfrm>
          <a:prstGeom prst="rect">
            <a:avLst/>
          </a:prstGeom>
          <a:noFill/>
        </p:spPr>
        <p:txBody>
          <a:bodyPr wrap="square" rtlCol="0">
            <a:spAutoFit/>
          </a:bodyPr>
          <a:lstStyle/>
          <a:p>
            <a:r>
              <a:rPr lang="tr-TR" dirty="0"/>
              <a:t>D-)</a:t>
            </a:r>
            <a:endParaRPr lang="en-US" dirty="0"/>
          </a:p>
        </p:txBody>
      </p:sp>
      <p:sp>
        <p:nvSpPr>
          <p:cNvPr id="24" name="TextBox 23">
            <a:extLst>
              <a:ext uri="{FF2B5EF4-FFF2-40B4-BE49-F238E27FC236}">
                <a16:creationId xmlns:a16="http://schemas.microsoft.com/office/drawing/2014/main" id="{9404DE14-737C-ADA7-B0D0-399A2A6AA8E8}"/>
              </a:ext>
            </a:extLst>
          </p:cNvPr>
          <p:cNvSpPr txBox="1"/>
          <p:nvPr/>
        </p:nvSpPr>
        <p:spPr>
          <a:xfrm>
            <a:off x="10340502" y="428017"/>
            <a:ext cx="1361872" cy="369332"/>
          </a:xfrm>
          <a:prstGeom prst="rect">
            <a:avLst/>
          </a:prstGeom>
          <a:noFill/>
        </p:spPr>
        <p:txBody>
          <a:bodyPr wrap="square" rtlCol="0">
            <a:spAutoFit/>
          </a:bodyPr>
          <a:lstStyle/>
          <a:p>
            <a:r>
              <a:rPr lang="tr-TR" dirty="0"/>
              <a:t>Cevap : D</a:t>
            </a:r>
            <a:endParaRPr lang="en-US" dirty="0"/>
          </a:p>
        </p:txBody>
      </p:sp>
    </p:spTree>
    <p:extLst>
      <p:ext uri="{BB962C8B-B14F-4D97-AF65-F5344CB8AC3E}">
        <p14:creationId xmlns:p14="http://schemas.microsoft.com/office/powerpoint/2010/main" val="3319221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DDBA1-2FDD-A44E-4469-FA6553EB887A}"/>
              </a:ext>
            </a:extLst>
          </p:cNvPr>
          <p:cNvSpPr>
            <a:spLocks noGrp="1"/>
          </p:cNvSpPr>
          <p:nvPr>
            <p:ph type="title"/>
          </p:nvPr>
        </p:nvSpPr>
        <p:spPr>
          <a:xfrm>
            <a:off x="977390" y="1352145"/>
            <a:ext cx="9971333" cy="817123"/>
          </a:xfrm>
        </p:spPr>
        <p:txBody>
          <a:bodyPr/>
          <a:lstStyle/>
          <a:p>
            <a:r>
              <a:rPr lang="tr-TR">
                <a:solidFill>
                  <a:schemeClr val="tx1"/>
                </a:solidFill>
              </a:rPr>
              <a:t>Aşağıdakilerden hangisi Random Forest algoritmasının avantajlarından değildir?</a:t>
            </a:r>
            <a:endParaRPr lang="en-US" dirty="0">
              <a:solidFill>
                <a:schemeClr val="tx1"/>
              </a:solidFill>
            </a:endParaRPr>
          </a:p>
        </p:txBody>
      </p:sp>
      <p:sp>
        <p:nvSpPr>
          <p:cNvPr id="4" name="TextBox 3">
            <a:extLst>
              <a:ext uri="{FF2B5EF4-FFF2-40B4-BE49-F238E27FC236}">
                <a16:creationId xmlns:a16="http://schemas.microsoft.com/office/drawing/2014/main" id="{546B33E3-07E0-655F-7573-4051394AF9B1}"/>
              </a:ext>
            </a:extLst>
          </p:cNvPr>
          <p:cNvSpPr txBox="1"/>
          <p:nvPr/>
        </p:nvSpPr>
        <p:spPr>
          <a:xfrm>
            <a:off x="1372980" y="2548646"/>
            <a:ext cx="4590076" cy="2808589"/>
          </a:xfrm>
          <a:prstGeom prst="rect">
            <a:avLst/>
          </a:prstGeom>
          <a:noFill/>
        </p:spPr>
        <p:txBody>
          <a:bodyPr wrap="square" rtlCol="0">
            <a:spAutoFit/>
          </a:bodyPr>
          <a:lstStyle/>
          <a:p>
            <a:pPr>
              <a:lnSpc>
                <a:spcPct val="150000"/>
              </a:lnSpc>
              <a:buFont typeface="Arial" panose="020B0604020202020204" pitchFamily="34" charset="0"/>
              <a:buChar char="•"/>
            </a:pPr>
            <a:r>
              <a:rPr lang="tr-TR" sz="2400" b="1" dirty="0"/>
              <a:t>A-) </a:t>
            </a:r>
            <a:r>
              <a:rPr lang="en-US" sz="2400" b="1" dirty="0" err="1"/>
              <a:t>Yüksek</a:t>
            </a:r>
            <a:r>
              <a:rPr lang="en-US" sz="2400" b="1" dirty="0"/>
              <a:t> </a:t>
            </a:r>
            <a:r>
              <a:rPr lang="en-US" sz="2400" b="1" dirty="0" err="1"/>
              <a:t>Doğrul</a:t>
            </a:r>
            <a:r>
              <a:rPr lang="tr-TR" sz="2400" b="1" dirty="0" err="1"/>
              <a:t>uk</a:t>
            </a:r>
            <a:r>
              <a:rPr lang="tr-TR" sz="2400" b="1" dirty="0"/>
              <a:t> Oranı</a:t>
            </a:r>
          </a:p>
          <a:p>
            <a:pPr>
              <a:lnSpc>
                <a:spcPct val="150000"/>
              </a:lnSpc>
              <a:buFont typeface="Arial" panose="020B0604020202020204" pitchFamily="34" charset="0"/>
              <a:buChar char="•"/>
            </a:pPr>
            <a:r>
              <a:rPr lang="tr-TR" sz="2400" b="1" dirty="0"/>
              <a:t>B-) Modelin </a:t>
            </a:r>
            <a:r>
              <a:rPr lang="tr-TR" sz="2400" b="1" dirty="0" err="1"/>
              <a:t>Yorumlanabilirliği</a:t>
            </a:r>
            <a:endParaRPr lang="tr-TR" sz="2400" dirty="0"/>
          </a:p>
          <a:p>
            <a:pPr>
              <a:lnSpc>
                <a:spcPct val="150000"/>
              </a:lnSpc>
              <a:buFont typeface="Arial" panose="020B0604020202020204" pitchFamily="34" charset="0"/>
              <a:buChar char="•"/>
            </a:pPr>
            <a:r>
              <a:rPr lang="tr-TR" sz="2400" b="1" dirty="0"/>
              <a:t>C-) </a:t>
            </a:r>
            <a:r>
              <a:rPr lang="tr-TR" sz="2400" b="1" dirty="0" err="1"/>
              <a:t>Overfitting’e</a:t>
            </a:r>
            <a:r>
              <a:rPr lang="tr-TR" sz="2400" b="1" dirty="0"/>
              <a:t> Karşı Dayanıklılığı</a:t>
            </a:r>
            <a:endParaRPr lang="en-US" sz="2400" b="1" dirty="0"/>
          </a:p>
          <a:p>
            <a:pPr>
              <a:lnSpc>
                <a:spcPct val="150000"/>
              </a:lnSpc>
              <a:buFont typeface="Arial" panose="020B0604020202020204" pitchFamily="34" charset="0"/>
              <a:buChar char="•"/>
            </a:pPr>
            <a:r>
              <a:rPr lang="tr-TR" sz="2400" b="1" dirty="0"/>
              <a:t>D-) </a:t>
            </a:r>
            <a:r>
              <a:rPr lang="en-US" sz="2400" b="1" dirty="0" err="1"/>
              <a:t>Özelliklerin</a:t>
            </a:r>
            <a:r>
              <a:rPr lang="en-US" sz="2400" b="1" dirty="0"/>
              <a:t> </a:t>
            </a:r>
            <a:r>
              <a:rPr lang="en-US" sz="2400" b="1" dirty="0" err="1"/>
              <a:t>Önemi</a:t>
            </a:r>
            <a:endParaRPr lang="tr-TR" sz="2400" b="1" dirty="0"/>
          </a:p>
          <a:p>
            <a:pPr>
              <a:lnSpc>
                <a:spcPct val="150000"/>
              </a:lnSpc>
              <a:buFont typeface="Arial" panose="020B0604020202020204" pitchFamily="34" charset="0"/>
              <a:buChar char="•"/>
            </a:pPr>
            <a:r>
              <a:rPr lang="tr-TR" sz="2400" b="1" dirty="0"/>
              <a:t>E-) </a:t>
            </a:r>
            <a:r>
              <a:rPr lang="en-US" sz="2400" b="1" dirty="0"/>
              <a:t>Veri </a:t>
            </a:r>
            <a:r>
              <a:rPr lang="en-US" sz="2400" b="1" dirty="0" err="1"/>
              <a:t>Setine</a:t>
            </a:r>
            <a:r>
              <a:rPr lang="en-US" sz="2400" b="1" dirty="0"/>
              <a:t> </a:t>
            </a:r>
            <a:r>
              <a:rPr lang="en-US" sz="2400" b="1" dirty="0" err="1"/>
              <a:t>Dayanıklı</a:t>
            </a:r>
            <a:r>
              <a:rPr lang="tr-TR" sz="2400" b="1" dirty="0"/>
              <a:t>lığı</a:t>
            </a:r>
            <a:endParaRPr lang="en-US" sz="2400" dirty="0"/>
          </a:p>
        </p:txBody>
      </p:sp>
      <p:sp>
        <p:nvSpPr>
          <p:cNvPr id="5" name="TextBox 4">
            <a:extLst>
              <a:ext uri="{FF2B5EF4-FFF2-40B4-BE49-F238E27FC236}">
                <a16:creationId xmlns:a16="http://schemas.microsoft.com/office/drawing/2014/main" id="{4209FDEC-E77F-FF1E-E70D-F10462720BD8}"/>
              </a:ext>
            </a:extLst>
          </p:cNvPr>
          <p:cNvSpPr txBox="1"/>
          <p:nvPr/>
        </p:nvSpPr>
        <p:spPr>
          <a:xfrm>
            <a:off x="9610928" y="583660"/>
            <a:ext cx="1887166" cy="369332"/>
          </a:xfrm>
          <a:prstGeom prst="rect">
            <a:avLst/>
          </a:prstGeom>
          <a:noFill/>
        </p:spPr>
        <p:txBody>
          <a:bodyPr wrap="square" rtlCol="0">
            <a:spAutoFit/>
          </a:bodyPr>
          <a:lstStyle/>
          <a:p>
            <a:r>
              <a:rPr lang="tr-TR"/>
              <a:t>Cevap : B</a:t>
            </a:r>
            <a:endParaRPr lang="en-US" dirty="0"/>
          </a:p>
        </p:txBody>
      </p:sp>
    </p:spTree>
    <p:extLst>
      <p:ext uri="{BB962C8B-B14F-4D97-AF65-F5344CB8AC3E}">
        <p14:creationId xmlns:p14="http://schemas.microsoft.com/office/powerpoint/2010/main" val="2876846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1702340" y="914400"/>
            <a:ext cx="7217924" cy="5029200"/>
          </a:xfrm>
        </p:spPr>
        <p:txBody>
          <a:bodyPr/>
          <a:lstStyle/>
          <a:p>
            <a:r>
              <a:rPr lang="tr-TR" dirty="0"/>
              <a:t>DİNLEDİĞİNİZ İÇİN TEŞEKKÜR EDERİZ</a:t>
            </a:r>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Template>
  <TotalTime>345</TotalTime>
  <Words>1385</Words>
  <Application>Microsoft Office PowerPoint</Application>
  <PresentationFormat>Widescreen</PresentationFormat>
  <Paragraphs>119</Paragraphs>
  <Slides>23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Courier New</vt:lpstr>
      <vt:lpstr>Gill Sans Nova Light</vt:lpstr>
      <vt:lpstr>Sagona Book</vt:lpstr>
      <vt:lpstr>Custom</vt:lpstr>
      <vt:lpstr>Random Forest</vt:lpstr>
      <vt:lpstr>RANDOM FOREST NEDİR?</vt:lpstr>
      <vt:lpstr>Random Forest, temel olarak birden fazla karar ağacının birleşiminden oluşur. Karar ağaçları, veriyi çeşitli özelliklere göre bölerek tahminler yapan yapılar oluşturur. Her ağaç, belirli bir özellik ve değer kombinasyonu kullanarak veriyi böler. Karar ağaçları, her bir bölme (splitting) ile veriyi daha homojen gruplara ayırmayı amaçlar.</vt:lpstr>
      <vt:lpstr>Random Forest, her bir karar ağacını oluştururken bootstrap yöntemini kullanır. Bootstrap, verinin rastgele seçilen örneklerinden bir alt küme oluşturarak ağaçları eğitir. Bu alt küme, verinin bir örneğinin birden fazla kez seçilmesine izin verirken, bazı örnekler hiç seçilmeyebilir. Bu işlem, modelin daha sağlam ve genellenebilir olmasına yardımcı olur.</vt:lpstr>
      <vt:lpstr>Bootstrap Aggregation (Bagging) Nedir?</vt:lpstr>
      <vt:lpstr>Bagging’in Adımları ve Nasıl Yapıldığı</vt:lpstr>
      <vt:lpstr>Bagging’in Önemli Özellikleri</vt:lpstr>
      <vt:lpstr>Bagging ve Bootstrap Örneklemenin Önemi</vt:lpstr>
      <vt:lpstr>PowerPoint Presentation</vt:lpstr>
      <vt:lpstr>Random Forest, her bir ağacın tahminlerini toplar ve ardından genel tahmin oluşturur. Bu işlem, her ağacın hata payının farklı olması ve bu hataların birbirini dengelemesi sayesinde daha doğru sonuçlar elde edilmesini sağlar.</vt:lpstr>
      <vt:lpstr>Birçok karar ağacı kullanarak, Random Forest, tek bir karar ağacının aşırı uyum (overfitting) yapma olasılığını azaltır. Çünkü her bir ağaç farklı alt küme ve özellikler üzerinde eğitildiğinden, tüm ağaçlar aynı hatayı yapma eğiliminde değildir. Bu çeşitlilik, modelin genelleme kabiliyetini artırır.</vt:lpstr>
      <vt:lpstr>PowerPoint Presentation</vt:lpstr>
      <vt:lpstr>Kullandığımız Veri Seti</vt:lpstr>
      <vt:lpstr>PowerPoint Presentation</vt:lpstr>
      <vt:lpstr>Korelasyon Matrisinin Yorumlanması </vt:lpstr>
      <vt:lpstr>PowerPoint Presentation</vt:lpstr>
      <vt:lpstr>PowerPoint Presentation</vt:lpstr>
      <vt:lpstr>Oluşan İlk Karar Ağacı</vt:lpstr>
      <vt:lpstr>PowerPoint Presentation</vt:lpstr>
      <vt:lpstr>REFERANSLAR </vt:lpstr>
      <vt:lpstr>Aşağıdakilerden hangisi örnekteki karar ağaçlarından biri olabilir?</vt:lpstr>
      <vt:lpstr>Aşağıdakilerden hangisi Random Forest algoritmasının avantajlarından değildir?</vt:lpstr>
      <vt:lpstr>DİNLEDİĞİNİZ İÇİN TEŞEKKÜR EDERİZ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Oğuz KURT</dc:creator>
  <cp:lastModifiedBy>Oğuz KURT</cp:lastModifiedBy>
  <cp:revision>15</cp:revision>
  <dcterms:created xsi:type="dcterms:W3CDTF">2024-12-15T16:22:29Z</dcterms:created>
  <dcterms:modified xsi:type="dcterms:W3CDTF">2025-01-05T19:48:31Z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